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1c89df49-f776-0bef-6c79-57e89dbbf04c}">
          <p14:sldIdLst>
            <p14:sldId id="256"/>
            <p14:sldId id="257"/>
          </p14:sldIdLst>
        </p14:section>
        <p14:section name="Arquitectura" id="{f9c362e8-25ee-7825-fdc2-96499f2d6759}">
          <p14:sldIdLst>
            <p14:sldId id="258"/>
            <p14:sldId id="259"/>
            <p14:sldId id="260"/>
            <p14:sldId id="261"/>
            <p14:sldId id="262"/>
            <p14:sldId id="263"/>
          </p14:sldIdLst>
        </p14:section>
        <p14:section name="Pruebas" id="{ae52e5e3-b648-3e2a-d182-be2b74ce8b49}">
          <p14:sldIdLst>
            <p14:sldId id="264"/>
            <p14:sldId id="265"/>
            <p14:sldId id="266"/>
            <p14:sldId id="267"/>
            <p14:sldId id="268"/>
            <p14:sldId id="269"/>
            <p14:sldId id="270"/>
            <p14:sldId id="271"/>
            <p14:sldId id="272"/>
            <p14:sldId id="273"/>
          </p14:sldIdLst>
        </p14:section>
        <p14:section name="Cierre" id="{de9db69c-5255-817c-d5b8-92ce384bfa24}">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FFFFFF"/>
                </a:solidFill>
                <a:latin typeface="+mn-lt"/>
              </a:defRPr>
            </a:pPr>
            <a:r>
              <a:rPr sz="1600" b="0" i="0" u="none" strike="noStrike">
                <a:solidFill>
                  <a:srgbClr val="FFFFFF"/>
                </a:solidFill>
                <a:latin typeface="+mn-lt"/>
              </a:rPr>
              <a:t>Pruebas por tipo</a:t>
            </a:r>
          </a:p>
        </c:rich>
      </c:tx>
      <c:layout/>
      <c:overlay val="0"/>
    </c:title>
    <c:autoTitleDeleted val="0"/>
    <c:plotArea>
      <c:layout/>
      <c:barChart>
        <c:barDir val="bar"/>
        <c:grouping val="clustered"/>
        <c:varyColors val="0"/>
        <c:ser>
          <c:idx val="0"/>
          <c:order val="0"/>
          <c:tx>
            <c:strRef>
              <c:f>Sheet1!$B$1</c:f>
              <c:strCache>
                <c:ptCount val="1"/>
                <c:pt idx="0">
                  <c:v>Pruebas</c:v>
                </c:pt>
              </c:strCache>
            </c:strRef>
          </c:tx>
          <c:spPr>
            <a:solidFill>
              <a:srgbClr val="C8D40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Unitarias</c:v>
                  </c:pt>
                  <c:pt idx="1">
                    <c:v>API</c:v>
                  </c:pt>
                  <c:pt idx="2">
                    <c:v>Seguridad</c:v>
                  </c:pt>
                  <c:pt idx="3">
                    <c:v>Aceptación</c:v>
                  </c:pt>
                </c:lvl>
              </c:multiLvlStrCache>
            </c:multiLvlStrRef>
          </c:cat>
          <c:val>
            <c:numRef>
              <c:f>Sheet1!$B$2:$B$5</c:f>
              <c:numCache>
                <c:formatCode>General</c:formatCode>
                <c:ptCount val="4"/>
                <c:pt idx="0">
                  <c:v>56</c:v>
                </c:pt>
                <c:pt idx="1">
                  <c:v>31</c:v>
                </c:pt>
                <c:pt idx="2">
                  <c:v>33</c:v>
                </c:pt>
                <c:pt idx="3">
                  <c:v>8</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C8C8A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Voy a presentar Mail Guard, una extensión de Chrome que detecta phishing en el correo abierto de Gmail u Outlook. La exposición tiene dos partes: primero cómo está construida con tres microservicios, dónde está cada uno en el código y qué hace; y después las pruebas que le hicimos, organizadas según los tipos vistos en clase: unitarias, de API, de seguridad y de aceptación.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phishing es el fraude por correo: mensajes que se hacen pasar por un banco o un servicio para robar contraseñas o datos. Mail Guard se instala como extensión; cuando tienes un correo abierto, pulsas «Escanear» y en segundos te dice si es seguro, sospechoso o peligroso, y sobre todo por qué: qué señales encontró en el remitente, en el texto y en los enlaces. Si te registras, tus análisis se guardan y puedes ver métricas en el panel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Los clientes son la extensión y el panel web; los dos hablan con un único punto de entrada, el API Gateway, enviando el token de sesión (JWT) si el usuario inició sesión. El gateway es el único servicio público. Detrás hay dos microservicios internos: analysis-service, que decide si el correo es phishing, e history-service, que guarda el historial. El gateway les habla por HTTP con un token interno compartido; a history además le pasa el JWT del usuario. Hacia afuera usamos Supabase para usuarios y base de datos, Jev como motor de inteligencia artificial y, opcionalmente, Redis para caché y cuotas.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tres microservicios y la carpeta de cada uno. El gateway, en services/gateway, es la puerta: verifica quién eres, revisa cuántos análisis te quedan hoy y coordina a los otros dos. analysis-service, en services/analysis-service, es el cerebro: saca evidencias objetivas del correo y consulta el motor de IA; si la IA falla, responde con reglas locales para no dejar al usuario sin respuesta. history-service, en services/history-service, es la memoria: guarda los análisis en Supabase y gracias a RLS cada usuario solo puede ver sus propios datos. Cada servicio tiene una sola responsabilidad, que es la idea de los microservicios.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está organizado el repositorio, que es un monorepo. En apps están las dos interfaces: la extensión y el panel. En services, los tres microservicios. En packages, el código compartido: los contratos, que validan los datos igual en todos lados, y la base común de los servicios. En supabase está el esquema de la base de datos con sus políticas de seguridad. A la derecha, cómo está cada microservicio por dentro: arquitectura hexagonal. El dominio tiene las reglas puras, la aplicación los casos de uso, la infraestructura los adaptadores a servicios externos, http las rutas, y la carpeta test las pruebas, separadas por 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un análisis completo. Uno: el usuario pulsa Escanear. Dos: la extensión lee el correo abierto. Tres: el gateway revisa el token y si le quedan análisis hoy. Cuatro: analysis-service busca primero en caché; si no está, saca evidencias y consulta a la IA, y combina ambas cosas. Cinco: si el usuario tiene sesión, el gateway le pide a history-service que lo guarde. Seis: la extensión muestra el resultado. Dos detalles de diseño: si el correo ya estaba en caché no se descuenta cuota, y si falla el guardado el usuario igual ve su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Conectando con lo visto en clase sobre autenticación y autorización. Autenticación es confirmar quién eres: el usuario entra con Supabase y recibe un JWT, que el gateway verifica. Autorización es a qué puedes acceder: usamos Row Level Security, así que aunque alguien conozca el id de un análisis ajeno, la base de datos no se lo devuelve. Entre microservicios usamos un token interno, parecido a la autorización por API key de la clase. Y para evitar abuso hay cuota diaria, límite de tamaño y cabeceras de seguridad. Todo esto lo comprobamos con pruebas, como veremos.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está desplegado. Los tres microservicios en Render, el panel en Vercel, usuarios y base de datos en Supabase, y la extensión se carga en Chrome. Un detalle práctico: en el plan gratuito, Render apaga los servicios cuando no se usan, así que antes de una demo hay que despertarlos.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segunda parte: las pruebas. Seguimos los tipos de prueba que vimos en la clase de marcos de trabajo y los aplicamos a los microservicios.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clase vimos varias herramientas de prueba. Elegimos cuatro tipos que tienen sentido para microservicios. Unitarias, equivalentes a Jasmine, JUnit o pytest, pero con bun test porque el proyecto está en TypeScript con Bun. Pruebas de API, como con Postman: de hecho tenemos una colección de Postman además de las pruebas automáticas. Pruebas de seguridad, basadas en la parte de autenticación y autorización. Y pruebas de aceptación con Gherkin, el lenguaje de Cucumber. No usamos Appium porque no hay app móvil, y Selenium para la extensión queda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128 pruebas, todas pasan, con 251 verificaciones en total en 17 archivos. Por tipo: 56 unitarias, 31 de API, 33 de seguridad y 8 escenarios de aceptación. De las de API, 13 corren contra la aplicación real desplegada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unitarias prueban cada pieza aislada. Por ejemplo, que un correo que imita a Bancolombia con un enlace a una IP salga como peligroso; que se detecten dominios parecidos a marcas; que si la IA falla se responda con reglas; o que el historial no guarde duplicados. A la derecha se ve cómo aparecen en el panel: cada archivo con sus pruebas, el número de verificaciones y un enlace a la línea exacta del código en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de API hacen peticiones HTTP de verdad. En las automáticas, la prueba levanta los tres microservicios en puertos libres y se comunican igual que en producción; solo reemplazamos Supabase por una base en memoria y la IA por reglas, para que sean rápidas y repetibles. Probamos todo el recorrido: analizar, guardar, listar, ver detalle, editar el perfil y borrar. Además hicimos una colección de Postman, la herramienta vista en clase, que corre contra la aplicación desplegada en Render: 6 peticiones y 13 verificaciones, todas pasan.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de seguridad aplican la parte de autenticación y autorización de la clase. Comprobamos que sin token o con un token falsificado no se entra a nada privado. Que si Luis conoce el id de un análisis de Ana, no puede abrirlo ni borrarlo. Que la cuota bloquea al invitado después de su límite. Que los servicios internos no aceptan llamadas sin el token interno, así que no se puede saltar el gateway. Y seis pruebas van contra la base real de Supabase: un visitante sin sesión no puede leer ni escribir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más valioso de probar es encontrar problemas. Las pruebas de seguridad encontraron un bug real: si alguien mandaba un mensaje gigante, el servidor respondía con error interno 500 en lugar de 413, que es el código correcto. La causa estaba en el manejador de errores compartido; lo corregimos y la prueba quedó para que no vuelva a pasar. También identificamos un riesgo: la cuota de invitado usa la IP que manda el propio cliente en una cabecera, así que se puede falsificar. Lo comprobamos en la nube y lo dejamos documentado con la recomendación para corregirlo.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de aceptación están escritas en lenguaje natural, con el formato Gherkin que usa Cucumber: Dado, Cuando, Entonces. Así cualquier persona, aunque no programe, puede leer qué se espera del sistema. Este escenario dice: dado que Ana inició sesión y analizó dos correos, cuando borra su historial, entonces se borraron dos análisis y su historial queda vacío. Cada frase se ejecuta de verdad contra los tres microservicios. Son ocho escenarios que vienen de los casos de uso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que cualquiera pueda verificarlo, agregamos al panel una sección de Pruebas. No está escrita a mano: un script ejecuta todas las pruebas y guarda el resultado junto con el commit. Cada prueba tiene un enlace a la línea exacta del código en GitHub, así el profesor puede abrir cualquiera y ver que existe y qué comprueba.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comandos. Con bun install y bun run test se ejecutan las 115 pruebas locales en pocos segundos, sin necesitar claves ni internet. Se puede correr un solo tipo, por ejemplo solo las de seguridad del gateway. La colección de Postman necesita los servicios de Render despiertos. Y el último comando ejecuta todo y actualiza la página del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construimos tres microservicios con responsabilidades claras; los probamos con cuatro tipos de prueba alineados con la clase; las pruebas de seguridad verifican autenticación y autorización incluso contra la base real; y probar tuvo valor concreto, porque encontramos un bug y un riesgo. Como próximos pasos: corregir la cuota por IP, restringir CORS, automatizar la extensión con Selenium y ejecutar las pruebas en cada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Quedo atenta a sus preguntas. El código está en GitHub y las pruebas se pueden ver en la sección Pruebas del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3131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035040" cy="41148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1874520"/>
            <a:ext cx="6035040" cy="1280160"/>
          </a:xfrm>
          <a:prstGeom prst="rect">
            <a:avLst/>
          </a:prstGeom>
          <a:noFill/>
          <a:ln/>
        </p:spPr>
        <p:txBody>
          <a:bodyPr wrap="square" rtlCol="0"/>
          <a:lstStyle>
            <a:lvl1pPr algn="l" indent="0" marL="0">
              <a:buNone/>
              <a:defRPr lang="en-US" sz="6000" b="1" dirty="0">
                <a:solidFill>
                  <a:schemeClr val="tx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4" name="Text 0"/>
          <p:cNvSpPr/>
          <p:nvPr>
            <p:ph idx="102" type="body" hasCustomPrompt="1"/>
          </p:nvPr>
        </p:nvSpPr>
        <p:spPr>
          <a:xfrm>
            <a:off x="548640" y="3246120"/>
            <a:ext cx="5669280" cy="128016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3131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548640" y="2834640"/>
            <a:ext cx="10058400" cy="1097280"/>
          </a:xfrm>
          <a:prstGeom prst="rect">
            <a:avLst/>
          </a:prstGeom>
          <a:noFill/>
          <a:ln/>
        </p:spPr>
        <p:txBody>
          <a:bodyPr wrap="square" rtlCol="0"/>
          <a:lstStyle>
            <a:lvl1pPr algn="l" indent="0" marL="0">
              <a:buNone/>
              <a:defRPr lang="en-US" sz="4800" b="1" dirty="0">
                <a:solidFill>
                  <a:schemeClr val="tx1"/>
                </a:solidFill>
                <a:latin typeface="Arial" pitchFamily="34" charset="0"/>
                <a:ea typeface="Arial" pitchFamily="34" charset="-122"/>
                <a:cs typeface="Arial" pitchFamily="34" charset="-120"/>
              </a:defRPr>
            </a:lvl1pPr>
          </a:lstStyle>
          <a:p>
            <a:pPr algn="l" indent="0" marL="0">
              <a:buNone/>
            </a:pPr>
            <a:endParaRPr lang="en-US" sz="4800" dirty="0"/>
          </a:p>
        </p:txBody>
      </p:sp>
      <p:sp>
        <p:nvSpPr>
          <p:cNvPr id="4" name="Text 0"/>
          <p:cNvSpPr/>
          <p:nvPr>
            <p:ph idx="102" type="body" hasCustomPrompt="1"/>
          </p:nvPr>
        </p:nvSpPr>
        <p:spPr>
          <a:xfrm>
            <a:off x="548640" y="3977640"/>
            <a:ext cx="9144000" cy="82296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13131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Mail Guard · Marcos de Trabajo</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035040" cy="411480"/>
          </a:xfrm>
          <a:prstGeom prst="rect">
            <a:avLst/>
          </a:prstGeom>
          <a:noFill/>
          <a:ln/>
        </p:spPr>
        <p:txBody>
          <a:bodyPr wrap="square" lIns="0" tIns="0" rIns="0" bIns="0" rtlCol="0"/>
          <a:lstStyle/>
          <a:p>
            <a:pPr indent="0" marL="0">
              <a:buNone/>
            </a:pPr>
            <a:r>
              <a:rPr lang="en-US" sz="1400" b="1" dirty="0">
                <a:solidFill>
                  <a:schemeClr val="accent1"/>
                </a:solidFill>
              </a:rPr>
              <a:t>Marcos de Trabajo · Ing. Carlos Pineda</a:t>
            </a:r>
            <a:endParaRPr lang="en-US" sz="1400" dirty="0"/>
          </a:p>
        </p:txBody>
      </p:sp>
      <p:sp>
        <p:nvSpPr>
          <p:cNvPr id="3" name="Text 0"/>
          <p:cNvSpPr/>
          <p:nvPr>
            <p:ph idx="101" type="title" hasCustomPrompt="1"/>
          </p:nvPr>
        </p:nvSpPr>
        <p:spPr>
          <a:xfrm>
            <a:off x="548640" y="1874520"/>
            <a:ext cx="6035040" cy="1280160"/>
          </a:xfrm>
          <a:prstGeom prst="rect">
            <a:avLst/>
          </a:prstGeom>
          <a:noFill/>
          <a:ln/>
        </p:spPr>
        <p:txBody>
          <a:bodyPr wrap="square" lIns="0" tIns="0" rIns="0" bIns="0" rtlCol="0" anchor="t"/>
          <a:lstStyle/>
          <a:p>
            <a:pPr algn="l" indent="0" marL="0">
              <a:buNone/>
            </a:pPr>
            <a:r>
              <a:rPr lang="en-US" sz="6000" b="1" dirty="0">
                <a:solidFill>
                  <a:schemeClr val="tx1"/>
                </a:solidFill>
                <a:latin typeface="Arial" pitchFamily="34" charset="0"/>
                <a:ea typeface="Arial" pitchFamily="34" charset="-122"/>
                <a:cs typeface="Arial" pitchFamily="34" charset="-120"/>
              </a:rPr>
              <a:t>Mail Guard</a:t>
            </a:r>
            <a:endParaRPr lang="en-US" sz="6000" dirty="0"/>
          </a:p>
        </p:txBody>
      </p:sp>
      <p:sp>
        <p:nvSpPr>
          <p:cNvPr id="4" name="Text 0"/>
          <p:cNvSpPr/>
          <p:nvPr>
            <p:ph idx="102" type="body" hasCustomPrompt="1"/>
          </p:nvPr>
        </p:nvSpPr>
        <p:spPr>
          <a:xfrm>
            <a:off x="548640" y="3246120"/>
            <a:ext cx="5669280" cy="1280160"/>
          </a:xfrm>
          <a:prstGeom prst="rect">
            <a:avLst/>
          </a:prstGeom>
          <a:noFill/>
          <a:ln/>
        </p:spPr>
        <p:txBody>
          <a:bodyPr wrap="square" lIns="0" tIns="0" rIns="0" bIns="0" rtlCol="0" anchor="t"/>
          <a:lstStyle/>
          <a:p>
            <a:pPr indent="0" marL="0">
              <a:buNone/>
            </a:pPr>
            <a:r>
              <a:rPr lang="en-US" sz="2000" dirty="0">
                <a:solidFill>
                  <a:schemeClr val="tx2"/>
                </a:solidFill>
              </a:rPr>
              <a:t>Microservicios y pruebas de software: unitarias, de API, de seguridad y de aceptación</a:t>
            </a:r>
            <a:endParaRPr lang="en-US" sz="2000" dirty="0"/>
          </a:p>
        </p:txBody>
      </p:sp>
      <p:sp>
        <p:nvSpPr>
          <p:cNvPr id="5" name="Shape 3"/>
          <p:cNvSpPr/>
          <p:nvPr/>
        </p:nvSpPr>
        <p:spPr>
          <a:xfrm>
            <a:off x="548640" y="548640"/>
            <a:ext cx="685800" cy="685800"/>
          </a:xfrm>
          <a:prstGeom prst="ellipse">
            <a:avLst/>
          </a:prstGeom>
          <a:solidFill>
            <a:schemeClr val="accent6"/>
          </a:solidFill>
          <a:ln w="12700">
            <a:solidFill>
              <a:srgbClr val="2A2A2A"/>
            </a:solidFill>
            <a:prstDash val="solid"/>
          </a:ln>
        </p:spPr>
      </p:sp>
      <p:pic>
        <p:nvPicPr>
          <p:cNvPr id="6" name="Image 0" descr="preencoded.png">    </p:cNvPr>
          <p:cNvPicPr>
            <a:picLocks noChangeAspect="1"/>
          </p:cNvPicPr>
          <p:nvPr/>
        </p:nvPicPr>
        <p:blipFill>
          <a:blip r:embed="rId1"/>
          <a:stretch>
            <a:fillRect/>
          </a:stretch>
        </p:blipFill>
        <p:spPr>
          <a:xfrm>
            <a:off x="713232" y="713232"/>
            <a:ext cx="356616" cy="356616"/>
          </a:xfrm>
          <a:prstGeom prst="rect">
            <a:avLst/>
          </a:prstGeom>
        </p:spPr>
      </p:pic>
      <p:sp>
        <p:nvSpPr>
          <p:cNvPr id="7" name="Shape 4"/>
          <p:cNvSpPr/>
          <p:nvPr/>
        </p:nvSpPr>
        <p:spPr>
          <a:xfrm>
            <a:off x="6720840" y="1325880"/>
            <a:ext cx="4937760" cy="3086100"/>
          </a:xfrm>
          <a:prstGeom prst="roundRect">
            <a:avLst>
              <a:gd name="adj" fmla="val 2963"/>
            </a:avLst>
          </a:prstGeom>
          <a:solidFill>
            <a:schemeClr val="bg2"/>
          </a:solidFill>
          <a:ln w="12700">
            <a:solidFill>
              <a:srgbClr val="2A2A2A"/>
            </a:solidFill>
            <a:prstDash val="solid"/>
          </a:ln>
          <a:effectLst>
            <a:outerShdw sx="100000" sy="100000" kx="0" ky="0" algn="bl" rotWithShape="0" blurRad="152400" dist="50800" dir="5400000">
              <a:srgbClr val="000000">
                <a:alpha val="50000"/>
              </a:srgbClr>
            </a:outerShdw>
          </a:effectLst>
        </p:spPr>
      </p:sp>
      <p:pic>
        <p:nvPicPr>
          <p:cNvPr id="8" name="Image 1" descr="preencoded.png">    </p:cNvPr>
          <p:cNvPicPr>
            <a:picLocks noChangeAspect="1"/>
          </p:cNvPicPr>
          <p:nvPr/>
        </p:nvPicPr>
        <p:blipFill>
          <a:blip r:embed="rId2"/>
          <a:stretch>
            <a:fillRect/>
          </a:stretch>
        </p:blipFill>
        <p:spPr>
          <a:xfrm>
            <a:off x="6720840" y="1325880"/>
            <a:ext cx="4937760" cy="3086100"/>
          </a:xfrm>
          <a:prstGeom prst="rect">
            <a:avLst/>
          </a:prstGeom>
        </p:spPr>
      </p:pic>
      <p:sp>
        <p:nvSpPr>
          <p:cNvPr id="9" name="Text 5"/>
          <p:cNvSpPr txBox="1"/>
          <p:nvPr/>
        </p:nvSpPr>
        <p:spPr>
          <a:xfrm>
            <a:off x="548640" y="5074920"/>
            <a:ext cx="6035040" cy="365760"/>
          </a:xfrm>
          <a:prstGeom prst="rect">
            <a:avLst/>
          </a:prstGeom>
          <a:noFill/>
          <a:ln/>
        </p:spPr>
        <p:txBody>
          <a:bodyPr wrap="square" lIns="0" tIns="0" rIns="0" bIns="0" rtlCol="0" anchor="t"/>
          <a:lstStyle/>
          <a:p>
            <a:pPr indent="0" marL="0">
              <a:buNone/>
            </a:pPr>
            <a:r>
              <a:rPr lang="en-US" sz="1400" b="1" dirty="0">
                <a:solidFill>
                  <a:schemeClr val="accent1"/>
                </a:solidFill>
              </a:rPr>
              <a:t>Extensión + panel web · 3 microservicios · 128 pruebas</a:t>
            </a:r>
            <a:endParaRPr lang="en-US" sz="1400" dirty="0"/>
          </a:p>
        </p:txBody>
      </p:sp>
      <p:sp>
        <p:nvSpPr>
          <p:cNvPr id="10" name="Text 6"/>
          <p:cNvSpPr txBox="1"/>
          <p:nvPr/>
        </p:nvSpPr>
        <p:spPr>
          <a:xfrm>
            <a:off x="548640" y="5486400"/>
            <a:ext cx="6035040" cy="320040"/>
          </a:xfrm>
          <a:prstGeom prst="rect">
            <a:avLst/>
          </a:prstGeom>
          <a:noFill/>
          <a:ln/>
        </p:spPr>
        <p:txBody>
          <a:bodyPr wrap="square" lIns="0" tIns="0" rIns="0" bIns="0" rtlCol="0" anchor="t"/>
          <a:lstStyle/>
          <a:p>
            <a:pPr indent="0" marL="0">
              <a:buNone/>
            </a:pPr>
            <a:r>
              <a:rPr lang="en-US" sz="1200" dirty="0">
                <a:solidFill>
                  <a:schemeClr val="tx2"/>
                </a:solidFill>
              </a:rPr>
              <a:t>uts-mail-guard-extension-dashboard.vercel.app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El problema y la solución</a:t>
            </a:r>
            <a:endParaRPr lang="en-US" sz="3200" dirty="0"/>
          </a:p>
        </p:txBody>
      </p:sp>
      <p:sp>
        <p:nvSpPr>
          <p:cNvPr id="3" name="Shape 1"/>
          <p:cNvSpPr/>
          <p:nvPr/>
        </p:nvSpPr>
        <p:spPr>
          <a:xfrm>
            <a:off x="548640" y="1371600"/>
            <a:ext cx="5303520" cy="4480560"/>
          </a:xfrm>
          <a:prstGeom prst="roundRect">
            <a:avLst>
              <a:gd name="adj" fmla="val 2449"/>
            </a:avLst>
          </a:prstGeom>
          <a:solidFill>
            <a:schemeClr val="bg2"/>
          </a:solidFill>
          <a:ln w="12700">
            <a:solidFill>
              <a:srgbClr val="2A2A2A"/>
            </a:solidFill>
            <a:prstDash val="solid"/>
          </a:ln>
        </p:spPr>
      </p:sp>
      <p:sp>
        <p:nvSpPr>
          <p:cNvPr id="4" name="Shape 2"/>
          <p:cNvSpPr/>
          <p:nvPr/>
        </p:nvSpPr>
        <p:spPr>
          <a:xfrm>
            <a:off x="868680" y="1645920"/>
            <a:ext cx="640080" cy="640080"/>
          </a:xfrm>
          <a:prstGeom prst="ellipse">
            <a:avLst/>
          </a:prstGeom>
          <a:solidFill>
            <a:schemeClr val="accent6"/>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1022299" y="1799539"/>
            <a:ext cx="332842" cy="332842"/>
          </a:xfrm>
          <a:prstGeom prst="rect">
            <a:avLst/>
          </a:prstGeom>
        </p:spPr>
      </p:pic>
      <p:sp>
        <p:nvSpPr>
          <p:cNvPr id="6" name="Text 3"/>
          <p:cNvSpPr txBox="1"/>
          <p:nvPr/>
        </p:nvSpPr>
        <p:spPr>
          <a:xfrm>
            <a:off x="868680" y="2468880"/>
            <a:ext cx="4663440" cy="457200"/>
          </a:xfrm>
          <a:prstGeom prst="rect">
            <a:avLst/>
          </a:prstGeom>
          <a:noFill/>
          <a:ln/>
        </p:spPr>
        <p:txBody>
          <a:bodyPr wrap="square" lIns="0" tIns="0" rIns="0" bIns="0" rtlCol="0" anchor="t"/>
          <a:lstStyle/>
          <a:p>
            <a:pPr indent="0" marL="0">
              <a:buNone/>
            </a:pPr>
            <a:r>
              <a:rPr lang="en-US" sz="2200" b="1" dirty="0">
                <a:solidFill>
                  <a:schemeClr val="tx1"/>
                </a:solidFill>
              </a:rPr>
              <a:t>El problema</a:t>
            </a:r>
            <a:endParaRPr lang="en-US" sz="2200" dirty="0"/>
          </a:p>
        </p:txBody>
      </p:sp>
      <p:sp>
        <p:nvSpPr>
          <p:cNvPr id="7" name="Text 4"/>
          <p:cNvSpPr txBox="1"/>
          <p:nvPr/>
        </p:nvSpPr>
        <p:spPr>
          <a:xfrm>
            <a:off x="868680" y="3017520"/>
            <a:ext cx="466344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Los correos de phishing imitan a bancos y servicios conocidos.</a:t>
            </a:r>
            <a:endParaRPr lang="en-US" sz="1600" dirty="0"/>
          </a:p>
          <a:p>
            <a:pPr marL="342900" indent="-342900">
              <a:spcAft>
                <a:spcPts val="800"/>
              </a:spcAft>
              <a:buSzPct val="100000"/>
              <a:buChar char="•"/>
            </a:pPr>
            <a:r>
              <a:rPr lang="en-US" sz="1600" dirty="0">
                <a:solidFill>
                  <a:schemeClr val="tx2"/>
                </a:solidFill>
              </a:rPr>
              <a:t>Usan urgencia: «tu cuenta será bloqueada en 24 horas».</a:t>
            </a:r>
            <a:endParaRPr lang="en-US" sz="1600" dirty="0"/>
          </a:p>
          <a:p>
            <a:pPr marL="342900" indent="-342900">
              <a:spcAft>
                <a:spcPts val="800"/>
              </a:spcAft>
              <a:buSzPct val="100000"/>
              <a:buChar char="•"/>
            </a:pPr>
            <a:r>
              <a:rPr lang="en-US" sz="1600" dirty="0">
                <a:solidFill>
                  <a:schemeClr val="tx2"/>
                </a:solidFill>
              </a:rPr>
              <a:t>Piden contraseñas o datos de tarjeta, o esconden enlaces peligrosos.</a:t>
            </a:r>
            <a:endParaRPr lang="en-US" sz="1600" dirty="0"/>
          </a:p>
        </p:txBody>
      </p:sp>
      <p:sp>
        <p:nvSpPr>
          <p:cNvPr id="8" name="Shape 5"/>
          <p:cNvSpPr/>
          <p:nvPr/>
        </p:nvSpPr>
        <p:spPr>
          <a:xfrm>
            <a:off x="6355080" y="1371600"/>
            <a:ext cx="5303520" cy="4480560"/>
          </a:xfrm>
          <a:prstGeom prst="roundRect">
            <a:avLst>
              <a:gd name="adj" fmla="val 2449"/>
            </a:avLst>
          </a:prstGeom>
          <a:solidFill>
            <a:schemeClr val="bg2"/>
          </a:solidFill>
          <a:ln w="12700">
            <a:solidFill>
              <a:srgbClr val="2A2A2A"/>
            </a:solidFill>
            <a:prstDash val="solid"/>
          </a:ln>
        </p:spPr>
      </p:sp>
      <p:sp>
        <p:nvSpPr>
          <p:cNvPr id="9" name="Shape 6"/>
          <p:cNvSpPr/>
          <p:nvPr/>
        </p:nvSpPr>
        <p:spPr>
          <a:xfrm>
            <a:off x="6675120" y="1645920"/>
            <a:ext cx="640080" cy="640080"/>
          </a:xfrm>
          <a:prstGeom prst="ellipse">
            <a:avLst/>
          </a:prstGeom>
          <a:solidFill>
            <a:schemeClr val="accent6"/>
          </a:solidFill>
          <a:ln w="12700">
            <a:solidFill>
              <a:srgbClr val="2A2A2A"/>
            </a:solidFill>
            <a:prstDash val="solid"/>
          </a:ln>
        </p:spPr>
      </p:sp>
      <p:pic>
        <p:nvPicPr>
          <p:cNvPr id="10" name="Image 1" descr="preencoded.png">    </p:cNvPr>
          <p:cNvPicPr>
            <a:picLocks noChangeAspect="1"/>
          </p:cNvPicPr>
          <p:nvPr/>
        </p:nvPicPr>
        <p:blipFill>
          <a:blip r:embed="rId2"/>
          <a:stretch>
            <a:fillRect/>
          </a:stretch>
        </p:blipFill>
        <p:spPr>
          <a:xfrm>
            <a:off x="6828739" y="1799539"/>
            <a:ext cx="332842" cy="332842"/>
          </a:xfrm>
          <a:prstGeom prst="rect">
            <a:avLst/>
          </a:prstGeom>
        </p:spPr>
      </p:pic>
      <p:sp>
        <p:nvSpPr>
          <p:cNvPr id="11" name="Text 7"/>
          <p:cNvSpPr txBox="1"/>
          <p:nvPr/>
        </p:nvSpPr>
        <p:spPr>
          <a:xfrm>
            <a:off x="6675120" y="2468880"/>
            <a:ext cx="4663440" cy="457200"/>
          </a:xfrm>
          <a:prstGeom prst="rect">
            <a:avLst/>
          </a:prstGeom>
          <a:noFill/>
          <a:ln/>
        </p:spPr>
        <p:txBody>
          <a:bodyPr wrap="square" lIns="0" tIns="0" rIns="0" bIns="0" rtlCol="0" anchor="t"/>
          <a:lstStyle/>
          <a:p>
            <a:pPr indent="0" marL="0">
              <a:buNone/>
            </a:pPr>
            <a:r>
              <a:rPr lang="en-US" sz="2200" b="1" dirty="0">
                <a:solidFill>
                  <a:schemeClr val="tx1"/>
                </a:solidFill>
              </a:rPr>
              <a:t>La solución: Mail Guard</a:t>
            </a:r>
            <a:endParaRPr lang="en-US" sz="2200" dirty="0"/>
          </a:p>
        </p:txBody>
      </p:sp>
      <p:sp>
        <p:nvSpPr>
          <p:cNvPr id="12" name="Text 8"/>
          <p:cNvSpPr txBox="1"/>
          <p:nvPr/>
        </p:nvSpPr>
        <p:spPr>
          <a:xfrm>
            <a:off x="6675120" y="3017520"/>
            <a:ext cx="466344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Extensión de Chrome que lee el correo abierto y lo analiza en segundos.</a:t>
            </a:r>
            <a:endParaRPr lang="en-US" sz="1600" dirty="0"/>
          </a:p>
          <a:p>
            <a:pPr marL="342900" indent="-342900">
              <a:spcAft>
                <a:spcPts val="800"/>
              </a:spcAft>
              <a:buSzPct val="100000"/>
              <a:buChar char="•"/>
            </a:pPr>
            <a:r>
              <a:rPr lang="en-US" sz="1600" dirty="0">
                <a:solidFill>
                  <a:schemeClr val="tx2"/>
                </a:solidFill>
              </a:rPr>
              <a:t>Explica el veredicto con señales verificables: remitente, contenido y enlaces.</a:t>
            </a:r>
            <a:endParaRPr lang="en-US" sz="1600" dirty="0"/>
          </a:p>
          <a:p>
            <a:pPr marL="342900" indent="-342900">
              <a:spcAft>
                <a:spcPts val="800"/>
              </a:spcAft>
              <a:buSzPct val="100000"/>
              <a:buChar char="•"/>
            </a:pPr>
            <a:r>
              <a:rPr lang="en-US" sz="1600" dirty="0">
                <a:solidFill>
                  <a:schemeClr val="tx2"/>
                </a:solidFill>
              </a:rPr>
              <a:t>Panel web con historial y métricas para usuarios registrados.</a:t>
            </a:r>
            <a:endParaRPr lang="en-US" sz="1600" dirty="0"/>
          </a:p>
        </p:txBody>
      </p:sp>
      <p:sp>
        <p:nvSpPr>
          <p:cNvPr id="13" name="Shape 9"/>
          <p:cNvSpPr/>
          <p:nvPr/>
        </p:nvSpPr>
        <p:spPr>
          <a:xfrm>
            <a:off x="6675120" y="5120640"/>
            <a:ext cx="1417320" cy="411480"/>
          </a:xfrm>
          <a:prstGeom prst="roundRect">
            <a:avLst>
              <a:gd name="adj" fmla="val 44444"/>
            </a:avLst>
          </a:prstGeom>
          <a:solidFill>
            <a:schemeClr val="accent6"/>
          </a:solidFill>
          <a:ln w="19050">
            <a:solidFill>
              <a:schemeClr val="accent2"/>
            </a:solidFill>
            <a:prstDash val="solid"/>
          </a:ln>
        </p:spPr>
      </p:sp>
      <p:sp>
        <p:nvSpPr>
          <p:cNvPr id="14" name="Text 10"/>
          <p:cNvSpPr txBox="1"/>
          <p:nvPr/>
        </p:nvSpPr>
        <p:spPr>
          <a:xfrm>
            <a:off x="6675120" y="5120640"/>
            <a:ext cx="1417320" cy="411480"/>
          </a:xfrm>
          <a:prstGeom prst="rect">
            <a:avLst/>
          </a:prstGeom>
          <a:noFill/>
          <a:ln/>
        </p:spPr>
        <p:txBody>
          <a:bodyPr wrap="square" lIns="0" tIns="0" rIns="0" bIns="0" rtlCol="0" anchor="ctr"/>
          <a:lstStyle/>
          <a:p>
            <a:pPr algn="ctr" indent="0" marL="0">
              <a:buNone/>
            </a:pPr>
            <a:r>
              <a:rPr lang="en-US" sz="1300" b="1" dirty="0">
                <a:solidFill>
                  <a:schemeClr val="accent2"/>
                </a:solidFill>
              </a:rPr>
              <a:t>Seguro</a:t>
            </a:r>
            <a:endParaRPr lang="en-US" sz="1300" dirty="0"/>
          </a:p>
        </p:txBody>
      </p:sp>
      <p:sp>
        <p:nvSpPr>
          <p:cNvPr id="15" name="Shape 11"/>
          <p:cNvSpPr/>
          <p:nvPr/>
        </p:nvSpPr>
        <p:spPr>
          <a:xfrm>
            <a:off x="8229600" y="5120640"/>
            <a:ext cx="1417320" cy="411480"/>
          </a:xfrm>
          <a:prstGeom prst="roundRect">
            <a:avLst>
              <a:gd name="adj" fmla="val 44444"/>
            </a:avLst>
          </a:prstGeom>
          <a:solidFill>
            <a:schemeClr val="accent6"/>
          </a:solidFill>
          <a:ln w="19050">
            <a:solidFill>
              <a:schemeClr val="accent4"/>
            </a:solidFill>
            <a:prstDash val="solid"/>
          </a:ln>
        </p:spPr>
      </p:sp>
      <p:sp>
        <p:nvSpPr>
          <p:cNvPr id="16" name="Text 12"/>
          <p:cNvSpPr txBox="1"/>
          <p:nvPr/>
        </p:nvSpPr>
        <p:spPr>
          <a:xfrm>
            <a:off x="8229600" y="5120640"/>
            <a:ext cx="1417320" cy="411480"/>
          </a:xfrm>
          <a:prstGeom prst="rect">
            <a:avLst/>
          </a:prstGeom>
          <a:noFill/>
          <a:ln/>
        </p:spPr>
        <p:txBody>
          <a:bodyPr wrap="square" lIns="0" tIns="0" rIns="0" bIns="0" rtlCol="0" anchor="ctr"/>
          <a:lstStyle/>
          <a:p>
            <a:pPr algn="ctr" indent="0" marL="0">
              <a:buNone/>
            </a:pPr>
            <a:r>
              <a:rPr lang="en-US" sz="1300" b="1" dirty="0">
                <a:solidFill>
                  <a:schemeClr val="accent4"/>
                </a:solidFill>
              </a:rPr>
              <a:t>Sospechoso</a:t>
            </a:r>
            <a:endParaRPr lang="en-US" sz="1300" dirty="0"/>
          </a:p>
        </p:txBody>
      </p:sp>
      <p:sp>
        <p:nvSpPr>
          <p:cNvPr id="17" name="Shape 13"/>
          <p:cNvSpPr/>
          <p:nvPr/>
        </p:nvSpPr>
        <p:spPr>
          <a:xfrm>
            <a:off x="9784080" y="5120640"/>
            <a:ext cx="1417320" cy="411480"/>
          </a:xfrm>
          <a:prstGeom prst="roundRect">
            <a:avLst>
              <a:gd name="adj" fmla="val 44444"/>
            </a:avLst>
          </a:prstGeom>
          <a:solidFill>
            <a:schemeClr val="accent6"/>
          </a:solidFill>
          <a:ln w="19050">
            <a:solidFill>
              <a:schemeClr val="accent3"/>
            </a:solidFill>
            <a:prstDash val="solid"/>
          </a:ln>
        </p:spPr>
      </p:sp>
      <p:sp>
        <p:nvSpPr>
          <p:cNvPr id="18" name="Text 14"/>
          <p:cNvSpPr txBox="1"/>
          <p:nvPr/>
        </p:nvSpPr>
        <p:spPr>
          <a:xfrm>
            <a:off x="9784080" y="5120640"/>
            <a:ext cx="1417320" cy="411480"/>
          </a:xfrm>
          <a:prstGeom prst="rect">
            <a:avLst/>
          </a:prstGeom>
          <a:noFill/>
          <a:ln/>
        </p:spPr>
        <p:txBody>
          <a:bodyPr wrap="square" lIns="0" tIns="0" rIns="0" bIns="0" rtlCol="0" anchor="ctr"/>
          <a:lstStyle/>
          <a:p>
            <a:pPr algn="ctr" indent="0" marL="0">
              <a:buNone/>
            </a:pPr>
            <a:r>
              <a:rPr lang="en-US" sz="1300" b="1" dirty="0">
                <a:solidFill>
                  <a:schemeClr val="accent3"/>
                </a:solidFill>
              </a:rPr>
              <a:t>Peligroso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Arquitectura: tres microservicios detrás de un gateway</a:t>
            </a:r>
            <a:endParaRPr lang="en-US" sz="3200" dirty="0"/>
          </a:p>
        </p:txBody>
      </p:sp>
      <p:sp>
        <p:nvSpPr>
          <p:cNvPr id="3" name="Text 1"/>
          <p:cNvSpPr txBox="1"/>
          <p:nvPr/>
        </p:nvSpPr>
        <p:spPr>
          <a:xfrm>
            <a:off x="548640" y="1280160"/>
            <a:ext cx="2560320" cy="274320"/>
          </a:xfrm>
          <a:prstGeom prst="rect">
            <a:avLst/>
          </a:prstGeom>
          <a:noFill/>
          <a:ln/>
        </p:spPr>
        <p:txBody>
          <a:bodyPr wrap="square" lIns="0" tIns="0" rIns="0" bIns="0" rtlCol="0" anchor="t"/>
          <a:lstStyle/>
          <a:p>
            <a:pPr indent="0" marL="0">
              <a:buNone/>
            </a:pPr>
            <a:r>
              <a:rPr lang="en-US" sz="1100" b="1" dirty="0">
                <a:solidFill>
                  <a:schemeClr val="tx2"/>
                </a:solidFill>
              </a:rPr>
              <a:t>CLIENTES</a:t>
            </a:r>
            <a:endParaRPr lang="en-US" sz="1100" dirty="0"/>
          </a:p>
        </p:txBody>
      </p:sp>
      <p:sp>
        <p:nvSpPr>
          <p:cNvPr id="4" name="Shape 2"/>
          <p:cNvSpPr/>
          <p:nvPr/>
        </p:nvSpPr>
        <p:spPr>
          <a:xfrm>
            <a:off x="548640" y="1645920"/>
            <a:ext cx="2651760" cy="914400"/>
          </a:xfrm>
          <a:prstGeom prst="roundRect">
            <a:avLst>
              <a:gd name="adj" fmla="val 10000"/>
            </a:avLst>
          </a:prstGeom>
          <a:solidFill>
            <a:schemeClr val="bg2"/>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731520" y="1920240"/>
            <a:ext cx="365760" cy="365760"/>
          </a:xfrm>
          <a:prstGeom prst="rect">
            <a:avLst/>
          </a:prstGeom>
        </p:spPr>
      </p:pic>
      <p:sp>
        <p:nvSpPr>
          <p:cNvPr id="6" name="Text 3"/>
          <p:cNvSpPr txBox="1"/>
          <p:nvPr/>
        </p:nvSpPr>
        <p:spPr>
          <a:xfrm>
            <a:off x="1207008" y="1645920"/>
            <a:ext cx="1874520" cy="914400"/>
          </a:xfrm>
          <a:prstGeom prst="rect">
            <a:avLst/>
          </a:prstGeom>
          <a:noFill/>
          <a:ln/>
        </p:spPr>
        <p:txBody>
          <a:bodyPr wrap="square" lIns="0" tIns="0" rIns="0" bIns="0" rtlCol="0" anchor="ctr"/>
          <a:lstStyle/>
          <a:p>
            <a:pPr indent="0" marL="0">
              <a:buNone/>
            </a:pPr>
            <a:r>
              <a:rPr lang="en-US" sz="1500" b="1" dirty="0">
                <a:solidFill>
                  <a:schemeClr val="tx1"/>
                </a:solidFill>
              </a:rPr>
              <a:t>Extensión Chrome</a:t>
            </a:r>
            <a:endParaRPr lang="en-US" sz="1400" dirty="0"/>
          </a:p>
          <a:p>
            <a:pPr indent="0" marL="0">
              <a:buNone/>
            </a:pPr>
            <a:r>
              <a:rPr lang="en-US" sz="1100" dirty="0">
                <a:solidFill>
                  <a:schemeClr val="tx2"/>
                </a:solidFill>
              </a:rPr>
              <a:t>React + Vite (MV3)</a:t>
            </a:r>
            <a:endParaRPr lang="en-US" sz="1400" dirty="0"/>
          </a:p>
        </p:txBody>
      </p:sp>
      <p:sp>
        <p:nvSpPr>
          <p:cNvPr id="7" name="Shape 4"/>
          <p:cNvSpPr/>
          <p:nvPr/>
        </p:nvSpPr>
        <p:spPr>
          <a:xfrm>
            <a:off x="548640" y="2926080"/>
            <a:ext cx="2651760" cy="914400"/>
          </a:xfrm>
          <a:prstGeom prst="roundRect">
            <a:avLst>
              <a:gd name="adj" fmla="val 10000"/>
            </a:avLst>
          </a:prstGeom>
          <a:solidFill>
            <a:schemeClr val="bg2"/>
          </a:solidFill>
          <a:ln w="12700">
            <a:solidFill>
              <a:srgbClr val="2A2A2A"/>
            </a:solidFill>
            <a:prstDash val="solid"/>
          </a:ln>
        </p:spPr>
      </p:sp>
      <p:pic>
        <p:nvPicPr>
          <p:cNvPr id="8" name="Image 1" descr="preencoded.png">    </p:cNvPr>
          <p:cNvPicPr>
            <a:picLocks noChangeAspect="1"/>
          </p:cNvPicPr>
          <p:nvPr/>
        </p:nvPicPr>
        <p:blipFill>
          <a:blip r:embed="rId2"/>
          <a:stretch>
            <a:fillRect/>
          </a:stretch>
        </p:blipFill>
        <p:spPr>
          <a:xfrm>
            <a:off x="731520" y="3200400"/>
            <a:ext cx="365760" cy="365760"/>
          </a:xfrm>
          <a:prstGeom prst="rect">
            <a:avLst/>
          </a:prstGeom>
        </p:spPr>
      </p:pic>
      <p:sp>
        <p:nvSpPr>
          <p:cNvPr id="9" name="Text 5"/>
          <p:cNvSpPr txBox="1"/>
          <p:nvPr/>
        </p:nvSpPr>
        <p:spPr>
          <a:xfrm>
            <a:off x="1207008" y="2926080"/>
            <a:ext cx="1874520" cy="914400"/>
          </a:xfrm>
          <a:prstGeom prst="rect">
            <a:avLst/>
          </a:prstGeom>
          <a:noFill/>
          <a:ln/>
        </p:spPr>
        <p:txBody>
          <a:bodyPr wrap="square" lIns="0" tIns="0" rIns="0" bIns="0" rtlCol="0" anchor="ctr"/>
          <a:lstStyle/>
          <a:p>
            <a:pPr indent="0" marL="0">
              <a:buNone/>
            </a:pPr>
            <a:r>
              <a:rPr lang="en-US" sz="1500" b="1" dirty="0">
                <a:solidFill>
                  <a:schemeClr val="tx1"/>
                </a:solidFill>
              </a:rPr>
              <a:t>Panel web</a:t>
            </a:r>
            <a:endParaRPr lang="en-US" sz="1400" dirty="0"/>
          </a:p>
          <a:p>
            <a:pPr indent="0" marL="0">
              <a:buNone/>
            </a:pPr>
            <a:r>
              <a:rPr lang="en-US" sz="1100" dirty="0">
                <a:solidFill>
                  <a:schemeClr val="tx2"/>
                </a:solidFill>
              </a:rPr>
              <a:t>Next.js 16 · Vercel</a:t>
            </a:r>
            <a:endParaRPr lang="en-US" sz="1400" dirty="0"/>
          </a:p>
        </p:txBody>
      </p:sp>
      <p:sp>
        <p:nvSpPr>
          <p:cNvPr id="10" name="Text 6"/>
          <p:cNvSpPr txBox="1"/>
          <p:nvPr/>
        </p:nvSpPr>
        <p:spPr>
          <a:xfrm>
            <a:off x="4434840" y="1280160"/>
            <a:ext cx="2560320" cy="274320"/>
          </a:xfrm>
          <a:prstGeom prst="rect">
            <a:avLst/>
          </a:prstGeom>
          <a:noFill/>
          <a:ln/>
        </p:spPr>
        <p:txBody>
          <a:bodyPr wrap="square" lIns="0" tIns="0" rIns="0" bIns="0" rtlCol="0" anchor="t"/>
          <a:lstStyle/>
          <a:p>
            <a:pPr indent="0" marL="0">
              <a:buNone/>
            </a:pPr>
            <a:r>
              <a:rPr lang="en-US" sz="1100" b="1" dirty="0">
                <a:solidFill>
                  <a:schemeClr val="accent1"/>
                </a:solidFill>
              </a:rPr>
              <a:t>PÚBLICO</a:t>
            </a:r>
            <a:endParaRPr lang="en-US" sz="1100" dirty="0"/>
          </a:p>
        </p:txBody>
      </p:sp>
      <p:sp>
        <p:nvSpPr>
          <p:cNvPr id="11" name="Shape 7"/>
          <p:cNvSpPr/>
          <p:nvPr/>
        </p:nvSpPr>
        <p:spPr>
          <a:xfrm>
            <a:off x="4434840" y="2240280"/>
            <a:ext cx="2743200" cy="1005840"/>
          </a:xfrm>
          <a:prstGeom prst="roundRect">
            <a:avLst>
              <a:gd name="adj" fmla="val 9091"/>
            </a:avLst>
          </a:prstGeom>
          <a:solidFill>
            <a:schemeClr val="accent6"/>
          </a:solidFill>
          <a:ln w="19050">
            <a:solidFill>
              <a:srgbClr val="C8D400"/>
            </a:solidFill>
            <a:prstDash val="solid"/>
          </a:ln>
        </p:spPr>
      </p:sp>
      <p:pic>
        <p:nvPicPr>
          <p:cNvPr id="12" name="Image 2" descr="preencoded.png">    </p:cNvPr>
          <p:cNvPicPr>
            <a:picLocks noChangeAspect="1"/>
          </p:cNvPicPr>
          <p:nvPr/>
        </p:nvPicPr>
        <p:blipFill>
          <a:blip r:embed="rId3"/>
          <a:stretch>
            <a:fillRect/>
          </a:stretch>
        </p:blipFill>
        <p:spPr>
          <a:xfrm>
            <a:off x="4617720" y="2560320"/>
            <a:ext cx="365760" cy="365760"/>
          </a:xfrm>
          <a:prstGeom prst="rect">
            <a:avLst/>
          </a:prstGeom>
        </p:spPr>
      </p:pic>
      <p:sp>
        <p:nvSpPr>
          <p:cNvPr id="13" name="Text 8"/>
          <p:cNvSpPr txBox="1"/>
          <p:nvPr/>
        </p:nvSpPr>
        <p:spPr>
          <a:xfrm>
            <a:off x="5093208" y="2240280"/>
            <a:ext cx="1965960" cy="1005840"/>
          </a:xfrm>
          <a:prstGeom prst="rect">
            <a:avLst/>
          </a:prstGeom>
          <a:noFill/>
          <a:ln/>
        </p:spPr>
        <p:txBody>
          <a:bodyPr wrap="square" lIns="0" tIns="0" rIns="0" bIns="0" rtlCol="0" anchor="ctr"/>
          <a:lstStyle/>
          <a:p>
            <a:pPr indent="0" marL="0">
              <a:buNone/>
            </a:pPr>
            <a:r>
              <a:rPr lang="en-US" sz="1500" b="1" dirty="0">
                <a:solidFill>
                  <a:schemeClr val="tx1"/>
                </a:solidFill>
              </a:rPr>
              <a:t>API Gateway :4000</a:t>
            </a:r>
            <a:endParaRPr lang="en-US" sz="1400" dirty="0"/>
          </a:p>
          <a:p>
            <a:pPr indent="0" marL="0">
              <a:buNone/>
            </a:pPr>
            <a:r>
              <a:rPr lang="en-US" sz="1100" dirty="0">
                <a:solidFill>
                  <a:schemeClr val="tx2"/>
                </a:solidFill>
              </a:rPr>
              <a:t>services/gateway</a:t>
            </a:r>
            <a:endParaRPr lang="en-US" sz="1400" dirty="0"/>
          </a:p>
        </p:txBody>
      </p:sp>
      <p:sp>
        <p:nvSpPr>
          <p:cNvPr id="14" name="Text 9"/>
          <p:cNvSpPr txBox="1"/>
          <p:nvPr/>
        </p:nvSpPr>
        <p:spPr>
          <a:xfrm>
            <a:off x="8366760" y="1280160"/>
            <a:ext cx="2560320" cy="274320"/>
          </a:xfrm>
          <a:prstGeom prst="rect">
            <a:avLst/>
          </a:prstGeom>
          <a:noFill/>
          <a:ln/>
        </p:spPr>
        <p:txBody>
          <a:bodyPr wrap="square" lIns="0" tIns="0" rIns="0" bIns="0" rtlCol="0" anchor="t"/>
          <a:lstStyle/>
          <a:p>
            <a:pPr indent="0" marL="0">
              <a:buNone/>
            </a:pPr>
            <a:r>
              <a:rPr lang="en-US" sz="1100" b="1" dirty="0">
                <a:solidFill>
                  <a:schemeClr val="tx2"/>
                </a:solidFill>
              </a:rPr>
              <a:t>INTERNOS</a:t>
            </a:r>
            <a:endParaRPr lang="en-US" sz="1100" dirty="0"/>
          </a:p>
        </p:txBody>
      </p:sp>
      <p:sp>
        <p:nvSpPr>
          <p:cNvPr id="15" name="Shape 10"/>
          <p:cNvSpPr/>
          <p:nvPr/>
        </p:nvSpPr>
        <p:spPr>
          <a:xfrm>
            <a:off x="8366760" y="1645920"/>
            <a:ext cx="3246120" cy="914400"/>
          </a:xfrm>
          <a:prstGeom prst="roundRect">
            <a:avLst>
              <a:gd name="adj" fmla="val 10000"/>
            </a:avLst>
          </a:prstGeom>
          <a:solidFill>
            <a:schemeClr val="accent6"/>
          </a:solidFill>
          <a:ln w="19050">
            <a:solidFill>
              <a:srgbClr val="C8D400"/>
            </a:solidFill>
            <a:prstDash val="solid"/>
          </a:ln>
        </p:spPr>
      </p:sp>
      <p:pic>
        <p:nvPicPr>
          <p:cNvPr id="16" name="Image 3" descr="preencoded.png">    </p:cNvPr>
          <p:cNvPicPr>
            <a:picLocks noChangeAspect="1"/>
          </p:cNvPicPr>
          <p:nvPr/>
        </p:nvPicPr>
        <p:blipFill>
          <a:blip r:embed="rId4"/>
          <a:stretch>
            <a:fillRect/>
          </a:stretch>
        </p:blipFill>
        <p:spPr>
          <a:xfrm>
            <a:off x="8549640" y="1920240"/>
            <a:ext cx="365760" cy="365760"/>
          </a:xfrm>
          <a:prstGeom prst="rect">
            <a:avLst/>
          </a:prstGeom>
        </p:spPr>
      </p:pic>
      <p:sp>
        <p:nvSpPr>
          <p:cNvPr id="17" name="Text 11"/>
          <p:cNvSpPr txBox="1"/>
          <p:nvPr/>
        </p:nvSpPr>
        <p:spPr>
          <a:xfrm>
            <a:off x="9025128" y="1645920"/>
            <a:ext cx="2468880" cy="914400"/>
          </a:xfrm>
          <a:prstGeom prst="rect">
            <a:avLst/>
          </a:prstGeom>
          <a:noFill/>
          <a:ln/>
        </p:spPr>
        <p:txBody>
          <a:bodyPr wrap="square" lIns="0" tIns="0" rIns="0" bIns="0" rtlCol="0" anchor="ctr"/>
          <a:lstStyle/>
          <a:p>
            <a:pPr indent="0" marL="0">
              <a:buNone/>
            </a:pPr>
            <a:r>
              <a:rPr lang="en-US" sz="1500" b="1" dirty="0">
                <a:solidFill>
                  <a:schemeClr val="tx1"/>
                </a:solidFill>
              </a:rPr>
              <a:t>analysis-service :4001</a:t>
            </a:r>
            <a:endParaRPr lang="en-US" sz="1400" dirty="0"/>
          </a:p>
          <a:p>
            <a:pPr indent="0" marL="0">
              <a:buNone/>
            </a:pPr>
            <a:r>
              <a:rPr lang="en-US" sz="1100" dirty="0">
                <a:solidFill>
                  <a:schemeClr val="tx2"/>
                </a:solidFill>
              </a:rPr>
              <a:t>services/analysis-service</a:t>
            </a:r>
            <a:endParaRPr lang="en-US" sz="1400" dirty="0"/>
          </a:p>
        </p:txBody>
      </p:sp>
      <p:sp>
        <p:nvSpPr>
          <p:cNvPr id="18" name="Shape 12"/>
          <p:cNvSpPr/>
          <p:nvPr/>
        </p:nvSpPr>
        <p:spPr>
          <a:xfrm>
            <a:off x="8366760" y="2926080"/>
            <a:ext cx="3246120" cy="914400"/>
          </a:xfrm>
          <a:prstGeom prst="roundRect">
            <a:avLst>
              <a:gd name="adj" fmla="val 10000"/>
            </a:avLst>
          </a:prstGeom>
          <a:solidFill>
            <a:schemeClr val="accent6"/>
          </a:solidFill>
          <a:ln w="19050">
            <a:solidFill>
              <a:srgbClr val="C8D400"/>
            </a:solidFill>
            <a:prstDash val="solid"/>
          </a:ln>
        </p:spPr>
      </p:sp>
      <p:pic>
        <p:nvPicPr>
          <p:cNvPr id="19" name="Image 4" descr="preencoded.png">    </p:cNvPr>
          <p:cNvPicPr>
            <a:picLocks noChangeAspect="1"/>
          </p:cNvPicPr>
          <p:nvPr/>
        </p:nvPicPr>
        <p:blipFill>
          <a:blip r:embed="rId5"/>
          <a:stretch>
            <a:fillRect/>
          </a:stretch>
        </p:blipFill>
        <p:spPr>
          <a:xfrm>
            <a:off x="8549640" y="3200400"/>
            <a:ext cx="365760" cy="365760"/>
          </a:xfrm>
          <a:prstGeom prst="rect">
            <a:avLst/>
          </a:prstGeom>
        </p:spPr>
      </p:pic>
      <p:sp>
        <p:nvSpPr>
          <p:cNvPr id="20" name="Text 13"/>
          <p:cNvSpPr txBox="1"/>
          <p:nvPr/>
        </p:nvSpPr>
        <p:spPr>
          <a:xfrm>
            <a:off x="9025128" y="2926080"/>
            <a:ext cx="2468880" cy="914400"/>
          </a:xfrm>
          <a:prstGeom prst="rect">
            <a:avLst/>
          </a:prstGeom>
          <a:noFill/>
          <a:ln/>
        </p:spPr>
        <p:txBody>
          <a:bodyPr wrap="square" lIns="0" tIns="0" rIns="0" bIns="0" rtlCol="0" anchor="ctr"/>
          <a:lstStyle/>
          <a:p>
            <a:pPr indent="0" marL="0">
              <a:buNone/>
            </a:pPr>
            <a:r>
              <a:rPr lang="en-US" sz="1500" b="1" dirty="0">
                <a:solidFill>
                  <a:schemeClr val="tx1"/>
                </a:solidFill>
              </a:rPr>
              <a:t>history-service :4002</a:t>
            </a:r>
            <a:endParaRPr lang="en-US" sz="1400" dirty="0"/>
          </a:p>
          <a:p>
            <a:pPr indent="0" marL="0">
              <a:buNone/>
            </a:pPr>
            <a:r>
              <a:rPr lang="en-US" sz="1100" dirty="0">
                <a:solidFill>
                  <a:schemeClr val="tx2"/>
                </a:solidFill>
              </a:rPr>
              <a:t>services/history-service</a:t>
            </a:r>
            <a:endParaRPr lang="en-US" sz="1400" dirty="0"/>
          </a:p>
        </p:txBody>
      </p:sp>
      <p:sp>
        <p:nvSpPr>
          <p:cNvPr id="21" name="Shape 14"/>
          <p:cNvSpPr/>
          <p:nvPr/>
        </p:nvSpPr>
        <p:spPr>
          <a:xfrm>
            <a:off x="3200400" y="2103120"/>
            <a:ext cx="1234440" cy="502920"/>
          </a:xfrm>
          <a:prstGeom prst="line">
            <a:avLst/>
          </a:prstGeom>
          <a:noFill/>
          <a:ln w="15875">
            <a:solidFill>
              <a:srgbClr val="C8C8AD"/>
            </a:solidFill>
            <a:prstDash val="solid"/>
            <a:tailEnd type="triangle"/>
          </a:ln>
        </p:spPr>
      </p:sp>
      <p:sp>
        <p:nvSpPr>
          <p:cNvPr id="22" name="Text 15"/>
          <p:cNvSpPr txBox="1"/>
          <p:nvPr/>
        </p:nvSpPr>
        <p:spPr>
          <a:xfrm>
            <a:off x="2971800" y="1783080"/>
            <a:ext cx="1737360" cy="274320"/>
          </a:xfrm>
          <a:prstGeom prst="rect">
            <a:avLst/>
          </a:prstGeom>
          <a:noFill/>
          <a:ln/>
        </p:spPr>
        <p:txBody>
          <a:bodyPr wrap="square" lIns="0" tIns="0" rIns="0" bIns="0" rtlCol="0" anchor="t"/>
          <a:lstStyle/>
          <a:p>
            <a:pPr algn="ctr" indent="0" marL="0">
              <a:buNone/>
            </a:pPr>
            <a:r>
              <a:rPr lang="en-US" sz="1000" dirty="0">
                <a:solidFill>
                  <a:schemeClr val="tx2"/>
                </a:solidFill>
              </a:rPr>
              <a:t>HTTPS + JWT</a:t>
            </a:r>
            <a:endParaRPr lang="en-US" sz="1000" dirty="0"/>
          </a:p>
        </p:txBody>
      </p:sp>
      <p:sp>
        <p:nvSpPr>
          <p:cNvPr id="23" name="Shape 16"/>
          <p:cNvSpPr/>
          <p:nvPr/>
        </p:nvSpPr>
        <p:spPr>
          <a:xfrm flipV="1">
            <a:off x="3200400" y="2880360"/>
            <a:ext cx="1234440" cy="502920"/>
          </a:xfrm>
          <a:prstGeom prst="line">
            <a:avLst/>
          </a:prstGeom>
          <a:noFill/>
          <a:ln w="15875">
            <a:solidFill>
              <a:srgbClr val="C8C8AD"/>
            </a:solidFill>
            <a:prstDash val="solid"/>
            <a:tailEnd type="triangle"/>
          </a:ln>
        </p:spPr>
      </p:sp>
      <p:sp>
        <p:nvSpPr>
          <p:cNvPr id="24" name="Shape 17"/>
          <p:cNvSpPr/>
          <p:nvPr/>
        </p:nvSpPr>
        <p:spPr>
          <a:xfrm flipV="1">
            <a:off x="7178040" y="2103120"/>
            <a:ext cx="1188720" cy="411480"/>
          </a:xfrm>
          <a:prstGeom prst="line">
            <a:avLst/>
          </a:prstGeom>
          <a:noFill/>
          <a:ln w="15875">
            <a:solidFill>
              <a:srgbClr val="C8C8AD"/>
            </a:solidFill>
            <a:prstDash val="solid"/>
            <a:tailEnd type="triangle"/>
          </a:ln>
        </p:spPr>
      </p:sp>
      <p:sp>
        <p:nvSpPr>
          <p:cNvPr id="25" name="Text 18"/>
          <p:cNvSpPr txBox="1"/>
          <p:nvPr/>
        </p:nvSpPr>
        <p:spPr>
          <a:xfrm>
            <a:off x="6903720" y="1874520"/>
            <a:ext cx="1737360" cy="274320"/>
          </a:xfrm>
          <a:prstGeom prst="rect">
            <a:avLst/>
          </a:prstGeom>
          <a:noFill/>
          <a:ln/>
        </p:spPr>
        <p:txBody>
          <a:bodyPr wrap="square" lIns="0" tIns="0" rIns="0" bIns="0" rtlCol="0" anchor="t"/>
          <a:lstStyle/>
          <a:p>
            <a:pPr algn="ctr" indent="0" marL="0">
              <a:buNone/>
            </a:pPr>
            <a:r>
              <a:rPr lang="en-US" sz="1000" dirty="0">
                <a:solidFill>
                  <a:schemeClr val="tx2"/>
                </a:solidFill>
              </a:rPr>
              <a:t>token interno</a:t>
            </a:r>
            <a:endParaRPr lang="en-US" sz="1000" dirty="0"/>
          </a:p>
        </p:txBody>
      </p:sp>
      <p:sp>
        <p:nvSpPr>
          <p:cNvPr id="26" name="Shape 19"/>
          <p:cNvSpPr/>
          <p:nvPr/>
        </p:nvSpPr>
        <p:spPr>
          <a:xfrm>
            <a:off x="7178040" y="2971800"/>
            <a:ext cx="1188720" cy="411480"/>
          </a:xfrm>
          <a:prstGeom prst="line">
            <a:avLst/>
          </a:prstGeom>
          <a:noFill/>
          <a:ln w="15875">
            <a:solidFill>
              <a:srgbClr val="C8C8AD"/>
            </a:solidFill>
            <a:prstDash val="solid"/>
            <a:tailEnd type="triangle"/>
          </a:ln>
        </p:spPr>
      </p:sp>
      <p:sp>
        <p:nvSpPr>
          <p:cNvPr id="27" name="Text 20"/>
          <p:cNvSpPr txBox="1"/>
          <p:nvPr/>
        </p:nvSpPr>
        <p:spPr>
          <a:xfrm>
            <a:off x="6903720" y="3429000"/>
            <a:ext cx="1737360" cy="274320"/>
          </a:xfrm>
          <a:prstGeom prst="rect">
            <a:avLst/>
          </a:prstGeom>
          <a:noFill/>
          <a:ln/>
        </p:spPr>
        <p:txBody>
          <a:bodyPr wrap="square" lIns="0" tIns="0" rIns="0" bIns="0" rtlCol="0" anchor="t"/>
          <a:lstStyle/>
          <a:p>
            <a:pPr algn="ctr" indent="0" marL="0">
              <a:buNone/>
            </a:pPr>
            <a:r>
              <a:rPr lang="en-US" sz="1000" dirty="0">
                <a:solidFill>
                  <a:schemeClr val="tx2"/>
                </a:solidFill>
              </a:rPr>
              <a:t>token + JWT</a:t>
            </a:r>
            <a:endParaRPr lang="en-US" sz="1000" dirty="0"/>
          </a:p>
        </p:txBody>
      </p:sp>
      <p:sp>
        <p:nvSpPr>
          <p:cNvPr id="28" name="Text 21"/>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100" b="1" dirty="0">
                <a:solidFill>
                  <a:schemeClr val="tx2"/>
                </a:solidFill>
              </a:rPr>
              <a:t>SERVICIOS EXTERNOS</a:t>
            </a:r>
            <a:endParaRPr lang="en-US" sz="1100" dirty="0"/>
          </a:p>
        </p:txBody>
      </p:sp>
      <p:sp>
        <p:nvSpPr>
          <p:cNvPr id="29" name="Shape 22"/>
          <p:cNvSpPr/>
          <p:nvPr/>
        </p:nvSpPr>
        <p:spPr>
          <a:xfrm>
            <a:off x="548640" y="4709160"/>
            <a:ext cx="3520440" cy="868680"/>
          </a:xfrm>
          <a:prstGeom prst="roundRect">
            <a:avLst>
              <a:gd name="adj" fmla="val 10526"/>
            </a:avLst>
          </a:prstGeom>
          <a:solidFill>
            <a:schemeClr val="bg2"/>
          </a:solidFill>
          <a:ln w="12700">
            <a:solidFill>
              <a:srgbClr val="2A2A2A"/>
            </a:solidFill>
            <a:prstDash val="solid"/>
          </a:ln>
        </p:spPr>
      </p:sp>
      <p:pic>
        <p:nvPicPr>
          <p:cNvPr id="30" name="Image 5" descr="preencoded.png">    </p:cNvPr>
          <p:cNvPicPr>
            <a:picLocks noChangeAspect="1"/>
          </p:cNvPicPr>
          <p:nvPr/>
        </p:nvPicPr>
        <p:blipFill>
          <a:blip r:embed="rId6"/>
          <a:stretch>
            <a:fillRect/>
          </a:stretch>
        </p:blipFill>
        <p:spPr>
          <a:xfrm>
            <a:off x="731520" y="4960620"/>
            <a:ext cx="365760" cy="365760"/>
          </a:xfrm>
          <a:prstGeom prst="rect">
            <a:avLst/>
          </a:prstGeom>
        </p:spPr>
      </p:pic>
      <p:sp>
        <p:nvSpPr>
          <p:cNvPr id="31" name="Text 23"/>
          <p:cNvSpPr txBox="1"/>
          <p:nvPr/>
        </p:nvSpPr>
        <p:spPr>
          <a:xfrm>
            <a:off x="1207008" y="4709160"/>
            <a:ext cx="2743200" cy="868680"/>
          </a:xfrm>
          <a:prstGeom prst="rect">
            <a:avLst/>
          </a:prstGeom>
          <a:noFill/>
          <a:ln/>
        </p:spPr>
        <p:txBody>
          <a:bodyPr wrap="square" lIns="0" tIns="0" rIns="0" bIns="0" rtlCol="0" anchor="ctr"/>
          <a:lstStyle/>
          <a:p>
            <a:pPr indent="0" marL="0">
              <a:buNone/>
            </a:pPr>
            <a:r>
              <a:rPr lang="en-US" sz="1500" b="1" dirty="0">
                <a:solidFill>
                  <a:schemeClr val="tx1"/>
                </a:solidFill>
              </a:rPr>
              <a:t>Supabase</a:t>
            </a:r>
            <a:endParaRPr lang="en-US" sz="1400" dirty="0"/>
          </a:p>
          <a:p>
            <a:pPr indent="0" marL="0">
              <a:buNone/>
            </a:pPr>
            <a:r>
              <a:rPr lang="en-US" sz="1100" dirty="0">
                <a:solidFill>
                  <a:schemeClr val="tx2"/>
                </a:solidFill>
              </a:rPr>
              <a:t>Auth + Postgres con RLS</a:t>
            </a:r>
            <a:endParaRPr lang="en-US" sz="1400" dirty="0"/>
          </a:p>
        </p:txBody>
      </p:sp>
      <p:sp>
        <p:nvSpPr>
          <p:cNvPr id="32" name="Shape 24"/>
          <p:cNvSpPr/>
          <p:nvPr/>
        </p:nvSpPr>
        <p:spPr>
          <a:xfrm>
            <a:off x="4297680" y="4709160"/>
            <a:ext cx="3520440" cy="868680"/>
          </a:xfrm>
          <a:prstGeom prst="roundRect">
            <a:avLst>
              <a:gd name="adj" fmla="val 10526"/>
            </a:avLst>
          </a:prstGeom>
          <a:solidFill>
            <a:schemeClr val="bg2"/>
          </a:solidFill>
          <a:ln w="12700">
            <a:solidFill>
              <a:srgbClr val="2A2A2A"/>
            </a:solidFill>
            <a:prstDash val="solid"/>
          </a:ln>
        </p:spPr>
      </p:sp>
      <p:pic>
        <p:nvPicPr>
          <p:cNvPr id="33" name="Image 6" descr="preencoded.png">    </p:cNvPr>
          <p:cNvPicPr>
            <a:picLocks noChangeAspect="1"/>
          </p:cNvPicPr>
          <p:nvPr/>
        </p:nvPicPr>
        <p:blipFill>
          <a:blip r:embed="rId7"/>
          <a:stretch>
            <a:fillRect/>
          </a:stretch>
        </p:blipFill>
        <p:spPr>
          <a:xfrm>
            <a:off x="4480560" y="4960620"/>
            <a:ext cx="365760" cy="365760"/>
          </a:xfrm>
          <a:prstGeom prst="rect">
            <a:avLst/>
          </a:prstGeom>
        </p:spPr>
      </p:pic>
      <p:sp>
        <p:nvSpPr>
          <p:cNvPr id="34" name="Text 25"/>
          <p:cNvSpPr txBox="1"/>
          <p:nvPr/>
        </p:nvSpPr>
        <p:spPr>
          <a:xfrm>
            <a:off x="4956048" y="4709160"/>
            <a:ext cx="2743200" cy="868680"/>
          </a:xfrm>
          <a:prstGeom prst="rect">
            <a:avLst/>
          </a:prstGeom>
          <a:noFill/>
          <a:ln/>
        </p:spPr>
        <p:txBody>
          <a:bodyPr wrap="square" lIns="0" tIns="0" rIns="0" bIns="0" rtlCol="0" anchor="ctr"/>
          <a:lstStyle/>
          <a:p>
            <a:pPr indent="0" marL="0">
              <a:buNone/>
            </a:pPr>
            <a:r>
              <a:rPr lang="en-US" sz="1500" b="1" dirty="0">
                <a:solidFill>
                  <a:schemeClr val="tx1"/>
                </a:solidFill>
              </a:rPr>
              <a:t>Jev (TypeSafe AI)</a:t>
            </a:r>
            <a:endParaRPr lang="en-US" sz="1400" dirty="0"/>
          </a:p>
          <a:p>
            <a:pPr indent="0" marL="0">
              <a:buNone/>
            </a:pPr>
            <a:r>
              <a:rPr lang="en-US" sz="1100" dirty="0">
                <a:solidFill>
                  <a:schemeClr val="tx2"/>
                </a:solidFill>
              </a:rPr>
              <a:t>Motor de decisión</a:t>
            </a:r>
            <a:endParaRPr lang="en-US" sz="1400" dirty="0"/>
          </a:p>
        </p:txBody>
      </p:sp>
      <p:sp>
        <p:nvSpPr>
          <p:cNvPr id="35" name="Shape 26"/>
          <p:cNvSpPr/>
          <p:nvPr/>
        </p:nvSpPr>
        <p:spPr>
          <a:xfrm>
            <a:off x="8046720" y="4709160"/>
            <a:ext cx="3520440" cy="868680"/>
          </a:xfrm>
          <a:prstGeom prst="roundRect">
            <a:avLst>
              <a:gd name="adj" fmla="val 10526"/>
            </a:avLst>
          </a:prstGeom>
          <a:solidFill>
            <a:schemeClr val="bg2"/>
          </a:solidFill>
          <a:ln w="12700">
            <a:solidFill>
              <a:srgbClr val="2A2A2A"/>
            </a:solidFill>
            <a:prstDash val="solid"/>
          </a:ln>
        </p:spPr>
      </p:sp>
      <p:pic>
        <p:nvPicPr>
          <p:cNvPr id="36" name="Image 7" descr="preencoded.png">    </p:cNvPr>
          <p:cNvPicPr>
            <a:picLocks noChangeAspect="1"/>
          </p:cNvPicPr>
          <p:nvPr/>
        </p:nvPicPr>
        <p:blipFill>
          <a:blip r:embed="rId8"/>
          <a:stretch>
            <a:fillRect/>
          </a:stretch>
        </p:blipFill>
        <p:spPr>
          <a:xfrm>
            <a:off x="8229600" y="4960620"/>
            <a:ext cx="365760" cy="365760"/>
          </a:xfrm>
          <a:prstGeom prst="rect">
            <a:avLst/>
          </a:prstGeom>
        </p:spPr>
      </p:pic>
      <p:sp>
        <p:nvSpPr>
          <p:cNvPr id="37" name="Text 27"/>
          <p:cNvSpPr txBox="1"/>
          <p:nvPr/>
        </p:nvSpPr>
        <p:spPr>
          <a:xfrm>
            <a:off x="8705088" y="4709160"/>
            <a:ext cx="2743200" cy="868680"/>
          </a:xfrm>
          <a:prstGeom prst="rect">
            <a:avLst/>
          </a:prstGeom>
          <a:noFill/>
          <a:ln/>
        </p:spPr>
        <p:txBody>
          <a:bodyPr wrap="square" lIns="0" tIns="0" rIns="0" bIns="0" rtlCol="0" anchor="ctr"/>
          <a:lstStyle/>
          <a:p>
            <a:pPr indent="0" marL="0">
              <a:buNone/>
            </a:pPr>
            <a:r>
              <a:rPr lang="en-US" sz="1500" b="1" dirty="0">
                <a:solidFill>
                  <a:schemeClr val="tx1"/>
                </a:solidFill>
              </a:rPr>
              <a:t>Upstash Redis</a:t>
            </a:r>
            <a:endParaRPr lang="en-US" sz="1400" dirty="0"/>
          </a:p>
          <a:p>
            <a:pPr indent="0" marL="0">
              <a:buNone/>
            </a:pPr>
            <a:r>
              <a:rPr lang="en-US" sz="1100" dirty="0">
                <a:solidFill>
                  <a:schemeClr val="tx2"/>
                </a:solidFill>
              </a:rPr>
              <a:t>Caché y cuotas (opcional)</a:t>
            </a:r>
            <a:endParaRPr lang="en-US" sz="1400" dirty="0"/>
          </a:p>
        </p:txBody>
      </p:sp>
      <p:sp>
        <p:nvSpPr>
          <p:cNvPr id="38" name="Text 28"/>
          <p:cNvSpPr txBox="1"/>
          <p:nvPr/>
        </p:nvSpPr>
        <p:spPr>
          <a:xfrm>
            <a:off x="548640" y="5760720"/>
            <a:ext cx="10972800" cy="320040"/>
          </a:xfrm>
          <a:prstGeom prst="rect">
            <a:avLst/>
          </a:prstGeom>
          <a:noFill/>
          <a:ln/>
        </p:spPr>
        <p:txBody>
          <a:bodyPr wrap="square" lIns="0" tIns="0" rIns="0" bIns="0" rtlCol="0" anchor="t"/>
          <a:lstStyle/>
          <a:p>
            <a:pPr indent="0" marL="0">
              <a:buNone/>
            </a:pPr>
            <a:r>
              <a:rPr lang="en-US" sz="1300" i="1" dirty="0">
                <a:solidFill>
                  <a:schemeClr val="tx2"/>
                </a:solidFill>
              </a:rPr>
              <a:t>Solo el gateway es público; los servicios internos rechazan cualquier llamada sin el token interno.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Los tres microservicios: dónde están y qué hacen</a:t>
            </a:r>
            <a:endParaRPr lang="en-US" sz="3200" dirty="0"/>
          </a:p>
        </p:txBody>
      </p:sp>
      <p:sp>
        <p:nvSpPr>
          <p:cNvPr id="3" name="Shape 1"/>
          <p:cNvSpPr/>
          <p:nvPr/>
        </p:nvSpPr>
        <p:spPr>
          <a:xfrm>
            <a:off x="548640" y="1325880"/>
            <a:ext cx="3538728" cy="4800600"/>
          </a:xfrm>
          <a:prstGeom prst="roundRect">
            <a:avLst>
              <a:gd name="adj" fmla="val 3101"/>
            </a:avLst>
          </a:prstGeom>
          <a:solidFill>
            <a:schemeClr val="bg2"/>
          </a:solidFill>
          <a:ln w="12700">
            <a:solidFill>
              <a:srgbClr val="2A2A2A"/>
            </a:solidFill>
            <a:prstDash val="solid"/>
          </a:ln>
        </p:spPr>
      </p:sp>
      <p:sp>
        <p:nvSpPr>
          <p:cNvPr id="4" name="Shape 2"/>
          <p:cNvSpPr/>
          <p:nvPr/>
        </p:nvSpPr>
        <p:spPr>
          <a:xfrm>
            <a:off x="822960" y="1600200"/>
            <a:ext cx="640080" cy="640080"/>
          </a:xfrm>
          <a:prstGeom prst="ellipse">
            <a:avLst/>
          </a:prstGeom>
          <a:solidFill>
            <a:schemeClr val="accent6"/>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822960" y="2377440"/>
            <a:ext cx="3017520" cy="411480"/>
          </a:xfrm>
          <a:prstGeom prst="rect">
            <a:avLst/>
          </a:prstGeom>
          <a:noFill/>
          <a:ln/>
        </p:spPr>
        <p:txBody>
          <a:bodyPr wrap="square" lIns="0" tIns="0" rIns="0" bIns="0" rtlCol="0" anchor="t"/>
          <a:lstStyle/>
          <a:p>
            <a:pPr indent="0" marL="0">
              <a:buNone/>
            </a:pPr>
            <a:r>
              <a:rPr lang="en-US" sz="2000" b="1" dirty="0">
                <a:solidFill>
                  <a:schemeClr val="tx1"/>
                </a:solidFill>
              </a:rPr>
              <a:t>API Gateway</a:t>
            </a:r>
            <a:endParaRPr lang="en-US" sz="2000" dirty="0"/>
          </a:p>
        </p:txBody>
      </p:sp>
      <p:sp>
        <p:nvSpPr>
          <p:cNvPr id="7" name="Text 4"/>
          <p:cNvSpPr txBox="1"/>
          <p:nvPr/>
        </p:nvSpPr>
        <p:spPr>
          <a:xfrm>
            <a:off x="822960" y="2788920"/>
            <a:ext cx="3108960" cy="3200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services/gateway · puerto 4000</a:t>
            </a:r>
            <a:endParaRPr lang="en-US" sz="1100" dirty="0"/>
          </a:p>
        </p:txBody>
      </p:sp>
      <p:sp>
        <p:nvSpPr>
          <p:cNvPr id="8" name="Text 5"/>
          <p:cNvSpPr txBox="1"/>
          <p:nvPr/>
        </p:nvSpPr>
        <p:spPr>
          <a:xfrm>
            <a:off x="822960" y="3246120"/>
            <a:ext cx="3063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Único punto de entrada público</a:t>
            </a:r>
            <a:endParaRPr lang="en-US" sz="1400" dirty="0"/>
          </a:p>
          <a:p>
            <a:pPr marL="342900" indent="-342900">
              <a:spcAft>
                <a:spcPts val="600"/>
              </a:spcAft>
              <a:buSzPct val="100000"/>
              <a:buChar char="•"/>
            </a:pPr>
            <a:r>
              <a:rPr lang="en-US" sz="1400" dirty="0">
                <a:solidFill>
                  <a:schemeClr val="tx2"/>
                </a:solidFill>
              </a:rPr>
              <a:t>Verifica el JWT de Supabase</a:t>
            </a:r>
            <a:endParaRPr lang="en-US" sz="1400" dirty="0"/>
          </a:p>
          <a:p>
            <a:pPr marL="342900" indent="-342900">
              <a:spcAft>
                <a:spcPts val="600"/>
              </a:spcAft>
              <a:buSzPct val="100000"/>
              <a:buChar char="•"/>
            </a:pPr>
            <a:r>
              <a:rPr lang="en-US" sz="1400" dirty="0">
                <a:solidFill>
                  <a:schemeClr val="tx2"/>
                </a:solidFill>
              </a:rPr>
              <a:t>Controla la cuota diaria de análisis</a:t>
            </a:r>
            <a:endParaRPr lang="en-US" sz="1400" dirty="0"/>
          </a:p>
          <a:p>
            <a:pPr marL="342900" indent="-342900">
              <a:spcAft>
                <a:spcPts val="600"/>
              </a:spcAft>
              <a:buSzPct val="100000"/>
              <a:buChar char="•"/>
            </a:pPr>
            <a:r>
              <a:rPr lang="en-US" sz="1400" dirty="0">
                <a:solidFill>
                  <a:schemeClr val="tx2"/>
                </a:solidFill>
              </a:rPr>
              <a:t>Orquesta: pide el análisis y, con sesión, lo guarda</a:t>
            </a:r>
            <a:endParaRPr lang="en-US" sz="1400" dirty="0"/>
          </a:p>
          <a:p>
            <a:pPr marL="342900" indent="-342900">
              <a:spcAft>
                <a:spcPts val="600"/>
              </a:spcAft>
              <a:buSzPct val="100000"/>
              <a:buChar char="•"/>
            </a:pPr>
            <a:r>
              <a:rPr lang="en-US" sz="1400" dirty="0">
                <a:solidFill>
                  <a:schemeClr val="tx2"/>
                </a:solidFill>
              </a:rPr>
              <a:t>Errores uniformes: { error }</a:t>
            </a:r>
            <a:endParaRPr lang="en-US" sz="1400" dirty="0"/>
          </a:p>
        </p:txBody>
      </p:sp>
      <p:sp>
        <p:nvSpPr>
          <p:cNvPr id="9" name="Shape 6"/>
          <p:cNvSpPr/>
          <p:nvPr/>
        </p:nvSpPr>
        <p:spPr>
          <a:xfrm>
            <a:off x="4315968" y="1325880"/>
            <a:ext cx="3538728" cy="4800600"/>
          </a:xfrm>
          <a:prstGeom prst="roundRect">
            <a:avLst>
              <a:gd name="adj" fmla="val 3101"/>
            </a:avLst>
          </a:prstGeom>
          <a:solidFill>
            <a:schemeClr val="bg2"/>
          </a:solidFill>
          <a:ln w="12700">
            <a:solidFill>
              <a:srgbClr val="2A2A2A"/>
            </a:solidFill>
            <a:prstDash val="solid"/>
          </a:ln>
        </p:spPr>
      </p:sp>
      <p:sp>
        <p:nvSpPr>
          <p:cNvPr id="10" name="Shape 7"/>
          <p:cNvSpPr/>
          <p:nvPr/>
        </p:nvSpPr>
        <p:spPr>
          <a:xfrm>
            <a:off x="4590288" y="1600200"/>
            <a:ext cx="640080" cy="640080"/>
          </a:xfrm>
          <a:prstGeom prst="ellipse">
            <a:avLst/>
          </a:prstGeom>
          <a:solidFill>
            <a:schemeClr val="accent6"/>
          </a:solidFill>
          <a:ln w="12700">
            <a:solidFill>
              <a:srgbClr val="2A2A2A"/>
            </a:solidFill>
            <a:prstDash val="solid"/>
          </a:ln>
        </p:spPr>
      </p:sp>
      <p:pic>
        <p:nvPicPr>
          <p:cNvPr id="11" name="Image 1" descr="preencoded.png">    </p:cNvPr>
          <p:cNvPicPr>
            <a:picLocks noChangeAspect="1"/>
          </p:cNvPicPr>
          <p:nvPr/>
        </p:nvPicPr>
        <p:blipFill>
          <a:blip r:embed="rId2"/>
          <a:stretch>
            <a:fillRect/>
          </a:stretch>
        </p:blipFill>
        <p:spPr>
          <a:xfrm>
            <a:off x="4743907" y="1753819"/>
            <a:ext cx="332842" cy="332842"/>
          </a:xfrm>
          <a:prstGeom prst="rect">
            <a:avLst/>
          </a:prstGeom>
        </p:spPr>
      </p:pic>
      <p:sp>
        <p:nvSpPr>
          <p:cNvPr id="12" name="Text 8"/>
          <p:cNvSpPr txBox="1"/>
          <p:nvPr/>
        </p:nvSpPr>
        <p:spPr>
          <a:xfrm>
            <a:off x="4590288" y="2377440"/>
            <a:ext cx="3017520" cy="411480"/>
          </a:xfrm>
          <a:prstGeom prst="rect">
            <a:avLst/>
          </a:prstGeom>
          <a:noFill/>
          <a:ln/>
        </p:spPr>
        <p:txBody>
          <a:bodyPr wrap="square" lIns="0" tIns="0" rIns="0" bIns="0" rtlCol="0" anchor="t"/>
          <a:lstStyle/>
          <a:p>
            <a:pPr indent="0" marL="0">
              <a:buNone/>
            </a:pPr>
            <a:r>
              <a:rPr lang="en-US" sz="2000" b="1" dirty="0">
                <a:solidFill>
                  <a:schemeClr val="tx1"/>
                </a:solidFill>
              </a:rPr>
              <a:t>analysis-service</a:t>
            </a:r>
            <a:endParaRPr lang="en-US" sz="2000" dirty="0"/>
          </a:p>
        </p:txBody>
      </p:sp>
      <p:sp>
        <p:nvSpPr>
          <p:cNvPr id="13" name="Text 9"/>
          <p:cNvSpPr txBox="1"/>
          <p:nvPr/>
        </p:nvSpPr>
        <p:spPr>
          <a:xfrm>
            <a:off x="4590288" y="2788920"/>
            <a:ext cx="3108960" cy="3200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services/analysis-service · puerto 4001</a:t>
            </a:r>
            <a:endParaRPr lang="en-US" sz="1100" dirty="0"/>
          </a:p>
        </p:txBody>
      </p:sp>
      <p:sp>
        <p:nvSpPr>
          <p:cNvPr id="14" name="Text 10"/>
          <p:cNvSpPr txBox="1"/>
          <p:nvPr/>
        </p:nvSpPr>
        <p:spPr>
          <a:xfrm>
            <a:off x="4590288" y="3246120"/>
            <a:ext cx="3063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Extrae evidencias: dominios, enlaces, urgencia</a:t>
            </a:r>
            <a:endParaRPr lang="en-US" sz="1400" dirty="0"/>
          </a:p>
          <a:p>
            <a:pPr marL="342900" indent="-342900">
              <a:spcAft>
                <a:spcPts val="600"/>
              </a:spcAft>
              <a:buSzPct val="100000"/>
              <a:buChar char="•"/>
            </a:pPr>
            <a:r>
              <a:rPr lang="en-US" sz="1400" dirty="0">
                <a:solidFill>
                  <a:schemeClr val="tx2"/>
                </a:solidFill>
              </a:rPr>
              <a:t>Motor de decisión: Jev, un LLM o reglas locales</a:t>
            </a:r>
            <a:endParaRPr lang="en-US" sz="1400" dirty="0"/>
          </a:p>
          <a:p>
            <a:pPr marL="342900" indent="-342900">
              <a:spcAft>
                <a:spcPts val="600"/>
              </a:spcAft>
              <a:buSzPct val="100000"/>
              <a:buChar char="•"/>
            </a:pPr>
            <a:r>
              <a:rPr lang="en-US" sz="1400" dirty="0">
                <a:solidFill>
                  <a:schemeClr val="tx2"/>
                </a:solidFill>
              </a:rPr>
              <a:t>Mezcla 70 % modelo + 30 % reglas</a:t>
            </a:r>
            <a:endParaRPr lang="en-US" sz="1400" dirty="0"/>
          </a:p>
          <a:p>
            <a:pPr marL="342900" indent="-342900">
              <a:spcAft>
                <a:spcPts val="600"/>
              </a:spcAft>
              <a:buSzPct val="100000"/>
              <a:buChar char="•"/>
            </a:pPr>
            <a:r>
              <a:rPr lang="en-US" sz="1400" dirty="0">
                <a:solidFill>
                  <a:schemeClr val="tx2"/>
                </a:solidFill>
              </a:rPr>
              <a:t>Caché por huella SHA-256 del correo</a:t>
            </a:r>
            <a:endParaRPr lang="en-US" sz="1400" dirty="0"/>
          </a:p>
          <a:p>
            <a:pPr marL="342900" indent="-342900">
              <a:spcAft>
                <a:spcPts val="600"/>
              </a:spcAft>
              <a:buSzPct val="100000"/>
              <a:buChar char="•"/>
            </a:pPr>
            <a:r>
              <a:rPr lang="en-US" sz="1400" dirty="0">
                <a:solidFill>
                  <a:schemeClr val="tx2"/>
                </a:solidFill>
              </a:rPr>
              <a:t>Si la IA falla, responde con reglas</a:t>
            </a:r>
            <a:endParaRPr lang="en-US" sz="1400" dirty="0"/>
          </a:p>
        </p:txBody>
      </p:sp>
      <p:sp>
        <p:nvSpPr>
          <p:cNvPr id="15" name="Shape 11"/>
          <p:cNvSpPr/>
          <p:nvPr/>
        </p:nvSpPr>
        <p:spPr>
          <a:xfrm>
            <a:off x="8083296" y="1325880"/>
            <a:ext cx="3538728" cy="4800600"/>
          </a:xfrm>
          <a:prstGeom prst="roundRect">
            <a:avLst>
              <a:gd name="adj" fmla="val 3101"/>
            </a:avLst>
          </a:prstGeom>
          <a:solidFill>
            <a:schemeClr val="bg2"/>
          </a:solidFill>
          <a:ln w="12700">
            <a:solidFill>
              <a:srgbClr val="2A2A2A"/>
            </a:solidFill>
            <a:prstDash val="solid"/>
          </a:ln>
        </p:spPr>
      </p:sp>
      <p:sp>
        <p:nvSpPr>
          <p:cNvPr id="16" name="Shape 12"/>
          <p:cNvSpPr/>
          <p:nvPr/>
        </p:nvSpPr>
        <p:spPr>
          <a:xfrm>
            <a:off x="8357616" y="1600200"/>
            <a:ext cx="640080" cy="640080"/>
          </a:xfrm>
          <a:prstGeom prst="ellipse">
            <a:avLst/>
          </a:prstGeom>
          <a:solidFill>
            <a:schemeClr val="accent6"/>
          </a:solidFill>
          <a:ln w="12700">
            <a:solidFill>
              <a:srgbClr val="2A2A2A"/>
            </a:solidFill>
            <a:prstDash val="solid"/>
          </a:ln>
        </p:spPr>
      </p:sp>
      <p:pic>
        <p:nvPicPr>
          <p:cNvPr id="17" name="Image 2" descr="preencoded.png">    </p:cNvPr>
          <p:cNvPicPr>
            <a:picLocks noChangeAspect="1"/>
          </p:cNvPicPr>
          <p:nvPr/>
        </p:nvPicPr>
        <p:blipFill>
          <a:blip r:embed="rId3"/>
          <a:stretch>
            <a:fillRect/>
          </a:stretch>
        </p:blipFill>
        <p:spPr>
          <a:xfrm>
            <a:off x="8511235" y="1753819"/>
            <a:ext cx="332842" cy="332842"/>
          </a:xfrm>
          <a:prstGeom prst="rect">
            <a:avLst/>
          </a:prstGeom>
        </p:spPr>
      </p:pic>
      <p:sp>
        <p:nvSpPr>
          <p:cNvPr id="18" name="Text 13"/>
          <p:cNvSpPr txBox="1"/>
          <p:nvPr/>
        </p:nvSpPr>
        <p:spPr>
          <a:xfrm>
            <a:off x="8357616" y="2377440"/>
            <a:ext cx="3017520" cy="411480"/>
          </a:xfrm>
          <a:prstGeom prst="rect">
            <a:avLst/>
          </a:prstGeom>
          <a:noFill/>
          <a:ln/>
        </p:spPr>
        <p:txBody>
          <a:bodyPr wrap="square" lIns="0" tIns="0" rIns="0" bIns="0" rtlCol="0" anchor="t"/>
          <a:lstStyle/>
          <a:p>
            <a:pPr indent="0" marL="0">
              <a:buNone/>
            </a:pPr>
            <a:r>
              <a:rPr lang="en-US" sz="2000" b="1" dirty="0">
                <a:solidFill>
                  <a:schemeClr val="tx1"/>
                </a:solidFill>
              </a:rPr>
              <a:t>history-service</a:t>
            </a:r>
            <a:endParaRPr lang="en-US" sz="2000" dirty="0"/>
          </a:p>
        </p:txBody>
      </p:sp>
      <p:sp>
        <p:nvSpPr>
          <p:cNvPr id="19" name="Text 14"/>
          <p:cNvSpPr txBox="1"/>
          <p:nvPr/>
        </p:nvSpPr>
        <p:spPr>
          <a:xfrm>
            <a:off x="8357616" y="2788920"/>
            <a:ext cx="3108960" cy="32004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services/history-service · puerto 4002</a:t>
            </a:r>
            <a:endParaRPr lang="en-US" sz="1100" dirty="0"/>
          </a:p>
        </p:txBody>
      </p:sp>
      <p:sp>
        <p:nvSpPr>
          <p:cNvPr id="20" name="Text 15"/>
          <p:cNvSpPr txBox="1"/>
          <p:nvPr/>
        </p:nvSpPr>
        <p:spPr>
          <a:xfrm>
            <a:off x="8357616" y="3246120"/>
            <a:ext cx="30632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Guarda análisis, perfil y métricas</a:t>
            </a:r>
            <a:endParaRPr lang="en-US" sz="1400" dirty="0"/>
          </a:p>
          <a:p>
            <a:pPr marL="342900" indent="-342900">
              <a:spcAft>
                <a:spcPts val="600"/>
              </a:spcAft>
              <a:buSzPct val="100000"/>
              <a:buChar char="•"/>
            </a:pPr>
            <a:r>
              <a:rPr lang="en-US" sz="1400" dirty="0">
                <a:solidFill>
                  <a:schemeClr val="tx2"/>
                </a:solidFill>
              </a:rPr>
              <a:t>Supabase con RLS: cada quien ve lo suyo</a:t>
            </a:r>
            <a:endParaRPr lang="en-US" sz="1400" dirty="0"/>
          </a:p>
          <a:p>
            <a:pPr marL="342900" indent="-342900">
              <a:spcAft>
                <a:spcPts val="600"/>
              </a:spcAft>
              <a:buSzPct val="100000"/>
              <a:buChar char="•"/>
            </a:pPr>
            <a:r>
              <a:rPr lang="en-US" sz="1400" dirty="0">
                <a:solidFill>
                  <a:schemeClr val="tx2"/>
                </a:solidFill>
              </a:rPr>
              <a:t>No duplica: (usuario, huella) es único</a:t>
            </a:r>
            <a:endParaRPr lang="en-US" sz="1400" dirty="0"/>
          </a:p>
          <a:p>
            <a:pPr marL="342900" indent="-342900">
              <a:spcAft>
                <a:spcPts val="600"/>
              </a:spcAft>
              <a:buSzPct val="100000"/>
              <a:buChar char="•"/>
            </a:pPr>
            <a:r>
              <a:rPr lang="en-US" sz="1400" dirty="0">
                <a:solidFill>
                  <a:schemeClr val="tx2"/>
                </a:solidFill>
              </a:rPr>
              <a:t>Sincroniza análisis hechos sin conexión</a:t>
            </a:r>
            <a:endParaRPr lang="en-US" sz="1400" dirty="0"/>
          </a:p>
          <a:p>
            <a:pPr marL="342900" indent="-342900">
              <a:spcAft>
                <a:spcPts val="600"/>
              </a:spcAft>
              <a:buSzPct val="100000"/>
              <a:buChar char="•"/>
            </a:pPr>
            <a:r>
              <a:rPr lang="en-US" sz="1400" dirty="0">
                <a:solidFill>
                  <a:schemeClr val="tx2"/>
                </a:solidFill>
              </a:rPr>
              <a:t>Permite borrar todo el historial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Dónde está cada cosa en el repositorio</a:t>
            </a:r>
            <a:endParaRPr lang="en-US" sz="3200" dirty="0"/>
          </a:p>
        </p:txBody>
      </p:sp>
      <p:sp>
        <p:nvSpPr>
          <p:cNvPr id="3" name="Shape 1"/>
          <p:cNvSpPr/>
          <p:nvPr/>
        </p:nvSpPr>
        <p:spPr>
          <a:xfrm>
            <a:off x="548640" y="1325880"/>
            <a:ext cx="6035040" cy="4800600"/>
          </a:xfrm>
          <a:prstGeom prst="roundRect">
            <a:avLst>
              <a:gd name="adj" fmla="val 2286"/>
            </a:avLst>
          </a:prstGeom>
          <a:solidFill>
            <a:schemeClr val="bg2"/>
          </a:solidFill>
          <a:ln w="12700">
            <a:solidFill>
              <a:srgbClr val="2A2A2A"/>
            </a:solidFill>
            <a:prstDash val="solid"/>
          </a:ln>
        </p:spPr>
      </p:sp>
      <p:sp>
        <p:nvSpPr>
          <p:cNvPr id="4" name="Text 2"/>
          <p:cNvSpPr txBox="1"/>
          <p:nvPr/>
        </p:nvSpPr>
        <p:spPr>
          <a:xfrm>
            <a:off x="822960" y="1554480"/>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apps/extension-web</a:t>
            </a:r>
            <a:endParaRPr lang="en-US" sz="1300" dirty="0"/>
          </a:p>
        </p:txBody>
      </p:sp>
      <p:sp>
        <p:nvSpPr>
          <p:cNvPr id="5" name="Text 3"/>
          <p:cNvSpPr txBox="1"/>
          <p:nvPr/>
        </p:nvSpPr>
        <p:spPr>
          <a:xfrm>
            <a:off x="3977640" y="1554480"/>
            <a:ext cx="2468880" cy="365760"/>
          </a:xfrm>
          <a:prstGeom prst="rect">
            <a:avLst/>
          </a:prstGeom>
          <a:noFill/>
          <a:ln/>
        </p:spPr>
        <p:txBody>
          <a:bodyPr wrap="square" lIns="0" tIns="0" rIns="0" bIns="0" rtlCol="0" anchor="ctr"/>
          <a:lstStyle/>
          <a:p>
            <a:pPr indent="0" marL="0">
              <a:buNone/>
            </a:pPr>
            <a:r>
              <a:rPr lang="en-US" sz="1300" dirty="0">
                <a:solidFill>
                  <a:schemeClr val="tx2"/>
                </a:solidFill>
              </a:rPr>
              <a:t>Extensión de Chrome</a:t>
            </a:r>
            <a:endParaRPr lang="en-US" sz="1300" dirty="0"/>
          </a:p>
        </p:txBody>
      </p:sp>
      <p:sp>
        <p:nvSpPr>
          <p:cNvPr id="6" name="Text 4"/>
          <p:cNvSpPr txBox="1"/>
          <p:nvPr/>
        </p:nvSpPr>
        <p:spPr>
          <a:xfrm>
            <a:off x="822960" y="1993392"/>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apps/extension-dashboard</a:t>
            </a:r>
            <a:endParaRPr lang="en-US" sz="1300" dirty="0"/>
          </a:p>
        </p:txBody>
      </p:sp>
      <p:sp>
        <p:nvSpPr>
          <p:cNvPr id="7" name="Text 5"/>
          <p:cNvSpPr txBox="1"/>
          <p:nvPr/>
        </p:nvSpPr>
        <p:spPr>
          <a:xfrm>
            <a:off x="3977640" y="1993392"/>
            <a:ext cx="2468880" cy="365760"/>
          </a:xfrm>
          <a:prstGeom prst="rect">
            <a:avLst/>
          </a:prstGeom>
          <a:noFill/>
          <a:ln/>
        </p:spPr>
        <p:txBody>
          <a:bodyPr wrap="square" lIns="0" tIns="0" rIns="0" bIns="0" rtlCol="0" anchor="ctr"/>
          <a:lstStyle/>
          <a:p>
            <a:pPr indent="0" marL="0">
              <a:buNone/>
            </a:pPr>
            <a:r>
              <a:rPr lang="en-US" sz="1300" dirty="0">
                <a:solidFill>
                  <a:schemeClr val="tx2"/>
                </a:solidFill>
              </a:rPr>
              <a:t>Panel web (Next.js)</a:t>
            </a:r>
            <a:endParaRPr lang="en-US" sz="1300" dirty="0"/>
          </a:p>
        </p:txBody>
      </p:sp>
      <p:sp>
        <p:nvSpPr>
          <p:cNvPr id="8" name="Text 6"/>
          <p:cNvSpPr txBox="1"/>
          <p:nvPr/>
        </p:nvSpPr>
        <p:spPr>
          <a:xfrm>
            <a:off x="822960" y="2432304"/>
            <a:ext cx="310896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services/gateway</a:t>
            </a:r>
            <a:endParaRPr lang="en-US" sz="1300" dirty="0"/>
          </a:p>
        </p:txBody>
      </p:sp>
      <p:sp>
        <p:nvSpPr>
          <p:cNvPr id="9" name="Text 7"/>
          <p:cNvSpPr txBox="1"/>
          <p:nvPr/>
        </p:nvSpPr>
        <p:spPr>
          <a:xfrm>
            <a:off x="3977640" y="2432304"/>
            <a:ext cx="2468880" cy="365760"/>
          </a:xfrm>
          <a:prstGeom prst="rect">
            <a:avLst/>
          </a:prstGeom>
          <a:noFill/>
          <a:ln/>
        </p:spPr>
        <p:txBody>
          <a:bodyPr wrap="square" lIns="0" tIns="0" rIns="0" bIns="0" rtlCol="0" anchor="ctr"/>
          <a:lstStyle/>
          <a:p>
            <a:pPr indent="0" marL="0">
              <a:buNone/>
            </a:pPr>
            <a:r>
              <a:rPr lang="en-US" sz="1300" dirty="0">
                <a:solidFill>
                  <a:schemeClr val="tx2"/>
                </a:solidFill>
              </a:rPr>
              <a:t>API Gateway</a:t>
            </a:r>
            <a:endParaRPr lang="en-US" sz="1300" dirty="0"/>
          </a:p>
        </p:txBody>
      </p:sp>
      <p:sp>
        <p:nvSpPr>
          <p:cNvPr id="10" name="Text 8"/>
          <p:cNvSpPr txBox="1"/>
          <p:nvPr/>
        </p:nvSpPr>
        <p:spPr>
          <a:xfrm>
            <a:off x="822960" y="2871216"/>
            <a:ext cx="310896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services/analysis-service</a:t>
            </a:r>
            <a:endParaRPr lang="en-US" sz="1300" dirty="0"/>
          </a:p>
        </p:txBody>
      </p:sp>
      <p:sp>
        <p:nvSpPr>
          <p:cNvPr id="11" name="Text 9"/>
          <p:cNvSpPr txBox="1"/>
          <p:nvPr/>
        </p:nvSpPr>
        <p:spPr>
          <a:xfrm>
            <a:off x="3977640" y="2871216"/>
            <a:ext cx="2468880" cy="365760"/>
          </a:xfrm>
          <a:prstGeom prst="rect">
            <a:avLst/>
          </a:prstGeom>
          <a:noFill/>
          <a:ln/>
        </p:spPr>
        <p:txBody>
          <a:bodyPr wrap="square" lIns="0" tIns="0" rIns="0" bIns="0" rtlCol="0" anchor="ctr"/>
          <a:lstStyle/>
          <a:p>
            <a:pPr indent="0" marL="0">
              <a:buNone/>
            </a:pPr>
            <a:r>
              <a:rPr lang="en-US" sz="1300" dirty="0">
                <a:solidFill>
                  <a:schemeClr val="tx2"/>
                </a:solidFill>
              </a:rPr>
              <a:t>Análisis de phishing</a:t>
            </a:r>
            <a:endParaRPr lang="en-US" sz="1300" dirty="0"/>
          </a:p>
        </p:txBody>
      </p:sp>
      <p:sp>
        <p:nvSpPr>
          <p:cNvPr id="12" name="Text 10"/>
          <p:cNvSpPr txBox="1"/>
          <p:nvPr/>
        </p:nvSpPr>
        <p:spPr>
          <a:xfrm>
            <a:off x="822960" y="3310128"/>
            <a:ext cx="310896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services/history-service</a:t>
            </a:r>
            <a:endParaRPr lang="en-US" sz="1300" dirty="0"/>
          </a:p>
        </p:txBody>
      </p:sp>
      <p:sp>
        <p:nvSpPr>
          <p:cNvPr id="13" name="Text 11"/>
          <p:cNvSpPr txBox="1"/>
          <p:nvPr/>
        </p:nvSpPr>
        <p:spPr>
          <a:xfrm>
            <a:off x="3977640" y="3310128"/>
            <a:ext cx="2468880" cy="365760"/>
          </a:xfrm>
          <a:prstGeom prst="rect">
            <a:avLst/>
          </a:prstGeom>
          <a:noFill/>
          <a:ln/>
        </p:spPr>
        <p:txBody>
          <a:bodyPr wrap="square" lIns="0" tIns="0" rIns="0" bIns="0" rtlCol="0" anchor="ctr"/>
          <a:lstStyle/>
          <a:p>
            <a:pPr indent="0" marL="0">
              <a:buNone/>
            </a:pPr>
            <a:r>
              <a:rPr lang="en-US" sz="1300" dirty="0">
                <a:solidFill>
                  <a:schemeClr val="tx2"/>
                </a:solidFill>
              </a:rPr>
              <a:t>Historial y métricas</a:t>
            </a:r>
            <a:endParaRPr lang="en-US" sz="1300" dirty="0"/>
          </a:p>
        </p:txBody>
      </p:sp>
      <p:sp>
        <p:nvSpPr>
          <p:cNvPr id="14" name="Text 12"/>
          <p:cNvSpPr txBox="1"/>
          <p:nvPr/>
        </p:nvSpPr>
        <p:spPr>
          <a:xfrm>
            <a:off x="822960" y="3749040"/>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packages/contracts</a:t>
            </a:r>
            <a:endParaRPr lang="en-US" sz="1300" dirty="0"/>
          </a:p>
        </p:txBody>
      </p:sp>
      <p:sp>
        <p:nvSpPr>
          <p:cNvPr id="15" name="Text 13"/>
          <p:cNvSpPr txBox="1"/>
          <p:nvPr/>
        </p:nvSpPr>
        <p:spPr>
          <a:xfrm>
            <a:off x="3977640" y="3749040"/>
            <a:ext cx="2468880" cy="365760"/>
          </a:xfrm>
          <a:prstGeom prst="rect">
            <a:avLst/>
          </a:prstGeom>
          <a:noFill/>
          <a:ln/>
        </p:spPr>
        <p:txBody>
          <a:bodyPr wrap="square" lIns="0" tIns="0" rIns="0" bIns="0" rtlCol="0" anchor="ctr"/>
          <a:lstStyle/>
          <a:p>
            <a:pPr indent="0" marL="0">
              <a:buNone/>
            </a:pPr>
            <a:r>
              <a:rPr lang="en-US" sz="1300" dirty="0">
                <a:solidFill>
                  <a:schemeClr val="tx2"/>
                </a:solidFill>
              </a:rPr>
              <a:t>Contratos Zod compartidos</a:t>
            </a:r>
            <a:endParaRPr lang="en-US" sz="1300" dirty="0"/>
          </a:p>
        </p:txBody>
      </p:sp>
      <p:sp>
        <p:nvSpPr>
          <p:cNvPr id="16" name="Text 14"/>
          <p:cNvSpPr txBox="1"/>
          <p:nvPr/>
        </p:nvSpPr>
        <p:spPr>
          <a:xfrm>
            <a:off x="822960" y="4187952"/>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packages/service-kit</a:t>
            </a:r>
            <a:endParaRPr lang="en-US" sz="1300" dirty="0"/>
          </a:p>
        </p:txBody>
      </p:sp>
      <p:sp>
        <p:nvSpPr>
          <p:cNvPr id="17" name="Text 15"/>
          <p:cNvSpPr txBox="1"/>
          <p:nvPr/>
        </p:nvSpPr>
        <p:spPr>
          <a:xfrm>
            <a:off x="3977640" y="4187952"/>
            <a:ext cx="2468880" cy="365760"/>
          </a:xfrm>
          <a:prstGeom prst="rect">
            <a:avLst/>
          </a:prstGeom>
          <a:noFill/>
          <a:ln/>
        </p:spPr>
        <p:txBody>
          <a:bodyPr wrap="square" lIns="0" tIns="0" rIns="0" bIns="0" rtlCol="0" anchor="ctr"/>
          <a:lstStyle/>
          <a:p>
            <a:pPr indent="0" marL="0">
              <a:buNone/>
            </a:pPr>
            <a:r>
              <a:rPr lang="en-US" sz="1300" dirty="0">
                <a:solidFill>
                  <a:schemeClr val="tx2"/>
                </a:solidFill>
              </a:rPr>
              <a:t>Base común de los servicios</a:t>
            </a:r>
            <a:endParaRPr lang="en-US" sz="1300" dirty="0"/>
          </a:p>
        </p:txBody>
      </p:sp>
      <p:sp>
        <p:nvSpPr>
          <p:cNvPr id="18" name="Text 16"/>
          <p:cNvSpPr txBox="1"/>
          <p:nvPr/>
        </p:nvSpPr>
        <p:spPr>
          <a:xfrm>
            <a:off x="822960" y="4626864"/>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packages/ui · api-client</a:t>
            </a:r>
            <a:endParaRPr lang="en-US" sz="1300" dirty="0"/>
          </a:p>
        </p:txBody>
      </p:sp>
      <p:sp>
        <p:nvSpPr>
          <p:cNvPr id="19" name="Text 17"/>
          <p:cNvSpPr txBox="1"/>
          <p:nvPr/>
        </p:nvSpPr>
        <p:spPr>
          <a:xfrm>
            <a:off x="3977640" y="4626864"/>
            <a:ext cx="2468880" cy="365760"/>
          </a:xfrm>
          <a:prstGeom prst="rect">
            <a:avLst/>
          </a:prstGeom>
          <a:noFill/>
          <a:ln/>
        </p:spPr>
        <p:txBody>
          <a:bodyPr wrap="square" lIns="0" tIns="0" rIns="0" bIns="0" rtlCol="0" anchor="ctr"/>
          <a:lstStyle/>
          <a:p>
            <a:pPr indent="0" marL="0">
              <a:buNone/>
            </a:pPr>
            <a:r>
              <a:rPr lang="en-US" sz="1300" dirty="0">
                <a:solidFill>
                  <a:schemeClr val="tx2"/>
                </a:solidFill>
              </a:rPr>
              <a:t>Interfaz y cliente HTTP</a:t>
            </a:r>
            <a:endParaRPr lang="en-US" sz="1300" dirty="0"/>
          </a:p>
        </p:txBody>
      </p:sp>
      <p:sp>
        <p:nvSpPr>
          <p:cNvPr id="20" name="Text 18"/>
          <p:cNvSpPr txBox="1"/>
          <p:nvPr/>
        </p:nvSpPr>
        <p:spPr>
          <a:xfrm>
            <a:off x="822960" y="5065776"/>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supabase/migrations</a:t>
            </a:r>
            <a:endParaRPr lang="en-US" sz="1300" dirty="0"/>
          </a:p>
        </p:txBody>
      </p:sp>
      <p:sp>
        <p:nvSpPr>
          <p:cNvPr id="21" name="Text 19"/>
          <p:cNvSpPr txBox="1"/>
          <p:nvPr/>
        </p:nvSpPr>
        <p:spPr>
          <a:xfrm>
            <a:off x="3977640" y="5065776"/>
            <a:ext cx="2468880" cy="365760"/>
          </a:xfrm>
          <a:prstGeom prst="rect">
            <a:avLst/>
          </a:prstGeom>
          <a:noFill/>
          <a:ln/>
        </p:spPr>
        <p:txBody>
          <a:bodyPr wrap="square" lIns="0" tIns="0" rIns="0" bIns="0" rtlCol="0" anchor="ctr"/>
          <a:lstStyle/>
          <a:p>
            <a:pPr indent="0" marL="0">
              <a:buNone/>
            </a:pPr>
            <a:r>
              <a:rPr lang="en-US" sz="1300" dirty="0">
                <a:solidFill>
                  <a:schemeClr val="tx2"/>
                </a:solidFill>
              </a:rPr>
              <a:t>Esquema SQL y políticas RLS</a:t>
            </a:r>
            <a:endParaRPr lang="en-US" sz="1300" dirty="0"/>
          </a:p>
        </p:txBody>
      </p:sp>
      <p:sp>
        <p:nvSpPr>
          <p:cNvPr id="22" name="Text 20"/>
          <p:cNvSpPr txBox="1"/>
          <p:nvPr/>
        </p:nvSpPr>
        <p:spPr>
          <a:xfrm>
            <a:off x="822960" y="5504688"/>
            <a:ext cx="3108960" cy="3657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docs/</a:t>
            </a:r>
            <a:endParaRPr lang="en-US" sz="1300" dirty="0"/>
          </a:p>
        </p:txBody>
      </p:sp>
      <p:sp>
        <p:nvSpPr>
          <p:cNvPr id="23" name="Text 21"/>
          <p:cNvSpPr txBox="1"/>
          <p:nvPr/>
        </p:nvSpPr>
        <p:spPr>
          <a:xfrm>
            <a:off x="3977640" y="5504688"/>
            <a:ext cx="2468880" cy="365760"/>
          </a:xfrm>
          <a:prstGeom prst="rect">
            <a:avLst/>
          </a:prstGeom>
          <a:noFill/>
          <a:ln/>
        </p:spPr>
        <p:txBody>
          <a:bodyPr wrap="square" lIns="0" tIns="0" rIns="0" bIns="0" rtlCol="0" anchor="ctr"/>
          <a:lstStyle/>
          <a:p>
            <a:pPr indent="0" marL="0">
              <a:buNone/>
            </a:pPr>
            <a:r>
              <a:rPr lang="en-US" sz="1300" dirty="0">
                <a:solidFill>
                  <a:schemeClr val="tx2"/>
                </a:solidFill>
              </a:rPr>
              <a:t>Arquitectura, casos de uso, Postman</a:t>
            </a:r>
            <a:endParaRPr lang="en-US" sz="1300" dirty="0"/>
          </a:p>
        </p:txBody>
      </p:sp>
      <p:sp>
        <p:nvSpPr>
          <p:cNvPr id="24" name="Text 22"/>
          <p:cNvSpPr txBox="1"/>
          <p:nvPr/>
        </p:nvSpPr>
        <p:spPr>
          <a:xfrm>
            <a:off x="6903720" y="1371600"/>
            <a:ext cx="4754880" cy="365760"/>
          </a:xfrm>
          <a:prstGeom prst="rect">
            <a:avLst/>
          </a:prstGeom>
          <a:noFill/>
          <a:ln/>
        </p:spPr>
        <p:txBody>
          <a:bodyPr wrap="square" lIns="0" tIns="0" rIns="0" bIns="0" rtlCol="0" anchor="t"/>
          <a:lstStyle/>
          <a:p>
            <a:pPr indent="0" marL="0">
              <a:buNone/>
            </a:pPr>
            <a:r>
              <a:rPr lang="en-US" sz="1600" b="1" dirty="0">
                <a:solidFill>
                  <a:schemeClr val="tx1"/>
                </a:solidFill>
              </a:rPr>
              <a:t>Por dentro: arquitectura hexagonal</a:t>
            </a:r>
            <a:endParaRPr lang="en-US" sz="1600" dirty="0"/>
          </a:p>
        </p:txBody>
      </p:sp>
      <p:sp>
        <p:nvSpPr>
          <p:cNvPr id="25" name="Shape 23"/>
          <p:cNvSpPr/>
          <p:nvPr/>
        </p:nvSpPr>
        <p:spPr>
          <a:xfrm>
            <a:off x="6903720" y="1874520"/>
            <a:ext cx="4754880" cy="685800"/>
          </a:xfrm>
          <a:prstGeom prst="roundRect">
            <a:avLst>
              <a:gd name="adj" fmla="val 13333"/>
            </a:avLst>
          </a:prstGeom>
          <a:solidFill>
            <a:schemeClr val="bg2"/>
          </a:solidFill>
          <a:ln w="12700">
            <a:solidFill>
              <a:srgbClr val="2A2A2A"/>
            </a:solidFill>
            <a:prstDash val="solid"/>
          </a:ln>
        </p:spPr>
      </p:sp>
      <p:sp>
        <p:nvSpPr>
          <p:cNvPr id="26" name="Text 24"/>
          <p:cNvSpPr txBox="1"/>
          <p:nvPr/>
        </p:nvSpPr>
        <p:spPr>
          <a:xfrm>
            <a:off x="7086600" y="1874520"/>
            <a:ext cx="1965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domain/</a:t>
            </a:r>
            <a:endParaRPr lang="en-US" sz="1300" dirty="0"/>
          </a:p>
        </p:txBody>
      </p:sp>
      <p:sp>
        <p:nvSpPr>
          <p:cNvPr id="27" name="Text 25"/>
          <p:cNvSpPr txBox="1"/>
          <p:nvPr/>
        </p:nvSpPr>
        <p:spPr>
          <a:xfrm>
            <a:off x="9098280" y="1874520"/>
            <a:ext cx="2468880" cy="685800"/>
          </a:xfrm>
          <a:prstGeom prst="rect">
            <a:avLst/>
          </a:prstGeom>
          <a:noFill/>
          <a:ln/>
        </p:spPr>
        <p:txBody>
          <a:bodyPr wrap="square" lIns="0" tIns="0" rIns="0" bIns="0" rtlCol="0" anchor="ctr"/>
          <a:lstStyle/>
          <a:p>
            <a:pPr indent="0" marL="0">
              <a:buNone/>
            </a:pPr>
            <a:r>
              <a:rPr lang="en-US" sz="1300" dirty="0">
                <a:solidFill>
                  <a:schemeClr val="tx2"/>
                </a:solidFill>
              </a:rPr>
              <a:t>Reglas puras: evidencias, puntajes</a:t>
            </a:r>
            <a:endParaRPr lang="en-US" sz="1300" dirty="0"/>
          </a:p>
        </p:txBody>
      </p:sp>
      <p:sp>
        <p:nvSpPr>
          <p:cNvPr id="28" name="Shape 26"/>
          <p:cNvSpPr/>
          <p:nvPr/>
        </p:nvSpPr>
        <p:spPr>
          <a:xfrm>
            <a:off x="6903720" y="2697480"/>
            <a:ext cx="4754880" cy="685800"/>
          </a:xfrm>
          <a:prstGeom prst="roundRect">
            <a:avLst>
              <a:gd name="adj" fmla="val 13333"/>
            </a:avLst>
          </a:prstGeom>
          <a:solidFill>
            <a:schemeClr val="bg2"/>
          </a:solidFill>
          <a:ln w="12700">
            <a:solidFill>
              <a:srgbClr val="2A2A2A"/>
            </a:solidFill>
            <a:prstDash val="solid"/>
          </a:ln>
        </p:spPr>
      </p:sp>
      <p:sp>
        <p:nvSpPr>
          <p:cNvPr id="29" name="Text 27"/>
          <p:cNvSpPr txBox="1"/>
          <p:nvPr/>
        </p:nvSpPr>
        <p:spPr>
          <a:xfrm>
            <a:off x="7086600" y="2697480"/>
            <a:ext cx="1965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application/</a:t>
            </a:r>
            <a:endParaRPr lang="en-US" sz="1300" dirty="0"/>
          </a:p>
        </p:txBody>
      </p:sp>
      <p:sp>
        <p:nvSpPr>
          <p:cNvPr id="30" name="Text 28"/>
          <p:cNvSpPr txBox="1"/>
          <p:nvPr/>
        </p:nvSpPr>
        <p:spPr>
          <a:xfrm>
            <a:off x="9098280" y="2697480"/>
            <a:ext cx="2468880" cy="685800"/>
          </a:xfrm>
          <a:prstGeom prst="rect">
            <a:avLst/>
          </a:prstGeom>
          <a:noFill/>
          <a:ln/>
        </p:spPr>
        <p:txBody>
          <a:bodyPr wrap="square" lIns="0" tIns="0" rIns="0" bIns="0" rtlCol="0" anchor="ctr"/>
          <a:lstStyle/>
          <a:p>
            <a:pPr indent="0" marL="0">
              <a:buNone/>
            </a:pPr>
            <a:r>
              <a:rPr lang="en-US" sz="1300" dirty="0">
                <a:solidFill>
                  <a:schemeClr val="tx2"/>
                </a:solidFill>
              </a:rPr>
              <a:t>Casos de uso + puertos (interfaces)</a:t>
            </a:r>
            <a:endParaRPr lang="en-US" sz="1300" dirty="0"/>
          </a:p>
        </p:txBody>
      </p:sp>
      <p:sp>
        <p:nvSpPr>
          <p:cNvPr id="31" name="Shape 29"/>
          <p:cNvSpPr/>
          <p:nvPr/>
        </p:nvSpPr>
        <p:spPr>
          <a:xfrm>
            <a:off x="6903720" y="3520440"/>
            <a:ext cx="4754880" cy="685800"/>
          </a:xfrm>
          <a:prstGeom prst="roundRect">
            <a:avLst>
              <a:gd name="adj" fmla="val 13333"/>
            </a:avLst>
          </a:prstGeom>
          <a:solidFill>
            <a:schemeClr val="bg2"/>
          </a:solidFill>
          <a:ln w="12700">
            <a:solidFill>
              <a:srgbClr val="2A2A2A"/>
            </a:solidFill>
            <a:prstDash val="solid"/>
          </a:ln>
        </p:spPr>
      </p:sp>
      <p:sp>
        <p:nvSpPr>
          <p:cNvPr id="32" name="Text 30"/>
          <p:cNvSpPr txBox="1"/>
          <p:nvPr/>
        </p:nvSpPr>
        <p:spPr>
          <a:xfrm>
            <a:off x="7086600" y="3520440"/>
            <a:ext cx="1965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infrastructure/</a:t>
            </a:r>
            <a:endParaRPr lang="en-US" sz="1300" dirty="0"/>
          </a:p>
        </p:txBody>
      </p:sp>
      <p:sp>
        <p:nvSpPr>
          <p:cNvPr id="33" name="Text 31"/>
          <p:cNvSpPr txBox="1"/>
          <p:nvPr/>
        </p:nvSpPr>
        <p:spPr>
          <a:xfrm>
            <a:off x="9098280" y="3520440"/>
            <a:ext cx="2468880" cy="685800"/>
          </a:xfrm>
          <a:prstGeom prst="rect">
            <a:avLst/>
          </a:prstGeom>
          <a:noFill/>
          <a:ln/>
        </p:spPr>
        <p:txBody>
          <a:bodyPr wrap="square" lIns="0" tIns="0" rIns="0" bIns="0" rtlCol="0" anchor="ctr"/>
          <a:lstStyle/>
          <a:p>
            <a:pPr indent="0" marL="0">
              <a:buNone/>
            </a:pPr>
            <a:r>
              <a:rPr lang="en-US" sz="1300" dirty="0">
                <a:solidFill>
                  <a:schemeClr val="tx2"/>
                </a:solidFill>
              </a:rPr>
              <a:t>Adaptadores: Jev, Redis, Supabase</a:t>
            </a:r>
            <a:endParaRPr lang="en-US" sz="1300" dirty="0"/>
          </a:p>
        </p:txBody>
      </p:sp>
      <p:sp>
        <p:nvSpPr>
          <p:cNvPr id="34" name="Shape 32"/>
          <p:cNvSpPr/>
          <p:nvPr/>
        </p:nvSpPr>
        <p:spPr>
          <a:xfrm>
            <a:off x="6903720" y="4343400"/>
            <a:ext cx="4754880" cy="685800"/>
          </a:xfrm>
          <a:prstGeom prst="roundRect">
            <a:avLst>
              <a:gd name="adj" fmla="val 13333"/>
            </a:avLst>
          </a:prstGeom>
          <a:solidFill>
            <a:schemeClr val="bg2"/>
          </a:solidFill>
          <a:ln w="12700">
            <a:solidFill>
              <a:srgbClr val="2A2A2A"/>
            </a:solidFill>
            <a:prstDash val="solid"/>
          </a:ln>
        </p:spPr>
      </p:sp>
      <p:sp>
        <p:nvSpPr>
          <p:cNvPr id="35" name="Text 33"/>
          <p:cNvSpPr txBox="1"/>
          <p:nvPr/>
        </p:nvSpPr>
        <p:spPr>
          <a:xfrm>
            <a:off x="7086600" y="4343400"/>
            <a:ext cx="1965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http/</a:t>
            </a:r>
            <a:endParaRPr lang="en-US" sz="1300" dirty="0"/>
          </a:p>
        </p:txBody>
      </p:sp>
      <p:sp>
        <p:nvSpPr>
          <p:cNvPr id="36" name="Text 34"/>
          <p:cNvSpPr txBox="1"/>
          <p:nvPr/>
        </p:nvSpPr>
        <p:spPr>
          <a:xfrm>
            <a:off x="9098280" y="4343400"/>
            <a:ext cx="2468880" cy="685800"/>
          </a:xfrm>
          <a:prstGeom prst="rect">
            <a:avLst/>
          </a:prstGeom>
          <a:noFill/>
          <a:ln/>
        </p:spPr>
        <p:txBody>
          <a:bodyPr wrap="square" lIns="0" tIns="0" rIns="0" bIns="0" rtlCol="0" anchor="ctr"/>
          <a:lstStyle/>
          <a:p>
            <a:pPr indent="0" marL="0">
              <a:buNone/>
            </a:pPr>
            <a:r>
              <a:rPr lang="en-US" sz="1300" dirty="0">
                <a:solidFill>
                  <a:schemeClr val="tx2"/>
                </a:solidFill>
              </a:rPr>
              <a:t>Rutas Hono (sin lógica de negocio)</a:t>
            </a:r>
            <a:endParaRPr lang="en-US" sz="1300" dirty="0"/>
          </a:p>
        </p:txBody>
      </p:sp>
      <p:sp>
        <p:nvSpPr>
          <p:cNvPr id="37" name="Shape 35"/>
          <p:cNvSpPr/>
          <p:nvPr/>
        </p:nvSpPr>
        <p:spPr>
          <a:xfrm>
            <a:off x="6903720" y="5166360"/>
            <a:ext cx="4754880" cy="685800"/>
          </a:xfrm>
          <a:prstGeom prst="roundRect">
            <a:avLst>
              <a:gd name="adj" fmla="val 13333"/>
            </a:avLst>
          </a:prstGeom>
          <a:solidFill>
            <a:schemeClr val="accent6"/>
          </a:solidFill>
          <a:ln w="12700">
            <a:solidFill>
              <a:srgbClr val="C8D400"/>
            </a:solidFill>
            <a:prstDash val="solid"/>
          </a:ln>
        </p:spPr>
      </p:sp>
      <p:sp>
        <p:nvSpPr>
          <p:cNvPr id="38" name="Text 36"/>
          <p:cNvSpPr txBox="1"/>
          <p:nvPr/>
        </p:nvSpPr>
        <p:spPr>
          <a:xfrm>
            <a:off x="7086600" y="5166360"/>
            <a:ext cx="1965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test/</a:t>
            </a:r>
            <a:endParaRPr lang="en-US" sz="1300" dirty="0"/>
          </a:p>
        </p:txBody>
      </p:sp>
      <p:sp>
        <p:nvSpPr>
          <p:cNvPr id="39" name="Text 37"/>
          <p:cNvSpPr txBox="1"/>
          <p:nvPr/>
        </p:nvSpPr>
        <p:spPr>
          <a:xfrm>
            <a:off x="9098280" y="5166360"/>
            <a:ext cx="2468880" cy="685800"/>
          </a:xfrm>
          <a:prstGeom prst="rect">
            <a:avLst/>
          </a:prstGeom>
          <a:noFill/>
          <a:ln/>
        </p:spPr>
        <p:txBody>
          <a:bodyPr wrap="square" lIns="0" tIns="0" rIns="0" bIns="0" rtlCol="0" anchor="ctr"/>
          <a:lstStyle/>
          <a:p>
            <a:pPr indent="0" marL="0">
              <a:buNone/>
            </a:pPr>
            <a:r>
              <a:rPr lang="en-US" sz="1300" dirty="0">
                <a:solidFill>
                  <a:schemeClr val="tx2"/>
                </a:solidFill>
              </a:rPr>
              <a:t>unitarias · api/ · security/ · acceptance/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Recorrido de un análisis, paso a paso</a:t>
            </a:r>
            <a:endParaRPr lang="en-US" sz="3200" dirty="0"/>
          </a:p>
        </p:txBody>
      </p:sp>
      <p:sp>
        <p:nvSpPr>
          <p:cNvPr id="3" name="Shape 1"/>
          <p:cNvSpPr/>
          <p:nvPr/>
        </p:nvSpPr>
        <p:spPr>
          <a:xfrm>
            <a:off x="548640" y="1554480"/>
            <a:ext cx="1737360" cy="3657600"/>
          </a:xfrm>
          <a:prstGeom prst="roundRect">
            <a:avLst>
              <a:gd name="adj" fmla="val 6316"/>
            </a:avLst>
          </a:prstGeom>
          <a:solidFill>
            <a:schemeClr val="bg2"/>
          </a:solidFill>
          <a:ln w="12700">
            <a:solidFill>
              <a:srgbClr val="2A2A2A"/>
            </a:solidFill>
            <a:prstDash val="solid"/>
          </a:ln>
        </p:spPr>
      </p:sp>
      <p:sp>
        <p:nvSpPr>
          <p:cNvPr id="4" name="Shape 2"/>
          <p:cNvSpPr/>
          <p:nvPr/>
        </p:nvSpPr>
        <p:spPr>
          <a:xfrm>
            <a:off x="731520" y="1783080"/>
            <a:ext cx="502920" cy="502920"/>
          </a:xfrm>
          <a:prstGeom prst="ellipse">
            <a:avLst/>
          </a:prstGeom>
          <a:solidFill>
            <a:schemeClr val="accent1"/>
          </a:solidFill>
          <a:ln w="12700">
            <a:solidFill>
              <a:srgbClr val="C8D400"/>
            </a:solidFill>
            <a:prstDash val="solid"/>
          </a:ln>
        </p:spPr>
      </p:sp>
      <p:sp>
        <p:nvSpPr>
          <p:cNvPr id="5" name="Text 3"/>
          <p:cNvSpPr txBox="1"/>
          <p:nvPr/>
        </p:nvSpPr>
        <p:spPr>
          <a:xfrm>
            <a:off x="73152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pic>
        <p:nvPicPr>
          <p:cNvPr id="6" name="Image 0" descr="preencoded.png">    </p:cNvPr>
          <p:cNvPicPr>
            <a:picLocks noChangeAspect="1"/>
          </p:cNvPicPr>
          <p:nvPr/>
        </p:nvPicPr>
        <p:blipFill>
          <a:blip r:embed="rId1"/>
          <a:stretch>
            <a:fillRect/>
          </a:stretch>
        </p:blipFill>
        <p:spPr>
          <a:xfrm>
            <a:off x="1691640" y="1847088"/>
            <a:ext cx="384048" cy="384048"/>
          </a:xfrm>
          <a:prstGeom prst="rect">
            <a:avLst/>
          </a:prstGeom>
        </p:spPr>
      </p:pic>
      <p:sp>
        <p:nvSpPr>
          <p:cNvPr id="7" name="Text 4"/>
          <p:cNvSpPr txBox="1"/>
          <p:nvPr/>
        </p:nvSpPr>
        <p:spPr>
          <a:xfrm>
            <a:off x="731520" y="2560320"/>
            <a:ext cx="1417320" cy="1828800"/>
          </a:xfrm>
          <a:prstGeom prst="rect">
            <a:avLst/>
          </a:prstGeom>
          <a:noFill/>
          <a:ln/>
        </p:spPr>
        <p:txBody>
          <a:bodyPr wrap="square" lIns="0" tIns="0" rIns="0" bIns="0" rtlCol="0" anchor="t"/>
          <a:lstStyle/>
          <a:p>
            <a:pPr indent="0" marL="0">
              <a:buNone/>
            </a:pPr>
            <a:r>
              <a:rPr lang="en-US" sz="1500" dirty="0">
                <a:solidFill>
                  <a:schemeClr val="tx1"/>
                </a:solidFill>
              </a:rPr>
              <a:t>El usuario pulsa «Escanear correo»</a:t>
            </a:r>
            <a:endParaRPr lang="en-US" sz="1500" dirty="0"/>
          </a:p>
        </p:txBody>
      </p:sp>
      <p:sp>
        <p:nvSpPr>
          <p:cNvPr id="8" name="Text 5"/>
          <p:cNvSpPr txBox="1"/>
          <p:nvPr/>
        </p:nvSpPr>
        <p:spPr>
          <a:xfrm>
            <a:off x="731520" y="4663440"/>
            <a:ext cx="1417320" cy="365760"/>
          </a:xfrm>
          <a:prstGeom prst="rect">
            <a:avLst/>
          </a:prstGeom>
          <a:noFill/>
          <a:ln/>
        </p:spPr>
        <p:txBody>
          <a:bodyPr wrap="square" lIns="0" tIns="0" rIns="0" bIns="0" rtlCol="0" anchor="t"/>
          <a:lstStyle/>
          <a:p>
            <a:pPr indent="0" marL="0">
              <a:buNone/>
            </a:pPr>
            <a:r>
              <a:rPr lang="en-US" sz="1100" b="1" dirty="0">
                <a:solidFill>
                  <a:schemeClr val="accent1"/>
                </a:solidFill>
              </a:rPr>
              <a:t>Extensión</a:t>
            </a:r>
            <a:endParaRPr lang="en-US" sz="1100" dirty="0"/>
          </a:p>
        </p:txBody>
      </p:sp>
      <p:sp>
        <p:nvSpPr>
          <p:cNvPr id="9" name="Shape 6"/>
          <p:cNvSpPr/>
          <p:nvPr/>
        </p:nvSpPr>
        <p:spPr>
          <a:xfrm>
            <a:off x="2441448" y="1554480"/>
            <a:ext cx="1737360" cy="3657600"/>
          </a:xfrm>
          <a:prstGeom prst="roundRect">
            <a:avLst>
              <a:gd name="adj" fmla="val 6316"/>
            </a:avLst>
          </a:prstGeom>
          <a:solidFill>
            <a:schemeClr val="bg2"/>
          </a:solidFill>
          <a:ln w="12700">
            <a:solidFill>
              <a:srgbClr val="2A2A2A"/>
            </a:solidFill>
            <a:prstDash val="solid"/>
          </a:ln>
        </p:spPr>
      </p:sp>
      <p:sp>
        <p:nvSpPr>
          <p:cNvPr id="10" name="Shape 7"/>
          <p:cNvSpPr/>
          <p:nvPr/>
        </p:nvSpPr>
        <p:spPr>
          <a:xfrm>
            <a:off x="2624328" y="1783080"/>
            <a:ext cx="502920" cy="502920"/>
          </a:xfrm>
          <a:prstGeom prst="ellipse">
            <a:avLst/>
          </a:prstGeom>
          <a:solidFill>
            <a:schemeClr val="accent1"/>
          </a:solidFill>
          <a:ln w="12700">
            <a:solidFill>
              <a:srgbClr val="C8D400"/>
            </a:solidFill>
            <a:prstDash val="solid"/>
          </a:ln>
        </p:spPr>
      </p:sp>
      <p:sp>
        <p:nvSpPr>
          <p:cNvPr id="11" name="Text 8"/>
          <p:cNvSpPr txBox="1"/>
          <p:nvPr/>
        </p:nvSpPr>
        <p:spPr>
          <a:xfrm>
            <a:off x="2624328"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pic>
        <p:nvPicPr>
          <p:cNvPr id="12" name="Image 1" descr="preencoded.png">    </p:cNvPr>
          <p:cNvPicPr>
            <a:picLocks noChangeAspect="1"/>
          </p:cNvPicPr>
          <p:nvPr/>
        </p:nvPicPr>
        <p:blipFill>
          <a:blip r:embed="rId2"/>
          <a:stretch>
            <a:fillRect/>
          </a:stretch>
        </p:blipFill>
        <p:spPr>
          <a:xfrm>
            <a:off x="3584448" y="1847088"/>
            <a:ext cx="384048" cy="384048"/>
          </a:xfrm>
          <a:prstGeom prst="rect">
            <a:avLst/>
          </a:prstGeom>
        </p:spPr>
      </p:pic>
      <p:sp>
        <p:nvSpPr>
          <p:cNvPr id="13" name="Text 9"/>
          <p:cNvSpPr txBox="1"/>
          <p:nvPr/>
        </p:nvSpPr>
        <p:spPr>
          <a:xfrm>
            <a:off x="2624328" y="2560320"/>
            <a:ext cx="1417320" cy="1828800"/>
          </a:xfrm>
          <a:prstGeom prst="rect">
            <a:avLst/>
          </a:prstGeom>
          <a:noFill/>
          <a:ln/>
        </p:spPr>
        <p:txBody>
          <a:bodyPr wrap="square" lIns="0" tIns="0" rIns="0" bIns="0" rtlCol="0" anchor="t"/>
          <a:lstStyle/>
          <a:p>
            <a:pPr indent="0" marL="0">
              <a:buNone/>
            </a:pPr>
            <a:r>
              <a:rPr lang="en-US" sz="1500" dirty="0">
                <a:solidFill>
                  <a:schemeClr val="tx1"/>
                </a:solidFill>
              </a:rPr>
              <a:t>La extensión lee remitente, asunto, texto y enlaces</a:t>
            </a:r>
            <a:endParaRPr lang="en-US" sz="1500" dirty="0"/>
          </a:p>
        </p:txBody>
      </p:sp>
      <p:sp>
        <p:nvSpPr>
          <p:cNvPr id="14" name="Text 10"/>
          <p:cNvSpPr txBox="1"/>
          <p:nvPr/>
        </p:nvSpPr>
        <p:spPr>
          <a:xfrm>
            <a:off x="2624328" y="4663440"/>
            <a:ext cx="1417320" cy="365760"/>
          </a:xfrm>
          <a:prstGeom prst="rect">
            <a:avLst/>
          </a:prstGeom>
          <a:noFill/>
          <a:ln/>
        </p:spPr>
        <p:txBody>
          <a:bodyPr wrap="square" lIns="0" tIns="0" rIns="0" bIns="0" rtlCol="0" anchor="t"/>
          <a:lstStyle/>
          <a:p>
            <a:pPr indent="0" marL="0">
              <a:buNone/>
            </a:pPr>
            <a:r>
              <a:rPr lang="en-US" sz="1100" b="1" dirty="0">
                <a:solidFill>
                  <a:schemeClr val="accent1"/>
                </a:solidFill>
              </a:rPr>
              <a:t>Extensión</a:t>
            </a:r>
            <a:endParaRPr lang="en-US" sz="1100" dirty="0"/>
          </a:p>
        </p:txBody>
      </p:sp>
      <p:sp>
        <p:nvSpPr>
          <p:cNvPr id="15" name="Shape 11"/>
          <p:cNvSpPr/>
          <p:nvPr/>
        </p:nvSpPr>
        <p:spPr>
          <a:xfrm>
            <a:off x="4334256" y="1554480"/>
            <a:ext cx="1737360" cy="3657600"/>
          </a:xfrm>
          <a:prstGeom prst="roundRect">
            <a:avLst>
              <a:gd name="adj" fmla="val 6316"/>
            </a:avLst>
          </a:prstGeom>
          <a:solidFill>
            <a:schemeClr val="bg2"/>
          </a:solidFill>
          <a:ln w="12700">
            <a:solidFill>
              <a:srgbClr val="2A2A2A"/>
            </a:solidFill>
            <a:prstDash val="solid"/>
          </a:ln>
        </p:spPr>
      </p:sp>
      <p:sp>
        <p:nvSpPr>
          <p:cNvPr id="16" name="Shape 12"/>
          <p:cNvSpPr/>
          <p:nvPr/>
        </p:nvSpPr>
        <p:spPr>
          <a:xfrm>
            <a:off x="4517136" y="1783080"/>
            <a:ext cx="502920" cy="502920"/>
          </a:xfrm>
          <a:prstGeom prst="ellipse">
            <a:avLst/>
          </a:prstGeom>
          <a:solidFill>
            <a:schemeClr val="accent1"/>
          </a:solidFill>
          <a:ln w="12700">
            <a:solidFill>
              <a:srgbClr val="C8D400"/>
            </a:solidFill>
            <a:prstDash val="solid"/>
          </a:ln>
        </p:spPr>
      </p:sp>
      <p:sp>
        <p:nvSpPr>
          <p:cNvPr id="17" name="Text 13"/>
          <p:cNvSpPr txBox="1"/>
          <p:nvPr/>
        </p:nvSpPr>
        <p:spPr>
          <a:xfrm>
            <a:off x="4517136"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pic>
        <p:nvPicPr>
          <p:cNvPr id="18" name="Image 2" descr="preencoded.png">    </p:cNvPr>
          <p:cNvPicPr>
            <a:picLocks noChangeAspect="1"/>
          </p:cNvPicPr>
          <p:nvPr/>
        </p:nvPicPr>
        <p:blipFill>
          <a:blip r:embed="rId3"/>
          <a:stretch>
            <a:fillRect/>
          </a:stretch>
        </p:blipFill>
        <p:spPr>
          <a:xfrm>
            <a:off x="5477256" y="1847088"/>
            <a:ext cx="384048" cy="384048"/>
          </a:xfrm>
          <a:prstGeom prst="rect">
            <a:avLst/>
          </a:prstGeom>
        </p:spPr>
      </p:pic>
      <p:sp>
        <p:nvSpPr>
          <p:cNvPr id="19" name="Text 14"/>
          <p:cNvSpPr txBox="1"/>
          <p:nvPr/>
        </p:nvSpPr>
        <p:spPr>
          <a:xfrm>
            <a:off x="4517136" y="2560320"/>
            <a:ext cx="1417320" cy="1828800"/>
          </a:xfrm>
          <a:prstGeom prst="rect">
            <a:avLst/>
          </a:prstGeom>
          <a:noFill/>
          <a:ln/>
        </p:spPr>
        <p:txBody>
          <a:bodyPr wrap="square" lIns="0" tIns="0" rIns="0" bIns="0" rtlCol="0" anchor="t"/>
          <a:lstStyle/>
          <a:p>
            <a:pPr indent="0" marL="0">
              <a:buNone/>
            </a:pPr>
            <a:r>
              <a:rPr lang="en-US" sz="1500" dirty="0">
                <a:solidFill>
                  <a:schemeClr val="tx1"/>
                </a:solidFill>
              </a:rPr>
              <a:t>El gateway verifica el JWT y la cuota diaria</a:t>
            </a:r>
            <a:endParaRPr lang="en-US" sz="1500" dirty="0"/>
          </a:p>
        </p:txBody>
      </p:sp>
      <p:sp>
        <p:nvSpPr>
          <p:cNvPr id="20" name="Text 15"/>
          <p:cNvSpPr txBox="1"/>
          <p:nvPr/>
        </p:nvSpPr>
        <p:spPr>
          <a:xfrm>
            <a:off x="4517136" y="4663440"/>
            <a:ext cx="1417320" cy="365760"/>
          </a:xfrm>
          <a:prstGeom prst="rect">
            <a:avLst/>
          </a:prstGeom>
          <a:noFill/>
          <a:ln/>
        </p:spPr>
        <p:txBody>
          <a:bodyPr wrap="square" lIns="0" tIns="0" rIns="0" bIns="0" rtlCol="0" anchor="t"/>
          <a:lstStyle/>
          <a:p>
            <a:pPr indent="0" marL="0">
              <a:buNone/>
            </a:pPr>
            <a:r>
              <a:rPr lang="en-US" sz="1100" b="1" dirty="0">
                <a:solidFill>
                  <a:schemeClr val="accent1"/>
                </a:solidFill>
              </a:rPr>
              <a:t>Gateway</a:t>
            </a:r>
            <a:endParaRPr lang="en-US" sz="1100" dirty="0"/>
          </a:p>
        </p:txBody>
      </p:sp>
      <p:sp>
        <p:nvSpPr>
          <p:cNvPr id="21" name="Shape 16"/>
          <p:cNvSpPr/>
          <p:nvPr/>
        </p:nvSpPr>
        <p:spPr>
          <a:xfrm>
            <a:off x="6227064" y="1554480"/>
            <a:ext cx="1737360" cy="3657600"/>
          </a:xfrm>
          <a:prstGeom prst="roundRect">
            <a:avLst>
              <a:gd name="adj" fmla="val 6316"/>
            </a:avLst>
          </a:prstGeom>
          <a:solidFill>
            <a:schemeClr val="bg2"/>
          </a:solidFill>
          <a:ln w="12700">
            <a:solidFill>
              <a:srgbClr val="2A2A2A"/>
            </a:solidFill>
            <a:prstDash val="solid"/>
          </a:ln>
        </p:spPr>
      </p:sp>
      <p:sp>
        <p:nvSpPr>
          <p:cNvPr id="22" name="Shape 17"/>
          <p:cNvSpPr/>
          <p:nvPr/>
        </p:nvSpPr>
        <p:spPr>
          <a:xfrm>
            <a:off x="6409944" y="1783080"/>
            <a:ext cx="502920" cy="502920"/>
          </a:xfrm>
          <a:prstGeom prst="ellipse">
            <a:avLst/>
          </a:prstGeom>
          <a:solidFill>
            <a:schemeClr val="accent1"/>
          </a:solidFill>
          <a:ln w="12700">
            <a:solidFill>
              <a:srgbClr val="C8D400"/>
            </a:solidFill>
            <a:prstDash val="solid"/>
          </a:ln>
        </p:spPr>
      </p:sp>
      <p:sp>
        <p:nvSpPr>
          <p:cNvPr id="23" name="Text 18"/>
          <p:cNvSpPr txBox="1"/>
          <p:nvPr/>
        </p:nvSpPr>
        <p:spPr>
          <a:xfrm>
            <a:off x="6409944"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pic>
        <p:nvPicPr>
          <p:cNvPr id="24" name="Image 3" descr="preencoded.png">    </p:cNvPr>
          <p:cNvPicPr>
            <a:picLocks noChangeAspect="1"/>
          </p:cNvPicPr>
          <p:nvPr/>
        </p:nvPicPr>
        <p:blipFill>
          <a:blip r:embed="rId4"/>
          <a:stretch>
            <a:fillRect/>
          </a:stretch>
        </p:blipFill>
        <p:spPr>
          <a:xfrm>
            <a:off x="7370064" y="1847088"/>
            <a:ext cx="384048" cy="384048"/>
          </a:xfrm>
          <a:prstGeom prst="rect">
            <a:avLst/>
          </a:prstGeom>
        </p:spPr>
      </p:pic>
      <p:sp>
        <p:nvSpPr>
          <p:cNvPr id="25" name="Text 19"/>
          <p:cNvSpPr txBox="1"/>
          <p:nvPr/>
        </p:nvSpPr>
        <p:spPr>
          <a:xfrm>
            <a:off x="6409944" y="2560320"/>
            <a:ext cx="1417320" cy="1828800"/>
          </a:xfrm>
          <a:prstGeom prst="rect">
            <a:avLst/>
          </a:prstGeom>
          <a:noFill/>
          <a:ln/>
        </p:spPr>
        <p:txBody>
          <a:bodyPr wrap="square" lIns="0" tIns="0" rIns="0" bIns="0" rtlCol="0" anchor="t"/>
          <a:lstStyle/>
          <a:p>
            <a:pPr indent="0" marL="0">
              <a:buNone/>
            </a:pPr>
            <a:r>
              <a:rPr lang="en-US" sz="1500" dirty="0">
                <a:solidFill>
                  <a:schemeClr val="tx1"/>
                </a:solidFill>
              </a:rPr>
              <a:t>Caché → evidencias → motor de IA → veredicto</a:t>
            </a:r>
            <a:endParaRPr lang="en-US" sz="1500" dirty="0"/>
          </a:p>
        </p:txBody>
      </p:sp>
      <p:sp>
        <p:nvSpPr>
          <p:cNvPr id="26" name="Text 20"/>
          <p:cNvSpPr txBox="1"/>
          <p:nvPr/>
        </p:nvSpPr>
        <p:spPr>
          <a:xfrm>
            <a:off x="6409944" y="4663440"/>
            <a:ext cx="1417320" cy="365760"/>
          </a:xfrm>
          <a:prstGeom prst="rect">
            <a:avLst/>
          </a:prstGeom>
          <a:noFill/>
          <a:ln/>
        </p:spPr>
        <p:txBody>
          <a:bodyPr wrap="square" lIns="0" tIns="0" rIns="0" bIns="0" rtlCol="0" anchor="t"/>
          <a:lstStyle/>
          <a:p>
            <a:pPr indent="0" marL="0">
              <a:buNone/>
            </a:pPr>
            <a:r>
              <a:rPr lang="en-US" sz="1100" b="1" dirty="0">
                <a:solidFill>
                  <a:schemeClr val="accent1"/>
                </a:solidFill>
              </a:rPr>
              <a:t>analysis-service</a:t>
            </a:r>
            <a:endParaRPr lang="en-US" sz="1100" dirty="0"/>
          </a:p>
        </p:txBody>
      </p:sp>
      <p:sp>
        <p:nvSpPr>
          <p:cNvPr id="27" name="Shape 21"/>
          <p:cNvSpPr/>
          <p:nvPr/>
        </p:nvSpPr>
        <p:spPr>
          <a:xfrm>
            <a:off x="8119872" y="1554480"/>
            <a:ext cx="1737360" cy="3657600"/>
          </a:xfrm>
          <a:prstGeom prst="roundRect">
            <a:avLst>
              <a:gd name="adj" fmla="val 6316"/>
            </a:avLst>
          </a:prstGeom>
          <a:solidFill>
            <a:schemeClr val="bg2"/>
          </a:solidFill>
          <a:ln w="12700">
            <a:solidFill>
              <a:srgbClr val="2A2A2A"/>
            </a:solidFill>
            <a:prstDash val="solid"/>
          </a:ln>
        </p:spPr>
      </p:sp>
      <p:sp>
        <p:nvSpPr>
          <p:cNvPr id="28" name="Shape 22"/>
          <p:cNvSpPr/>
          <p:nvPr/>
        </p:nvSpPr>
        <p:spPr>
          <a:xfrm>
            <a:off x="8302752" y="1783080"/>
            <a:ext cx="502920" cy="502920"/>
          </a:xfrm>
          <a:prstGeom prst="ellipse">
            <a:avLst/>
          </a:prstGeom>
          <a:solidFill>
            <a:schemeClr val="accent1"/>
          </a:solidFill>
          <a:ln w="12700">
            <a:solidFill>
              <a:srgbClr val="C8D400"/>
            </a:solidFill>
            <a:prstDash val="solid"/>
          </a:ln>
        </p:spPr>
      </p:sp>
      <p:sp>
        <p:nvSpPr>
          <p:cNvPr id="29" name="Text 23"/>
          <p:cNvSpPr txBox="1"/>
          <p:nvPr/>
        </p:nvSpPr>
        <p:spPr>
          <a:xfrm>
            <a:off x="8302752"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pic>
        <p:nvPicPr>
          <p:cNvPr id="30" name="Image 4" descr="preencoded.png">    </p:cNvPr>
          <p:cNvPicPr>
            <a:picLocks noChangeAspect="1"/>
          </p:cNvPicPr>
          <p:nvPr/>
        </p:nvPicPr>
        <p:blipFill>
          <a:blip r:embed="rId5"/>
          <a:stretch>
            <a:fillRect/>
          </a:stretch>
        </p:blipFill>
        <p:spPr>
          <a:xfrm>
            <a:off x="9262872" y="1847088"/>
            <a:ext cx="384048" cy="384048"/>
          </a:xfrm>
          <a:prstGeom prst="rect">
            <a:avLst/>
          </a:prstGeom>
        </p:spPr>
      </p:pic>
      <p:sp>
        <p:nvSpPr>
          <p:cNvPr id="31" name="Text 24"/>
          <p:cNvSpPr txBox="1"/>
          <p:nvPr/>
        </p:nvSpPr>
        <p:spPr>
          <a:xfrm>
            <a:off x="8302752" y="2560320"/>
            <a:ext cx="1417320" cy="1828800"/>
          </a:xfrm>
          <a:prstGeom prst="rect">
            <a:avLst/>
          </a:prstGeom>
          <a:noFill/>
          <a:ln/>
        </p:spPr>
        <p:txBody>
          <a:bodyPr wrap="square" lIns="0" tIns="0" rIns="0" bIns="0" rtlCol="0" anchor="t"/>
          <a:lstStyle/>
          <a:p>
            <a:pPr indent="0" marL="0">
              <a:buNone/>
            </a:pPr>
            <a:r>
              <a:rPr lang="en-US" sz="1500" dirty="0">
                <a:solidFill>
                  <a:schemeClr val="tx1"/>
                </a:solidFill>
              </a:rPr>
              <a:t>Con sesión, se guarda en el historial (RLS)</a:t>
            </a:r>
            <a:endParaRPr lang="en-US" sz="1500" dirty="0"/>
          </a:p>
        </p:txBody>
      </p:sp>
      <p:sp>
        <p:nvSpPr>
          <p:cNvPr id="32" name="Text 25"/>
          <p:cNvSpPr txBox="1"/>
          <p:nvPr/>
        </p:nvSpPr>
        <p:spPr>
          <a:xfrm>
            <a:off x="8302752" y="4663440"/>
            <a:ext cx="1417320" cy="365760"/>
          </a:xfrm>
          <a:prstGeom prst="rect">
            <a:avLst/>
          </a:prstGeom>
          <a:noFill/>
          <a:ln/>
        </p:spPr>
        <p:txBody>
          <a:bodyPr wrap="square" lIns="0" tIns="0" rIns="0" bIns="0" rtlCol="0" anchor="t"/>
          <a:lstStyle/>
          <a:p>
            <a:pPr indent="0" marL="0">
              <a:buNone/>
            </a:pPr>
            <a:r>
              <a:rPr lang="en-US" sz="1100" b="1" dirty="0">
                <a:solidFill>
                  <a:schemeClr val="accent1"/>
                </a:solidFill>
              </a:rPr>
              <a:t>history-service</a:t>
            </a:r>
            <a:endParaRPr lang="en-US" sz="1100" dirty="0"/>
          </a:p>
        </p:txBody>
      </p:sp>
      <p:sp>
        <p:nvSpPr>
          <p:cNvPr id="33" name="Shape 26"/>
          <p:cNvSpPr/>
          <p:nvPr/>
        </p:nvSpPr>
        <p:spPr>
          <a:xfrm>
            <a:off x="10012680" y="1554480"/>
            <a:ext cx="1737360" cy="3657600"/>
          </a:xfrm>
          <a:prstGeom prst="roundRect">
            <a:avLst>
              <a:gd name="adj" fmla="val 6316"/>
            </a:avLst>
          </a:prstGeom>
          <a:solidFill>
            <a:schemeClr val="bg2"/>
          </a:solidFill>
          <a:ln w="12700">
            <a:solidFill>
              <a:srgbClr val="2A2A2A"/>
            </a:solidFill>
            <a:prstDash val="solid"/>
          </a:ln>
        </p:spPr>
      </p:sp>
      <p:sp>
        <p:nvSpPr>
          <p:cNvPr id="34" name="Shape 27"/>
          <p:cNvSpPr/>
          <p:nvPr/>
        </p:nvSpPr>
        <p:spPr>
          <a:xfrm>
            <a:off x="10195560" y="1783080"/>
            <a:ext cx="502920" cy="502920"/>
          </a:xfrm>
          <a:prstGeom prst="ellipse">
            <a:avLst/>
          </a:prstGeom>
          <a:solidFill>
            <a:schemeClr val="accent1"/>
          </a:solidFill>
          <a:ln w="12700">
            <a:solidFill>
              <a:srgbClr val="C8D400"/>
            </a:solidFill>
            <a:prstDash val="solid"/>
          </a:ln>
        </p:spPr>
      </p:sp>
      <p:sp>
        <p:nvSpPr>
          <p:cNvPr id="35" name="Text 28"/>
          <p:cNvSpPr txBox="1"/>
          <p:nvPr/>
        </p:nvSpPr>
        <p:spPr>
          <a:xfrm>
            <a:off x="1019556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pic>
        <p:nvPicPr>
          <p:cNvPr id="36" name="Image 5" descr="preencoded.png">    </p:cNvPr>
          <p:cNvPicPr>
            <a:picLocks noChangeAspect="1"/>
          </p:cNvPicPr>
          <p:nvPr/>
        </p:nvPicPr>
        <p:blipFill>
          <a:blip r:embed="rId6"/>
          <a:stretch>
            <a:fillRect/>
          </a:stretch>
        </p:blipFill>
        <p:spPr>
          <a:xfrm>
            <a:off x="11155680" y="1847088"/>
            <a:ext cx="384048" cy="384048"/>
          </a:xfrm>
          <a:prstGeom prst="rect">
            <a:avLst/>
          </a:prstGeom>
        </p:spPr>
      </p:pic>
      <p:sp>
        <p:nvSpPr>
          <p:cNvPr id="37" name="Text 29"/>
          <p:cNvSpPr txBox="1"/>
          <p:nvPr/>
        </p:nvSpPr>
        <p:spPr>
          <a:xfrm>
            <a:off x="10195560" y="2560320"/>
            <a:ext cx="1417320" cy="1828800"/>
          </a:xfrm>
          <a:prstGeom prst="rect">
            <a:avLst/>
          </a:prstGeom>
          <a:noFill/>
          <a:ln/>
        </p:spPr>
        <p:txBody>
          <a:bodyPr wrap="square" lIns="0" tIns="0" rIns="0" bIns="0" rtlCol="0" anchor="t"/>
          <a:lstStyle/>
          <a:p>
            <a:pPr indent="0" marL="0">
              <a:buNone/>
            </a:pPr>
            <a:r>
              <a:rPr lang="en-US" sz="1500" dirty="0">
                <a:solidFill>
                  <a:schemeClr val="tx1"/>
                </a:solidFill>
              </a:rPr>
              <a:t>Se muestra el veredicto, las señales y un consejo</a:t>
            </a:r>
            <a:endParaRPr lang="en-US" sz="1500" dirty="0"/>
          </a:p>
        </p:txBody>
      </p:sp>
      <p:sp>
        <p:nvSpPr>
          <p:cNvPr id="38" name="Text 30"/>
          <p:cNvSpPr txBox="1"/>
          <p:nvPr/>
        </p:nvSpPr>
        <p:spPr>
          <a:xfrm>
            <a:off x="10195560" y="4663440"/>
            <a:ext cx="1417320" cy="365760"/>
          </a:xfrm>
          <a:prstGeom prst="rect">
            <a:avLst/>
          </a:prstGeom>
          <a:noFill/>
          <a:ln/>
        </p:spPr>
        <p:txBody>
          <a:bodyPr wrap="square" lIns="0" tIns="0" rIns="0" bIns="0" rtlCol="0" anchor="t"/>
          <a:lstStyle/>
          <a:p>
            <a:pPr indent="0" marL="0">
              <a:buNone/>
            </a:pPr>
            <a:r>
              <a:rPr lang="en-US" sz="1100" b="1" dirty="0">
                <a:solidFill>
                  <a:schemeClr val="accent1"/>
                </a:solidFill>
              </a:rPr>
              <a:t>Extensión</a:t>
            </a:r>
            <a:endParaRPr lang="en-US" sz="1100" dirty="0"/>
          </a:p>
        </p:txBody>
      </p:sp>
      <p:sp>
        <p:nvSpPr>
          <p:cNvPr id="39" name="Text 31"/>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300" i="1" dirty="0">
                <a:solidFill>
                  <a:schemeClr val="tx2"/>
                </a:solidFill>
              </a:rPr>
              <a:t>Un resultado en caché no consume cuota; si guardar falla, el análisis igual se muestra y la extensión lo reintenta después.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Seguridad desde el diseño</a:t>
            </a:r>
            <a:endParaRPr lang="en-US" sz="3200" dirty="0"/>
          </a:p>
        </p:txBody>
      </p:sp>
      <p:sp>
        <p:nvSpPr>
          <p:cNvPr id="3" name="Shape 1"/>
          <p:cNvSpPr/>
          <p:nvPr/>
        </p:nvSpPr>
        <p:spPr>
          <a:xfrm>
            <a:off x="548640" y="1371600"/>
            <a:ext cx="5440680" cy="2194560"/>
          </a:xfrm>
          <a:prstGeom prst="roundRect">
            <a:avLst>
              <a:gd name="adj" fmla="val 5000"/>
            </a:avLst>
          </a:prstGeom>
          <a:solidFill>
            <a:schemeClr val="bg2"/>
          </a:solidFill>
          <a:ln w="12700">
            <a:solidFill>
              <a:srgbClr val="2A2A2A"/>
            </a:solidFill>
            <a:prstDash val="solid"/>
          </a:ln>
        </p:spPr>
      </p:sp>
      <p:sp>
        <p:nvSpPr>
          <p:cNvPr id="4" name="Shape 2"/>
          <p:cNvSpPr/>
          <p:nvPr/>
        </p:nvSpPr>
        <p:spPr>
          <a:xfrm>
            <a:off x="822960" y="1645920"/>
            <a:ext cx="640080" cy="640080"/>
          </a:xfrm>
          <a:prstGeom prst="ellipse">
            <a:avLst/>
          </a:prstGeom>
          <a:solidFill>
            <a:schemeClr val="accent6"/>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6" name="Text 3"/>
          <p:cNvSpPr txBox="1"/>
          <p:nvPr/>
        </p:nvSpPr>
        <p:spPr>
          <a:xfrm>
            <a:off x="1645920" y="1664208"/>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Autenticación</a:t>
            </a:r>
            <a:endParaRPr lang="en-US" sz="2000" dirty="0"/>
          </a:p>
        </p:txBody>
      </p:sp>
      <p:sp>
        <p:nvSpPr>
          <p:cNvPr id="7" name="Text 4"/>
          <p:cNvSpPr txBox="1"/>
          <p:nvPr/>
        </p:nvSpPr>
        <p:spPr>
          <a:xfrm>
            <a:off x="822960" y="2423160"/>
            <a:ext cx="4892040" cy="1005840"/>
          </a:xfrm>
          <a:prstGeom prst="rect">
            <a:avLst/>
          </a:prstGeom>
          <a:noFill/>
          <a:ln/>
        </p:spPr>
        <p:txBody>
          <a:bodyPr wrap="square" lIns="0" tIns="0" rIns="0" bIns="0" rtlCol="0" anchor="t"/>
          <a:lstStyle/>
          <a:p>
            <a:pPr indent="0" marL="0">
              <a:buNone/>
            </a:pPr>
            <a:r>
              <a:rPr lang="en-US" sz="1500" dirty="0">
                <a:solidFill>
                  <a:schemeClr val="tx2"/>
                </a:solidFill>
              </a:rPr>
              <a:t>El usuario inicia sesión en Supabase y recibe un JWT. El gateway valida su firma con getClaims antes de dar acceso.</a:t>
            </a:r>
            <a:endParaRPr lang="en-US" sz="1500" dirty="0"/>
          </a:p>
        </p:txBody>
      </p:sp>
      <p:sp>
        <p:nvSpPr>
          <p:cNvPr id="8" name="Shape 5"/>
          <p:cNvSpPr/>
          <p:nvPr/>
        </p:nvSpPr>
        <p:spPr>
          <a:xfrm>
            <a:off x="6172200" y="1371600"/>
            <a:ext cx="5440680" cy="2194560"/>
          </a:xfrm>
          <a:prstGeom prst="roundRect">
            <a:avLst>
              <a:gd name="adj" fmla="val 5000"/>
            </a:avLst>
          </a:prstGeom>
          <a:solidFill>
            <a:schemeClr val="bg2"/>
          </a:solidFill>
          <a:ln w="12700">
            <a:solidFill>
              <a:srgbClr val="2A2A2A"/>
            </a:solidFill>
            <a:prstDash val="solid"/>
          </a:ln>
        </p:spPr>
      </p:sp>
      <p:sp>
        <p:nvSpPr>
          <p:cNvPr id="9" name="Shape 6"/>
          <p:cNvSpPr/>
          <p:nvPr/>
        </p:nvSpPr>
        <p:spPr>
          <a:xfrm>
            <a:off x="6446520" y="1645920"/>
            <a:ext cx="640080" cy="640080"/>
          </a:xfrm>
          <a:prstGeom prst="ellipse">
            <a:avLst/>
          </a:prstGeom>
          <a:solidFill>
            <a:schemeClr val="accent6"/>
          </a:solidFill>
          <a:ln w="12700">
            <a:solidFill>
              <a:srgbClr val="2A2A2A"/>
            </a:solidFill>
            <a:prstDash val="solid"/>
          </a:ln>
        </p:spPr>
      </p:sp>
      <p:pic>
        <p:nvPicPr>
          <p:cNvPr id="10" name="Image 1" descr="preencoded.png">    </p:cNvPr>
          <p:cNvPicPr>
            <a:picLocks noChangeAspect="1"/>
          </p:cNvPicPr>
          <p:nvPr/>
        </p:nvPicPr>
        <p:blipFill>
          <a:blip r:embed="rId2"/>
          <a:stretch>
            <a:fillRect/>
          </a:stretch>
        </p:blipFill>
        <p:spPr>
          <a:xfrm>
            <a:off x="6600139" y="1799539"/>
            <a:ext cx="332842" cy="332842"/>
          </a:xfrm>
          <a:prstGeom prst="rect">
            <a:avLst/>
          </a:prstGeom>
        </p:spPr>
      </p:pic>
      <p:sp>
        <p:nvSpPr>
          <p:cNvPr id="11" name="Text 7"/>
          <p:cNvSpPr txBox="1"/>
          <p:nvPr/>
        </p:nvSpPr>
        <p:spPr>
          <a:xfrm>
            <a:off x="7269480" y="1664208"/>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Autorización</a:t>
            </a:r>
            <a:endParaRPr lang="en-US" sz="2000" dirty="0"/>
          </a:p>
        </p:txBody>
      </p:sp>
      <p:sp>
        <p:nvSpPr>
          <p:cNvPr id="12" name="Text 8"/>
          <p:cNvSpPr txBox="1"/>
          <p:nvPr/>
        </p:nvSpPr>
        <p:spPr>
          <a:xfrm>
            <a:off x="6446520" y="2423160"/>
            <a:ext cx="4892040" cy="1005840"/>
          </a:xfrm>
          <a:prstGeom prst="rect">
            <a:avLst/>
          </a:prstGeom>
          <a:noFill/>
          <a:ln/>
        </p:spPr>
        <p:txBody>
          <a:bodyPr wrap="square" lIns="0" tIns="0" rIns="0" bIns="0" rtlCol="0" anchor="t"/>
          <a:lstStyle/>
          <a:p>
            <a:pPr indent="0" marL="0">
              <a:buNone/>
            </a:pPr>
            <a:r>
              <a:rPr lang="en-US" sz="1500" dirty="0">
                <a:solidFill>
                  <a:schemeClr val="tx2"/>
                </a:solidFill>
              </a:rPr>
              <a:t>Row Level Security en Postgres: cada fila tiene dueño y la base solo devuelve las del usuario del JWT.</a:t>
            </a:r>
            <a:endParaRPr lang="en-US" sz="1500" dirty="0"/>
          </a:p>
        </p:txBody>
      </p:sp>
      <p:sp>
        <p:nvSpPr>
          <p:cNvPr id="13" name="Shape 9"/>
          <p:cNvSpPr/>
          <p:nvPr/>
        </p:nvSpPr>
        <p:spPr>
          <a:xfrm>
            <a:off x="548640" y="3749040"/>
            <a:ext cx="5440680" cy="2194560"/>
          </a:xfrm>
          <a:prstGeom prst="roundRect">
            <a:avLst>
              <a:gd name="adj" fmla="val 5000"/>
            </a:avLst>
          </a:prstGeom>
          <a:solidFill>
            <a:schemeClr val="bg2"/>
          </a:solidFill>
          <a:ln w="12700">
            <a:solidFill>
              <a:srgbClr val="2A2A2A"/>
            </a:solidFill>
            <a:prstDash val="solid"/>
          </a:ln>
        </p:spPr>
      </p:sp>
      <p:sp>
        <p:nvSpPr>
          <p:cNvPr id="14" name="Shape 10"/>
          <p:cNvSpPr/>
          <p:nvPr/>
        </p:nvSpPr>
        <p:spPr>
          <a:xfrm>
            <a:off x="822960" y="4023360"/>
            <a:ext cx="640080" cy="640080"/>
          </a:xfrm>
          <a:prstGeom prst="ellipse">
            <a:avLst/>
          </a:prstGeom>
          <a:solidFill>
            <a:schemeClr val="accent6"/>
          </a:solidFill>
          <a:ln w="12700">
            <a:solidFill>
              <a:srgbClr val="2A2A2A"/>
            </a:solidFill>
            <a:prstDash val="solid"/>
          </a:ln>
        </p:spPr>
      </p:sp>
      <p:pic>
        <p:nvPicPr>
          <p:cNvPr id="15" name="Image 2" descr="preencoded.png">    </p:cNvPr>
          <p:cNvPicPr>
            <a:picLocks noChangeAspect="1"/>
          </p:cNvPicPr>
          <p:nvPr/>
        </p:nvPicPr>
        <p:blipFill>
          <a:blip r:embed="rId3"/>
          <a:stretch>
            <a:fillRect/>
          </a:stretch>
        </p:blipFill>
        <p:spPr>
          <a:xfrm>
            <a:off x="976579" y="4176979"/>
            <a:ext cx="332842" cy="332842"/>
          </a:xfrm>
          <a:prstGeom prst="rect">
            <a:avLst/>
          </a:prstGeom>
        </p:spPr>
      </p:pic>
      <p:sp>
        <p:nvSpPr>
          <p:cNvPr id="16" name="Text 11"/>
          <p:cNvSpPr txBox="1"/>
          <p:nvPr/>
        </p:nvSpPr>
        <p:spPr>
          <a:xfrm>
            <a:off x="1645920" y="4041648"/>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Entre microservicios</a:t>
            </a:r>
            <a:endParaRPr lang="en-US" sz="2000" dirty="0"/>
          </a:p>
        </p:txBody>
      </p:sp>
      <p:sp>
        <p:nvSpPr>
          <p:cNvPr id="17" name="Text 12"/>
          <p:cNvSpPr txBox="1"/>
          <p:nvPr/>
        </p:nvSpPr>
        <p:spPr>
          <a:xfrm>
            <a:off x="822960" y="4800600"/>
            <a:ext cx="4892040" cy="1005840"/>
          </a:xfrm>
          <a:prstGeom prst="rect">
            <a:avLst/>
          </a:prstGeom>
          <a:noFill/>
          <a:ln/>
        </p:spPr>
        <p:txBody>
          <a:bodyPr wrap="square" lIns="0" tIns="0" rIns="0" bIns="0" rtlCol="0" anchor="t"/>
          <a:lstStyle/>
          <a:p>
            <a:pPr indent="0" marL="0">
              <a:buNone/>
            </a:pPr>
            <a:r>
              <a:rPr lang="en-US" sz="1500" dirty="0">
                <a:solidFill>
                  <a:schemeClr val="tx2"/>
                </a:solidFill>
              </a:rPr>
              <a:t>Token interno en la cabecera x-internal-token, comparado en tiempo constante. Sin él, 401.</a:t>
            </a:r>
            <a:endParaRPr lang="en-US" sz="1500" dirty="0"/>
          </a:p>
        </p:txBody>
      </p:sp>
      <p:sp>
        <p:nvSpPr>
          <p:cNvPr id="18" name="Shape 13"/>
          <p:cNvSpPr/>
          <p:nvPr/>
        </p:nvSpPr>
        <p:spPr>
          <a:xfrm>
            <a:off x="6172200" y="3749040"/>
            <a:ext cx="5440680" cy="2194560"/>
          </a:xfrm>
          <a:prstGeom prst="roundRect">
            <a:avLst>
              <a:gd name="adj" fmla="val 5000"/>
            </a:avLst>
          </a:prstGeom>
          <a:solidFill>
            <a:schemeClr val="bg2"/>
          </a:solidFill>
          <a:ln w="12700">
            <a:solidFill>
              <a:srgbClr val="2A2A2A"/>
            </a:solidFill>
            <a:prstDash val="solid"/>
          </a:ln>
        </p:spPr>
      </p:sp>
      <p:sp>
        <p:nvSpPr>
          <p:cNvPr id="19" name="Shape 14"/>
          <p:cNvSpPr/>
          <p:nvPr/>
        </p:nvSpPr>
        <p:spPr>
          <a:xfrm>
            <a:off x="6446520" y="4023360"/>
            <a:ext cx="640080" cy="640080"/>
          </a:xfrm>
          <a:prstGeom prst="ellipse">
            <a:avLst/>
          </a:prstGeom>
          <a:solidFill>
            <a:schemeClr val="accent6"/>
          </a:solidFill>
          <a:ln w="12700">
            <a:solidFill>
              <a:srgbClr val="2A2A2A"/>
            </a:solidFill>
            <a:prstDash val="solid"/>
          </a:ln>
        </p:spPr>
      </p:sp>
      <p:pic>
        <p:nvPicPr>
          <p:cNvPr id="20" name="Image 3" descr="preencoded.png">    </p:cNvPr>
          <p:cNvPicPr>
            <a:picLocks noChangeAspect="1"/>
          </p:cNvPicPr>
          <p:nvPr/>
        </p:nvPicPr>
        <p:blipFill>
          <a:blip r:embed="rId4"/>
          <a:stretch>
            <a:fillRect/>
          </a:stretch>
        </p:blipFill>
        <p:spPr>
          <a:xfrm>
            <a:off x="6600139" y="4176979"/>
            <a:ext cx="332842" cy="332842"/>
          </a:xfrm>
          <a:prstGeom prst="rect">
            <a:avLst/>
          </a:prstGeom>
        </p:spPr>
      </p:pic>
      <p:sp>
        <p:nvSpPr>
          <p:cNvPr id="21" name="Text 15"/>
          <p:cNvSpPr txBox="1"/>
          <p:nvPr/>
        </p:nvSpPr>
        <p:spPr>
          <a:xfrm>
            <a:off x="7269480" y="4041648"/>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Protección contra abuso</a:t>
            </a:r>
            <a:endParaRPr lang="en-US" sz="2000" dirty="0"/>
          </a:p>
        </p:txBody>
      </p:sp>
      <p:sp>
        <p:nvSpPr>
          <p:cNvPr id="22" name="Text 16"/>
          <p:cNvSpPr txBox="1"/>
          <p:nvPr/>
        </p:nvSpPr>
        <p:spPr>
          <a:xfrm>
            <a:off x="6446520" y="4800600"/>
            <a:ext cx="4892040" cy="1005840"/>
          </a:xfrm>
          <a:prstGeom prst="rect">
            <a:avLst/>
          </a:prstGeom>
          <a:noFill/>
          <a:ln/>
        </p:spPr>
        <p:txBody>
          <a:bodyPr wrap="square" lIns="0" tIns="0" rIns="0" bIns="0" rtlCol="0" anchor="t"/>
          <a:lstStyle/>
          <a:p>
            <a:pPr indent="0" marL="0">
              <a:buNone/>
            </a:pPr>
            <a:r>
              <a:rPr lang="en-US" sz="1500" dirty="0">
                <a:solidFill>
                  <a:schemeClr val="tx2"/>
                </a:solidFill>
              </a:rPr>
              <a:t>Cuota diaria (5 sin cuenta, 100 con cuenta), cuerpo máximo de 512 KB y cabeceras seguras.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Despliegue en la nube</a:t>
            </a:r>
            <a:endParaRPr lang="en-US" sz="3200" dirty="0"/>
          </a:p>
        </p:txBody>
      </p:sp>
      <p:sp>
        <p:nvSpPr>
          <p:cNvPr id="3" name="Shape 1"/>
          <p:cNvSpPr/>
          <p:nvPr/>
        </p:nvSpPr>
        <p:spPr>
          <a:xfrm>
            <a:off x="548640" y="1371600"/>
            <a:ext cx="2651760" cy="3108960"/>
          </a:xfrm>
          <a:prstGeom prst="roundRect">
            <a:avLst>
              <a:gd name="adj" fmla="val 4138"/>
            </a:avLst>
          </a:prstGeom>
          <a:solidFill>
            <a:schemeClr val="bg2"/>
          </a:solidFill>
          <a:ln w="12700">
            <a:solidFill>
              <a:srgbClr val="2A2A2A"/>
            </a:solidFill>
            <a:prstDash val="solid"/>
          </a:ln>
        </p:spPr>
      </p:sp>
      <p:sp>
        <p:nvSpPr>
          <p:cNvPr id="4" name="Shape 2"/>
          <p:cNvSpPr/>
          <p:nvPr/>
        </p:nvSpPr>
        <p:spPr>
          <a:xfrm>
            <a:off x="822960" y="1645920"/>
            <a:ext cx="685800" cy="685800"/>
          </a:xfrm>
          <a:prstGeom prst="ellipse">
            <a:avLst/>
          </a:prstGeom>
          <a:solidFill>
            <a:schemeClr val="accent6"/>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6" name="Text 3"/>
          <p:cNvSpPr txBox="1"/>
          <p:nvPr/>
        </p:nvSpPr>
        <p:spPr>
          <a:xfrm>
            <a:off x="822960" y="2514600"/>
            <a:ext cx="2194560" cy="457200"/>
          </a:xfrm>
          <a:prstGeom prst="rect">
            <a:avLst/>
          </a:prstGeom>
          <a:noFill/>
          <a:ln/>
        </p:spPr>
        <p:txBody>
          <a:bodyPr wrap="square" lIns="0" tIns="0" rIns="0" bIns="0" rtlCol="0" anchor="t"/>
          <a:lstStyle/>
          <a:p>
            <a:pPr indent="0" marL="0">
              <a:buNone/>
            </a:pPr>
            <a:r>
              <a:rPr lang="en-US" sz="2200" b="1" dirty="0">
                <a:solidFill>
                  <a:schemeClr val="tx1"/>
                </a:solidFill>
              </a:rPr>
              <a:t>Render</a:t>
            </a:r>
            <a:endParaRPr lang="en-US" sz="2200" dirty="0"/>
          </a:p>
        </p:txBody>
      </p:sp>
      <p:sp>
        <p:nvSpPr>
          <p:cNvPr id="7" name="Text 4"/>
          <p:cNvSpPr txBox="1"/>
          <p:nvPr/>
        </p:nvSpPr>
        <p:spPr>
          <a:xfrm>
            <a:off x="822960" y="3017520"/>
            <a:ext cx="2194560" cy="411480"/>
          </a:xfrm>
          <a:prstGeom prst="rect">
            <a:avLst/>
          </a:prstGeom>
          <a:noFill/>
          <a:ln/>
        </p:spPr>
        <p:txBody>
          <a:bodyPr wrap="square" lIns="0" tIns="0" rIns="0" bIns="0" rtlCol="0" anchor="t"/>
          <a:lstStyle/>
          <a:p>
            <a:pPr indent="0" marL="0">
              <a:buNone/>
            </a:pPr>
            <a:r>
              <a:rPr lang="en-US" sz="1500" dirty="0">
                <a:solidFill>
                  <a:schemeClr val="tx2"/>
                </a:solidFill>
              </a:rPr>
              <a:t>Los 3 microservicios</a:t>
            </a:r>
            <a:endParaRPr lang="en-US" sz="1500" dirty="0"/>
          </a:p>
        </p:txBody>
      </p:sp>
      <p:sp>
        <p:nvSpPr>
          <p:cNvPr id="8" name="Text 5"/>
          <p:cNvSpPr txBox="1"/>
          <p:nvPr/>
        </p:nvSpPr>
        <p:spPr>
          <a:xfrm>
            <a:off x="822960" y="3520440"/>
            <a:ext cx="2240280" cy="7315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mail-guard-gateway.onrender.com</a:t>
            </a:r>
            <a:endParaRPr lang="en-US" sz="1100" dirty="0"/>
          </a:p>
        </p:txBody>
      </p:sp>
      <p:sp>
        <p:nvSpPr>
          <p:cNvPr id="9" name="Shape 6"/>
          <p:cNvSpPr/>
          <p:nvPr/>
        </p:nvSpPr>
        <p:spPr>
          <a:xfrm>
            <a:off x="3374136" y="1371600"/>
            <a:ext cx="2651760" cy="3108960"/>
          </a:xfrm>
          <a:prstGeom prst="roundRect">
            <a:avLst>
              <a:gd name="adj" fmla="val 4138"/>
            </a:avLst>
          </a:prstGeom>
          <a:solidFill>
            <a:schemeClr val="bg2"/>
          </a:solidFill>
          <a:ln w="12700">
            <a:solidFill>
              <a:srgbClr val="2A2A2A"/>
            </a:solidFill>
            <a:prstDash val="solid"/>
          </a:ln>
        </p:spPr>
      </p:sp>
      <p:sp>
        <p:nvSpPr>
          <p:cNvPr id="10" name="Shape 7"/>
          <p:cNvSpPr/>
          <p:nvPr/>
        </p:nvSpPr>
        <p:spPr>
          <a:xfrm>
            <a:off x="3648456" y="1645920"/>
            <a:ext cx="685800" cy="685800"/>
          </a:xfrm>
          <a:prstGeom prst="ellipse">
            <a:avLst/>
          </a:prstGeom>
          <a:solidFill>
            <a:schemeClr val="accent6"/>
          </a:solidFill>
          <a:ln w="12700">
            <a:solidFill>
              <a:srgbClr val="2A2A2A"/>
            </a:solidFill>
            <a:prstDash val="solid"/>
          </a:ln>
        </p:spPr>
      </p:sp>
      <p:pic>
        <p:nvPicPr>
          <p:cNvPr id="11" name="Image 1" descr="preencoded.png">    </p:cNvPr>
          <p:cNvPicPr>
            <a:picLocks noChangeAspect="1"/>
          </p:cNvPicPr>
          <p:nvPr/>
        </p:nvPicPr>
        <p:blipFill>
          <a:blip r:embed="rId2"/>
          <a:stretch>
            <a:fillRect/>
          </a:stretch>
        </p:blipFill>
        <p:spPr>
          <a:xfrm>
            <a:off x="3813048" y="1810512"/>
            <a:ext cx="356616" cy="356616"/>
          </a:xfrm>
          <a:prstGeom prst="rect">
            <a:avLst/>
          </a:prstGeom>
        </p:spPr>
      </p:pic>
      <p:sp>
        <p:nvSpPr>
          <p:cNvPr id="12" name="Text 8"/>
          <p:cNvSpPr txBox="1"/>
          <p:nvPr/>
        </p:nvSpPr>
        <p:spPr>
          <a:xfrm>
            <a:off x="3648456" y="2514600"/>
            <a:ext cx="2194560" cy="457200"/>
          </a:xfrm>
          <a:prstGeom prst="rect">
            <a:avLst/>
          </a:prstGeom>
          <a:noFill/>
          <a:ln/>
        </p:spPr>
        <p:txBody>
          <a:bodyPr wrap="square" lIns="0" tIns="0" rIns="0" bIns="0" rtlCol="0" anchor="t"/>
          <a:lstStyle/>
          <a:p>
            <a:pPr indent="0" marL="0">
              <a:buNone/>
            </a:pPr>
            <a:r>
              <a:rPr lang="en-US" sz="2200" b="1" dirty="0">
                <a:solidFill>
                  <a:schemeClr val="tx1"/>
                </a:solidFill>
              </a:rPr>
              <a:t>Vercel</a:t>
            </a:r>
            <a:endParaRPr lang="en-US" sz="2200" dirty="0"/>
          </a:p>
        </p:txBody>
      </p:sp>
      <p:sp>
        <p:nvSpPr>
          <p:cNvPr id="13" name="Text 9"/>
          <p:cNvSpPr txBox="1"/>
          <p:nvPr/>
        </p:nvSpPr>
        <p:spPr>
          <a:xfrm>
            <a:off x="3648456" y="3017520"/>
            <a:ext cx="2194560" cy="411480"/>
          </a:xfrm>
          <a:prstGeom prst="rect">
            <a:avLst/>
          </a:prstGeom>
          <a:noFill/>
          <a:ln/>
        </p:spPr>
        <p:txBody>
          <a:bodyPr wrap="square" lIns="0" tIns="0" rIns="0" bIns="0" rtlCol="0" anchor="t"/>
          <a:lstStyle/>
          <a:p>
            <a:pPr indent="0" marL="0">
              <a:buNone/>
            </a:pPr>
            <a:r>
              <a:rPr lang="en-US" sz="1500" dirty="0">
                <a:solidFill>
                  <a:schemeClr val="tx2"/>
                </a:solidFill>
              </a:rPr>
              <a:t>Panel web (Next.js)</a:t>
            </a:r>
            <a:endParaRPr lang="en-US" sz="1500" dirty="0"/>
          </a:p>
        </p:txBody>
      </p:sp>
      <p:sp>
        <p:nvSpPr>
          <p:cNvPr id="14" name="Text 10"/>
          <p:cNvSpPr txBox="1"/>
          <p:nvPr/>
        </p:nvSpPr>
        <p:spPr>
          <a:xfrm>
            <a:off x="3648456" y="3520440"/>
            <a:ext cx="2240280" cy="7315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uts-mail-guard-extension-dashboard.vercel.app</a:t>
            </a:r>
            <a:endParaRPr lang="en-US" sz="1100" dirty="0"/>
          </a:p>
        </p:txBody>
      </p:sp>
      <p:sp>
        <p:nvSpPr>
          <p:cNvPr id="15" name="Shape 11"/>
          <p:cNvSpPr/>
          <p:nvPr/>
        </p:nvSpPr>
        <p:spPr>
          <a:xfrm>
            <a:off x="6199632" y="1371600"/>
            <a:ext cx="2651760" cy="3108960"/>
          </a:xfrm>
          <a:prstGeom prst="roundRect">
            <a:avLst>
              <a:gd name="adj" fmla="val 4138"/>
            </a:avLst>
          </a:prstGeom>
          <a:solidFill>
            <a:schemeClr val="bg2"/>
          </a:solidFill>
          <a:ln w="12700">
            <a:solidFill>
              <a:srgbClr val="2A2A2A"/>
            </a:solidFill>
            <a:prstDash val="solid"/>
          </a:ln>
        </p:spPr>
      </p:sp>
      <p:sp>
        <p:nvSpPr>
          <p:cNvPr id="16" name="Shape 12"/>
          <p:cNvSpPr/>
          <p:nvPr/>
        </p:nvSpPr>
        <p:spPr>
          <a:xfrm>
            <a:off x="6473952" y="1645920"/>
            <a:ext cx="685800" cy="685800"/>
          </a:xfrm>
          <a:prstGeom prst="ellipse">
            <a:avLst/>
          </a:prstGeom>
          <a:solidFill>
            <a:schemeClr val="accent6"/>
          </a:solidFill>
          <a:ln w="12700">
            <a:solidFill>
              <a:srgbClr val="2A2A2A"/>
            </a:solidFill>
            <a:prstDash val="solid"/>
          </a:ln>
        </p:spPr>
      </p:sp>
      <p:pic>
        <p:nvPicPr>
          <p:cNvPr id="17" name="Image 2" descr="preencoded.png">    </p:cNvPr>
          <p:cNvPicPr>
            <a:picLocks noChangeAspect="1"/>
          </p:cNvPicPr>
          <p:nvPr/>
        </p:nvPicPr>
        <p:blipFill>
          <a:blip r:embed="rId3"/>
          <a:stretch>
            <a:fillRect/>
          </a:stretch>
        </p:blipFill>
        <p:spPr>
          <a:xfrm>
            <a:off x="6638544" y="1810512"/>
            <a:ext cx="356616" cy="356616"/>
          </a:xfrm>
          <a:prstGeom prst="rect">
            <a:avLst/>
          </a:prstGeom>
        </p:spPr>
      </p:pic>
      <p:sp>
        <p:nvSpPr>
          <p:cNvPr id="18" name="Text 13"/>
          <p:cNvSpPr txBox="1"/>
          <p:nvPr/>
        </p:nvSpPr>
        <p:spPr>
          <a:xfrm>
            <a:off x="6473952" y="2514600"/>
            <a:ext cx="2194560" cy="457200"/>
          </a:xfrm>
          <a:prstGeom prst="rect">
            <a:avLst/>
          </a:prstGeom>
          <a:noFill/>
          <a:ln/>
        </p:spPr>
        <p:txBody>
          <a:bodyPr wrap="square" lIns="0" tIns="0" rIns="0" bIns="0" rtlCol="0" anchor="t"/>
          <a:lstStyle/>
          <a:p>
            <a:pPr indent="0" marL="0">
              <a:buNone/>
            </a:pPr>
            <a:r>
              <a:rPr lang="en-US" sz="2200" b="1" dirty="0">
                <a:solidFill>
                  <a:schemeClr val="tx1"/>
                </a:solidFill>
              </a:rPr>
              <a:t>Supabase</a:t>
            </a:r>
            <a:endParaRPr lang="en-US" sz="2200" dirty="0"/>
          </a:p>
        </p:txBody>
      </p:sp>
      <p:sp>
        <p:nvSpPr>
          <p:cNvPr id="19" name="Text 14"/>
          <p:cNvSpPr txBox="1"/>
          <p:nvPr/>
        </p:nvSpPr>
        <p:spPr>
          <a:xfrm>
            <a:off x="6473952" y="3017520"/>
            <a:ext cx="2194560" cy="411480"/>
          </a:xfrm>
          <a:prstGeom prst="rect">
            <a:avLst/>
          </a:prstGeom>
          <a:noFill/>
          <a:ln/>
        </p:spPr>
        <p:txBody>
          <a:bodyPr wrap="square" lIns="0" tIns="0" rIns="0" bIns="0" rtlCol="0" anchor="t"/>
          <a:lstStyle/>
          <a:p>
            <a:pPr indent="0" marL="0">
              <a:buNone/>
            </a:pPr>
            <a:r>
              <a:rPr lang="en-US" sz="1500" dirty="0">
                <a:solidFill>
                  <a:schemeClr val="tx2"/>
                </a:solidFill>
              </a:rPr>
              <a:t>Usuarios + base de datos</a:t>
            </a:r>
            <a:endParaRPr lang="en-US" sz="1500" dirty="0"/>
          </a:p>
        </p:txBody>
      </p:sp>
      <p:sp>
        <p:nvSpPr>
          <p:cNvPr id="20" name="Text 15"/>
          <p:cNvSpPr txBox="1"/>
          <p:nvPr/>
        </p:nvSpPr>
        <p:spPr>
          <a:xfrm>
            <a:off x="6473952" y="3520440"/>
            <a:ext cx="2240280" cy="7315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Postgres con RLS</a:t>
            </a:r>
            <a:endParaRPr lang="en-US" sz="1100" dirty="0"/>
          </a:p>
        </p:txBody>
      </p:sp>
      <p:sp>
        <p:nvSpPr>
          <p:cNvPr id="21" name="Shape 16"/>
          <p:cNvSpPr/>
          <p:nvPr/>
        </p:nvSpPr>
        <p:spPr>
          <a:xfrm>
            <a:off x="9025128" y="1371600"/>
            <a:ext cx="2651760" cy="3108960"/>
          </a:xfrm>
          <a:prstGeom prst="roundRect">
            <a:avLst>
              <a:gd name="adj" fmla="val 4138"/>
            </a:avLst>
          </a:prstGeom>
          <a:solidFill>
            <a:schemeClr val="bg2"/>
          </a:solidFill>
          <a:ln w="12700">
            <a:solidFill>
              <a:srgbClr val="2A2A2A"/>
            </a:solidFill>
            <a:prstDash val="solid"/>
          </a:ln>
        </p:spPr>
      </p:sp>
      <p:sp>
        <p:nvSpPr>
          <p:cNvPr id="22" name="Shape 17"/>
          <p:cNvSpPr/>
          <p:nvPr/>
        </p:nvSpPr>
        <p:spPr>
          <a:xfrm>
            <a:off x="9299448" y="1645920"/>
            <a:ext cx="685800" cy="685800"/>
          </a:xfrm>
          <a:prstGeom prst="ellipse">
            <a:avLst/>
          </a:prstGeom>
          <a:solidFill>
            <a:schemeClr val="accent6"/>
          </a:solidFill>
          <a:ln w="12700">
            <a:solidFill>
              <a:srgbClr val="2A2A2A"/>
            </a:solidFill>
            <a:prstDash val="solid"/>
          </a:ln>
        </p:spPr>
      </p:sp>
      <p:pic>
        <p:nvPicPr>
          <p:cNvPr id="23" name="Image 3" descr="preencoded.png">    </p:cNvPr>
          <p:cNvPicPr>
            <a:picLocks noChangeAspect="1"/>
          </p:cNvPicPr>
          <p:nvPr/>
        </p:nvPicPr>
        <p:blipFill>
          <a:blip r:embed="rId4"/>
          <a:stretch>
            <a:fillRect/>
          </a:stretch>
        </p:blipFill>
        <p:spPr>
          <a:xfrm>
            <a:off x="9464040" y="1810512"/>
            <a:ext cx="356616" cy="356616"/>
          </a:xfrm>
          <a:prstGeom prst="rect">
            <a:avLst/>
          </a:prstGeom>
        </p:spPr>
      </p:pic>
      <p:sp>
        <p:nvSpPr>
          <p:cNvPr id="24" name="Text 18"/>
          <p:cNvSpPr txBox="1"/>
          <p:nvPr/>
        </p:nvSpPr>
        <p:spPr>
          <a:xfrm>
            <a:off x="9299448" y="2514600"/>
            <a:ext cx="2194560" cy="457200"/>
          </a:xfrm>
          <a:prstGeom prst="rect">
            <a:avLst/>
          </a:prstGeom>
          <a:noFill/>
          <a:ln/>
        </p:spPr>
        <p:txBody>
          <a:bodyPr wrap="square" lIns="0" tIns="0" rIns="0" bIns="0" rtlCol="0" anchor="t"/>
          <a:lstStyle/>
          <a:p>
            <a:pPr indent="0" marL="0">
              <a:buNone/>
            </a:pPr>
            <a:r>
              <a:rPr lang="en-US" sz="2200" b="1" dirty="0">
                <a:solidFill>
                  <a:schemeClr val="tx1"/>
                </a:solidFill>
              </a:rPr>
              <a:t>Chrome</a:t>
            </a:r>
            <a:endParaRPr lang="en-US" sz="2200" dirty="0"/>
          </a:p>
        </p:txBody>
      </p:sp>
      <p:sp>
        <p:nvSpPr>
          <p:cNvPr id="25" name="Text 19"/>
          <p:cNvSpPr txBox="1"/>
          <p:nvPr/>
        </p:nvSpPr>
        <p:spPr>
          <a:xfrm>
            <a:off x="9299448" y="3017520"/>
            <a:ext cx="2194560" cy="411480"/>
          </a:xfrm>
          <a:prstGeom prst="rect">
            <a:avLst/>
          </a:prstGeom>
          <a:noFill/>
          <a:ln/>
        </p:spPr>
        <p:txBody>
          <a:bodyPr wrap="square" lIns="0" tIns="0" rIns="0" bIns="0" rtlCol="0" anchor="t"/>
          <a:lstStyle/>
          <a:p>
            <a:pPr indent="0" marL="0">
              <a:buNone/>
            </a:pPr>
            <a:r>
              <a:rPr lang="en-US" sz="1500" dirty="0">
                <a:solidFill>
                  <a:schemeClr val="tx2"/>
                </a:solidFill>
              </a:rPr>
              <a:t>Extensión</a:t>
            </a:r>
            <a:endParaRPr lang="en-US" sz="1500" dirty="0"/>
          </a:p>
        </p:txBody>
      </p:sp>
      <p:sp>
        <p:nvSpPr>
          <p:cNvPr id="26" name="Text 20"/>
          <p:cNvSpPr txBox="1"/>
          <p:nvPr/>
        </p:nvSpPr>
        <p:spPr>
          <a:xfrm>
            <a:off x="9299448" y="3520440"/>
            <a:ext cx="2240280" cy="7315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Se carga desde chrome://extensions</a:t>
            </a:r>
            <a:endParaRPr lang="en-US" sz="1100" dirty="0"/>
          </a:p>
        </p:txBody>
      </p:sp>
      <p:sp>
        <p:nvSpPr>
          <p:cNvPr id="27" name="Shape 21"/>
          <p:cNvSpPr/>
          <p:nvPr/>
        </p:nvSpPr>
        <p:spPr>
          <a:xfrm>
            <a:off x="548640" y="4754880"/>
            <a:ext cx="11064240" cy="1234440"/>
          </a:xfrm>
          <a:prstGeom prst="roundRect">
            <a:avLst>
              <a:gd name="adj" fmla="val 8889"/>
            </a:avLst>
          </a:prstGeom>
          <a:solidFill>
            <a:schemeClr val="accent6"/>
          </a:solidFill>
          <a:ln w="12700">
            <a:solidFill>
              <a:srgbClr val="2A2A2A"/>
            </a:solidFill>
            <a:prstDash val="solid"/>
          </a:ln>
        </p:spPr>
      </p:sp>
      <p:pic>
        <p:nvPicPr>
          <p:cNvPr id="28" name="Image 4" descr="preencoded.png">    </p:cNvPr>
          <p:cNvPicPr>
            <a:picLocks noChangeAspect="1"/>
          </p:cNvPicPr>
          <p:nvPr/>
        </p:nvPicPr>
        <p:blipFill>
          <a:blip r:embed="rId5"/>
          <a:stretch>
            <a:fillRect/>
          </a:stretch>
        </p:blipFill>
        <p:spPr>
          <a:xfrm>
            <a:off x="822960" y="5074920"/>
            <a:ext cx="548640" cy="548640"/>
          </a:xfrm>
          <a:prstGeom prst="rect">
            <a:avLst/>
          </a:prstGeom>
        </p:spPr>
      </p:pic>
      <p:sp>
        <p:nvSpPr>
          <p:cNvPr id="29" name="Text 22"/>
          <p:cNvSpPr txBox="1"/>
          <p:nvPr/>
        </p:nvSpPr>
        <p:spPr>
          <a:xfrm>
            <a:off x="1600200" y="4754880"/>
            <a:ext cx="9784080" cy="1234440"/>
          </a:xfrm>
          <a:prstGeom prst="rect">
            <a:avLst/>
          </a:prstGeom>
          <a:noFill/>
          <a:ln/>
        </p:spPr>
        <p:txBody>
          <a:bodyPr wrap="square" lIns="0" tIns="0" rIns="0" bIns="0" rtlCol="0" anchor="ctr"/>
          <a:lstStyle/>
          <a:p>
            <a:pPr indent="0" marL="0">
              <a:buNone/>
            </a:pPr>
            <a:r>
              <a:rPr lang="en-US" sz="1500" b="1" dirty="0">
                <a:solidFill>
                  <a:schemeClr val="accent4"/>
                </a:solidFill>
              </a:rPr>
              <a:t>Plan gratuito: </a:t>
            </a:r>
            <a:pPr indent="0" marL="0">
              <a:buNone/>
            </a:pPr>
            <a:r>
              <a:rPr lang="en-US" sz="1500" dirty="0">
                <a:solidFill>
                  <a:schemeClr val="tx1"/>
                </a:solidFill>
              </a:rPr>
              <a:t>Render duerme los servicios tras 15 min sin uso. Antes de la demo hay que abrir el /health de cada servicio y esperar a que /health/services muestre los tres en «ok».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411480"/>
          </a:xfrm>
          <a:prstGeom prst="rect">
            <a:avLst/>
          </a:prstGeom>
          <a:noFill/>
          <a:ln/>
        </p:spPr>
        <p:txBody>
          <a:bodyPr wrap="square" lIns="0" tIns="0" rIns="0" bIns="0" rtlCol="0"/>
          <a:lstStyle/>
          <a:p>
            <a:pPr indent="0" marL="0">
              <a:buNone/>
            </a:pPr>
            <a:r>
              <a:rPr lang="en-US" sz="1600" b="1" dirty="0">
                <a:solidFill>
                  <a:schemeClr val="accent1"/>
                </a:solidFill>
              </a:rPr>
              <a:t>Segunda parte</a:t>
            </a:r>
            <a:endParaRPr lang="en-US" sz="1600" dirty="0"/>
          </a:p>
        </p:txBody>
      </p:sp>
      <p:sp>
        <p:nvSpPr>
          <p:cNvPr id="3" name="Text 0"/>
          <p:cNvSpPr/>
          <p:nvPr>
            <p:ph idx="101" type="title" hasCustomPrompt="1"/>
          </p:nvPr>
        </p:nvSpPr>
        <p:spPr>
          <a:xfrm>
            <a:off x="548640" y="2834640"/>
            <a:ext cx="10058400" cy="1097280"/>
          </a:xfrm>
          <a:prstGeom prst="rect">
            <a:avLst/>
          </a:prstGeom>
          <a:noFill/>
          <a:ln/>
        </p:spPr>
        <p:txBody>
          <a:bodyPr wrap="square" lIns="0" tIns="0" rIns="0" bIns="0" rtlCol="0" anchor="t"/>
          <a:lstStyle/>
          <a:p>
            <a:pPr algn="l" indent="0" marL="0">
              <a:buNone/>
            </a:pPr>
            <a:r>
              <a:rPr lang="en-US" sz="4800" b="1" dirty="0">
                <a:solidFill>
                  <a:schemeClr val="tx1"/>
                </a:solidFill>
                <a:latin typeface="Arial" pitchFamily="34" charset="0"/>
                <a:ea typeface="Arial" pitchFamily="34" charset="-122"/>
                <a:cs typeface="Arial" pitchFamily="34" charset="-120"/>
              </a:rPr>
              <a:t>Pruebas de software</a:t>
            </a:r>
            <a:endParaRPr lang="en-US" sz="48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2000" dirty="0">
                <a:solidFill>
                  <a:schemeClr val="tx2"/>
                </a:solidFill>
              </a:rPr>
              <a:t>Cuatro tipos de prueba, 128 casos y todos con evidencia en el repositorio</a:t>
            </a:r>
            <a:endParaRPr lang="en-US" sz="2000" dirty="0"/>
          </a:p>
        </p:txBody>
      </p:sp>
      <p:sp>
        <p:nvSpPr>
          <p:cNvPr id="5" name="Shape 3"/>
          <p:cNvSpPr/>
          <p:nvPr/>
        </p:nvSpPr>
        <p:spPr>
          <a:xfrm>
            <a:off x="548640" y="1371600"/>
            <a:ext cx="822960" cy="822960"/>
          </a:xfrm>
          <a:prstGeom prst="ellipse">
            <a:avLst/>
          </a:prstGeom>
          <a:solidFill>
            <a:schemeClr val="accent6"/>
          </a:solidFill>
          <a:ln w="12700">
            <a:solidFill>
              <a:srgbClr val="2A2A2A"/>
            </a:solidFill>
            <a:prstDash val="solid"/>
          </a:ln>
        </p:spPr>
      </p:sp>
      <p:pic>
        <p:nvPicPr>
          <p:cNvPr id="6" name="Image 0" descr="preencoded.png">    </p:cNvPr>
          <p:cNvPicPr>
            <a:picLocks noChangeAspect="1"/>
          </p:cNvPicPr>
          <p:nvPr/>
        </p:nvPicPr>
        <p:blipFill>
          <a:blip r:embed="rId1"/>
          <a:stretch>
            <a:fillRect/>
          </a:stretch>
        </p:blipFill>
        <p:spPr>
          <a:xfrm>
            <a:off x="746150" y="1569110"/>
            <a:ext cx="427939" cy="4279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Estrategia: cuatro tipos de prueba</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3840480"/>
                <a:gridCol w="2926080"/>
                <a:gridCol w="2560320"/>
              </a:tblGrid>
              <a:tr h="566928">
                <a:tc>
                  <a:txBody>
                    <a:bodyPr/>
                    <a:lstStyle/>
                    <a:p>
                      <a:pPr indent="0" marL="0">
                        <a:buNone/>
                      </a:pPr>
                      <a:r>
                        <a:rPr lang="en-US" sz="1400" b="1" dirty="0">
                          <a:solidFill>
                            <a:srgbClr val="131313"/>
                          </a:solidFill>
                        </a:rPr>
                        <a:t>Tipo</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C8D400"/>
                    </a:solidFill>
                  </a:tcPr>
                </a:tc>
                <a:tc>
                  <a:txBody>
                    <a:bodyPr/>
                    <a:lstStyle/>
                    <a:p>
                      <a:pPr indent="0" marL="0">
                        <a:buNone/>
                      </a:pPr>
                      <a:r>
                        <a:rPr lang="en-US" sz="1400" b="1" dirty="0">
                          <a:solidFill>
                            <a:srgbClr val="131313"/>
                          </a:solidFill>
                        </a:rPr>
                        <a:t>Qué valida</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C8D400"/>
                    </a:solidFill>
                  </a:tcPr>
                </a:tc>
                <a:tc>
                  <a:txBody>
                    <a:bodyPr/>
                    <a:lstStyle/>
                    <a:p>
                      <a:pPr indent="0" marL="0">
                        <a:buNone/>
                      </a:pPr>
                      <a:r>
                        <a:rPr lang="en-US" sz="1400" b="1" dirty="0">
                          <a:solidFill>
                            <a:srgbClr val="131313"/>
                          </a:solidFill>
                        </a:rPr>
                        <a:t>Herramienta en Mail Guard</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C8D400"/>
                    </a:solidFill>
                  </a:tcPr>
                </a:tc>
                <a:tc>
                  <a:txBody>
                    <a:bodyPr/>
                    <a:lstStyle/>
                    <a:p>
                      <a:pPr indent="0" marL="0">
                        <a:buNone/>
                      </a:pPr>
                      <a:r>
                        <a:rPr lang="en-US" sz="1400" b="1" dirty="0">
                          <a:solidFill>
                            <a:srgbClr val="131313"/>
                          </a:solidFill>
                        </a:rPr>
                        <a:t>Visto en clase</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C8D400"/>
                    </a:solidFill>
                  </a:tcPr>
                </a:tc>
              </a:tr>
              <a:tr h="566928">
                <a:tc>
                  <a:txBody>
                    <a:bodyPr/>
                    <a:lstStyle/>
                    <a:p>
                      <a:pPr indent="0" marL="0">
                        <a:buNone/>
                      </a:pPr>
                      <a:r>
                        <a:rPr lang="en-US" sz="1400" b="1" dirty="0">
                          <a:solidFill>
                            <a:srgbClr val="FFFFFF"/>
                          </a:solidFill>
                        </a:rPr>
                        <a:t>Unitarias</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Una función o caso de uso aislado</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bun test</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Jasmine · JUnit · pytest</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r h="566928">
                <a:tc>
                  <a:txBody>
                    <a:bodyPr/>
                    <a:lstStyle/>
                    <a:p>
                      <a:pPr indent="0" marL="0">
                        <a:buNone/>
                      </a:pPr>
                      <a:r>
                        <a:rPr lang="en-US" sz="1400" b="1" dirty="0">
                          <a:solidFill>
                            <a:srgbClr val="FFFFFF"/>
                          </a:solidFill>
                        </a:rPr>
                        <a:t>API</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Endpoints HTTP reales entre los 3 servicios</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bun test + Postman / Newman</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Postman</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r h="566928">
                <a:tc>
                  <a:txBody>
                    <a:bodyPr/>
                    <a:lstStyle/>
                    <a:p>
                      <a:pPr indent="0" marL="0">
                        <a:buNone/>
                      </a:pPr>
                      <a:r>
                        <a:rPr lang="en-US" sz="1400" b="1" dirty="0">
                          <a:solidFill>
                            <a:srgbClr val="FFFFFF"/>
                          </a:solidFill>
                        </a:rPr>
                        <a:t>Seguridad</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Autenticación, autorización y abuso</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bun test + Supabase real</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Autenticación y autorización</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r h="566928">
                <a:tc>
                  <a:txBody>
                    <a:bodyPr/>
                    <a:lstStyle/>
                    <a:p>
                      <a:pPr indent="0" marL="0">
                        <a:buNone/>
                      </a:pPr>
                      <a:r>
                        <a:rPr lang="en-US" sz="1400" b="1" dirty="0">
                          <a:solidFill>
                            <a:srgbClr val="FFFFFF"/>
                          </a:solidFill>
                        </a:rPr>
                        <a:t>Aceptación</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Casos de uso en Dado / Cuando / Entonces</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Gherkin (formato Cucumber)</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c>
                  <a:txBody>
                    <a:bodyPr/>
                    <a:lstStyle/>
                    <a:p>
                      <a:pPr indent="0" marL="0">
                        <a:buNone/>
                      </a:pPr>
                      <a:r>
                        <a:rPr lang="en-US" sz="1400" dirty="0">
                          <a:solidFill>
                            <a:srgbClr val="FFFFFF"/>
                          </a:solidFill>
                        </a:rPr>
                        <a:t>Cucumber</a:t>
                      </a:r>
                      <a:endParaRPr lang="en-US" sz="1400" dirty="0"/>
                    </a:p>
                  </a:txBody>
                  <a:tcPr marL="137160" marR="137160" marT="45720" marB="45720" anchor="ctr">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E1E1E"/>
                    </a:solidFill>
                  </a:tcPr>
                </a:tc>
              </a:tr>
            </a:tbl>
          </a:graphicData>
        </a:graphic>
      </p:graphicFrame>
      <p:sp>
        <p:nvSpPr>
          <p:cNvPr id="4" name="Shape 1"/>
          <p:cNvSpPr/>
          <p:nvPr/>
        </p:nvSpPr>
        <p:spPr>
          <a:xfrm>
            <a:off x="548640" y="4572000"/>
            <a:ext cx="11064240" cy="1371600"/>
          </a:xfrm>
          <a:prstGeom prst="roundRect">
            <a:avLst>
              <a:gd name="adj" fmla="val 8000"/>
            </a:avLst>
          </a:prstGeom>
          <a:solidFill>
            <a:schemeClr val="accent6"/>
          </a:solidFill>
          <a:ln w="12700">
            <a:solidFill>
              <a:srgbClr val="2A2A2A"/>
            </a:solidFill>
            <a:prstDash val="solid"/>
          </a:ln>
        </p:spPr>
      </p:sp>
      <p:sp>
        <p:nvSpPr>
          <p:cNvPr id="5" name="Text 2"/>
          <p:cNvSpPr txBox="1"/>
          <p:nvPr/>
        </p:nvSpPr>
        <p:spPr>
          <a:xfrm>
            <a:off x="822960" y="4572000"/>
            <a:ext cx="10515600" cy="1371600"/>
          </a:xfrm>
          <a:prstGeom prst="rect">
            <a:avLst/>
          </a:prstGeom>
          <a:noFill/>
          <a:ln/>
        </p:spPr>
        <p:txBody>
          <a:bodyPr wrap="square" lIns="0" tIns="0" rIns="0" bIns="0" rtlCol="0" anchor="ctr"/>
          <a:lstStyle/>
          <a:p>
            <a:pPr indent="0" marL="0">
              <a:buNone/>
            </a:pPr>
            <a:r>
              <a:rPr lang="en-US" sz="1500" b="1" dirty="0">
                <a:solidFill>
                  <a:schemeClr val="accent1"/>
                </a:solidFill>
              </a:rPr>
              <a:t>¿Y Selenium o Appium? </a:t>
            </a:r>
            <a:pPr indent="0" marL="0">
              <a:buNone/>
            </a:pPr>
            <a:r>
              <a:rPr lang="en-US" sz="1500" dirty="0">
                <a:solidFill>
                  <a:schemeClr val="tx1"/>
                </a:solidFill>
              </a:rPr>
              <a:t>No hay app móvil (Appium no aplica) y las pruebas se centran en los microservicios; automatizar la extensión con Selenium queda como trabajo futuro.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Resultados: 128 de 128 pruebas pasan</a:t>
            </a:r>
            <a:endParaRPr lang="en-US" sz="3200" dirty="0"/>
          </a:p>
        </p:txBody>
      </p:sp>
      <p:sp>
        <p:nvSpPr>
          <p:cNvPr id="3" name="Shape 1"/>
          <p:cNvSpPr/>
          <p:nvPr/>
        </p:nvSpPr>
        <p:spPr>
          <a:xfrm>
            <a:off x="548640" y="1371600"/>
            <a:ext cx="3931920" cy="1024128"/>
          </a:xfrm>
          <a:prstGeom prst="roundRect">
            <a:avLst>
              <a:gd name="adj" fmla="val 10714"/>
            </a:avLst>
          </a:prstGeom>
          <a:solidFill>
            <a:schemeClr val="bg2"/>
          </a:solidFill>
          <a:ln w="12700">
            <a:solidFill>
              <a:srgbClr val="2A2A2A"/>
            </a:solidFill>
            <a:prstDash val="solid"/>
          </a:ln>
        </p:spPr>
      </p:sp>
      <p:sp>
        <p:nvSpPr>
          <p:cNvPr id="4" name="Text 2"/>
          <p:cNvSpPr txBox="1"/>
          <p:nvPr/>
        </p:nvSpPr>
        <p:spPr>
          <a:xfrm>
            <a:off x="822960" y="1371600"/>
            <a:ext cx="2240280" cy="1024128"/>
          </a:xfrm>
          <a:prstGeom prst="rect">
            <a:avLst/>
          </a:prstGeom>
          <a:noFill/>
          <a:ln/>
        </p:spPr>
        <p:txBody>
          <a:bodyPr wrap="square" lIns="0" tIns="0" rIns="0" bIns="0" rtlCol="0" anchor="ctr"/>
          <a:lstStyle/>
          <a:p>
            <a:pPr indent="0" marL="0">
              <a:buNone/>
            </a:pPr>
            <a:r>
              <a:rPr lang="en-US" sz="3200" b="1" dirty="0">
                <a:solidFill>
                  <a:schemeClr val="accent2"/>
                </a:solidFill>
              </a:rPr>
              <a:t>128/128</a:t>
            </a:r>
            <a:endParaRPr lang="en-US" sz="3200" dirty="0"/>
          </a:p>
        </p:txBody>
      </p:sp>
      <p:sp>
        <p:nvSpPr>
          <p:cNvPr id="5" name="Text 3"/>
          <p:cNvSpPr txBox="1"/>
          <p:nvPr/>
        </p:nvSpPr>
        <p:spPr>
          <a:xfrm>
            <a:off x="3108960" y="1371600"/>
            <a:ext cx="1280160" cy="1024128"/>
          </a:xfrm>
          <a:prstGeom prst="rect">
            <a:avLst/>
          </a:prstGeom>
          <a:noFill/>
          <a:ln/>
        </p:spPr>
        <p:txBody>
          <a:bodyPr wrap="square" lIns="0" tIns="0" rIns="0" bIns="0" rtlCol="0" anchor="ctr"/>
          <a:lstStyle/>
          <a:p>
            <a:pPr indent="0" marL="0">
              <a:buNone/>
            </a:pPr>
            <a:r>
              <a:rPr lang="en-US" sz="1400" dirty="0">
                <a:solidFill>
                  <a:schemeClr val="tx2"/>
                </a:solidFill>
              </a:rPr>
              <a:t>pruebas pasan</a:t>
            </a:r>
            <a:endParaRPr lang="en-US" sz="1400" dirty="0"/>
          </a:p>
        </p:txBody>
      </p:sp>
      <p:sp>
        <p:nvSpPr>
          <p:cNvPr id="6" name="Shape 4"/>
          <p:cNvSpPr/>
          <p:nvPr/>
        </p:nvSpPr>
        <p:spPr>
          <a:xfrm>
            <a:off x="548640" y="2542032"/>
            <a:ext cx="3931920" cy="1024128"/>
          </a:xfrm>
          <a:prstGeom prst="roundRect">
            <a:avLst>
              <a:gd name="adj" fmla="val 10714"/>
            </a:avLst>
          </a:prstGeom>
          <a:solidFill>
            <a:schemeClr val="bg2"/>
          </a:solidFill>
          <a:ln w="12700">
            <a:solidFill>
              <a:srgbClr val="2A2A2A"/>
            </a:solidFill>
            <a:prstDash val="solid"/>
          </a:ln>
        </p:spPr>
      </p:sp>
      <p:sp>
        <p:nvSpPr>
          <p:cNvPr id="7" name="Text 5"/>
          <p:cNvSpPr txBox="1"/>
          <p:nvPr/>
        </p:nvSpPr>
        <p:spPr>
          <a:xfrm>
            <a:off x="822960" y="2542032"/>
            <a:ext cx="2240280" cy="1024128"/>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8" name="Text 6"/>
          <p:cNvSpPr txBox="1"/>
          <p:nvPr/>
        </p:nvSpPr>
        <p:spPr>
          <a:xfrm>
            <a:off x="3108960" y="2542032"/>
            <a:ext cx="1280160" cy="1024128"/>
          </a:xfrm>
          <a:prstGeom prst="rect">
            <a:avLst/>
          </a:prstGeom>
          <a:noFill/>
          <a:ln/>
        </p:spPr>
        <p:txBody>
          <a:bodyPr wrap="square" lIns="0" tIns="0" rIns="0" bIns="0" rtlCol="0" anchor="ctr"/>
          <a:lstStyle/>
          <a:p>
            <a:pPr indent="0" marL="0">
              <a:buNone/>
            </a:pPr>
            <a:r>
              <a:rPr lang="en-US" sz="1400" dirty="0">
                <a:solidFill>
                  <a:schemeClr val="tx2"/>
                </a:solidFill>
              </a:rPr>
              <a:t>fallas</a:t>
            </a:r>
            <a:endParaRPr lang="en-US" sz="1400" dirty="0"/>
          </a:p>
        </p:txBody>
      </p:sp>
      <p:sp>
        <p:nvSpPr>
          <p:cNvPr id="9" name="Shape 7"/>
          <p:cNvSpPr/>
          <p:nvPr/>
        </p:nvSpPr>
        <p:spPr>
          <a:xfrm>
            <a:off x="548640" y="3712464"/>
            <a:ext cx="3931920" cy="1024128"/>
          </a:xfrm>
          <a:prstGeom prst="roundRect">
            <a:avLst>
              <a:gd name="adj" fmla="val 10714"/>
            </a:avLst>
          </a:prstGeom>
          <a:solidFill>
            <a:schemeClr val="bg2"/>
          </a:solidFill>
          <a:ln w="12700">
            <a:solidFill>
              <a:srgbClr val="2A2A2A"/>
            </a:solidFill>
            <a:prstDash val="solid"/>
          </a:ln>
        </p:spPr>
      </p:sp>
      <p:sp>
        <p:nvSpPr>
          <p:cNvPr id="10" name="Text 8"/>
          <p:cNvSpPr txBox="1"/>
          <p:nvPr/>
        </p:nvSpPr>
        <p:spPr>
          <a:xfrm>
            <a:off x="822960" y="3712464"/>
            <a:ext cx="2240280" cy="1024128"/>
          </a:xfrm>
          <a:prstGeom prst="rect">
            <a:avLst/>
          </a:prstGeom>
          <a:noFill/>
          <a:ln/>
        </p:spPr>
        <p:txBody>
          <a:bodyPr wrap="square" lIns="0" tIns="0" rIns="0" bIns="0" rtlCol="0" anchor="ctr"/>
          <a:lstStyle/>
          <a:p>
            <a:pPr indent="0" marL="0">
              <a:buNone/>
            </a:pPr>
            <a:r>
              <a:rPr lang="en-US" sz="3200" b="1" dirty="0">
                <a:solidFill>
                  <a:schemeClr val="accent1"/>
                </a:solidFill>
              </a:rPr>
              <a:t>251</a:t>
            </a:r>
            <a:endParaRPr lang="en-US" sz="3200" dirty="0"/>
          </a:p>
        </p:txBody>
      </p:sp>
      <p:sp>
        <p:nvSpPr>
          <p:cNvPr id="11" name="Text 9"/>
          <p:cNvSpPr txBox="1"/>
          <p:nvPr/>
        </p:nvSpPr>
        <p:spPr>
          <a:xfrm>
            <a:off x="3108960" y="3712464"/>
            <a:ext cx="1280160" cy="1024128"/>
          </a:xfrm>
          <a:prstGeom prst="rect">
            <a:avLst/>
          </a:prstGeom>
          <a:noFill/>
          <a:ln/>
        </p:spPr>
        <p:txBody>
          <a:bodyPr wrap="square" lIns="0" tIns="0" rIns="0" bIns="0" rtlCol="0" anchor="ctr"/>
          <a:lstStyle/>
          <a:p>
            <a:pPr indent="0" marL="0">
              <a:buNone/>
            </a:pPr>
            <a:r>
              <a:rPr lang="en-US" sz="1400" dirty="0">
                <a:solidFill>
                  <a:schemeClr val="tx2"/>
                </a:solidFill>
              </a:rPr>
              <a:t>aserciones (expect)</a:t>
            </a:r>
            <a:endParaRPr lang="en-US" sz="1400" dirty="0"/>
          </a:p>
        </p:txBody>
      </p:sp>
      <p:sp>
        <p:nvSpPr>
          <p:cNvPr id="12" name="Shape 10"/>
          <p:cNvSpPr/>
          <p:nvPr/>
        </p:nvSpPr>
        <p:spPr>
          <a:xfrm>
            <a:off x="548640" y="4882896"/>
            <a:ext cx="3931920" cy="1024128"/>
          </a:xfrm>
          <a:prstGeom prst="roundRect">
            <a:avLst>
              <a:gd name="adj" fmla="val 10714"/>
            </a:avLst>
          </a:prstGeom>
          <a:solidFill>
            <a:schemeClr val="bg2"/>
          </a:solidFill>
          <a:ln w="12700">
            <a:solidFill>
              <a:srgbClr val="2A2A2A"/>
            </a:solidFill>
            <a:prstDash val="solid"/>
          </a:ln>
        </p:spPr>
      </p:sp>
      <p:sp>
        <p:nvSpPr>
          <p:cNvPr id="13" name="Text 11"/>
          <p:cNvSpPr txBox="1"/>
          <p:nvPr/>
        </p:nvSpPr>
        <p:spPr>
          <a:xfrm>
            <a:off x="822960" y="4882896"/>
            <a:ext cx="2240280" cy="1024128"/>
          </a:xfrm>
          <a:prstGeom prst="rect">
            <a:avLst/>
          </a:prstGeom>
          <a:noFill/>
          <a:ln/>
        </p:spPr>
        <p:txBody>
          <a:bodyPr wrap="square" lIns="0" tIns="0" rIns="0" bIns="0" rtlCol="0" anchor="ctr"/>
          <a:lstStyle/>
          <a:p>
            <a:pPr indent="0" marL="0">
              <a:buNone/>
            </a:pPr>
            <a:r>
              <a:rPr lang="en-US" sz="3200" b="1" dirty="0">
                <a:solidFill>
                  <a:schemeClr val="accent1"/>
                </a:solidFill>
              </a:rPr>
              <a:t>17</a:t>
            </a:r>
            <a:endParaRPr lang="en-US" sz="3200" dirty="0"/>
          </a:p>
        </p:txBody>
      </p:sp>
      <p:sp>
        <p:nvSpPr>
          <p:cNvPr id="14" name="Text 12"/>
          <p:cNvSpPr txBox="1"/>
          <p:nvPr/>
        </p:nvSpPr>
        <p:spPr>
          <a:xfrm>
            <a:off x="3108960" y="4882896"/>
            <a:ext cx="1280160" cy="1024128"/>
          </a:xfrm>
          <a:prstGeom prst="rect">
            <a:avLst/>
          </a:prstGeom>
          <a:noFill/>
          <a:ln/>
        </p:spPr>
        <p:txBody>
          <a:bodyPr wrap="square" lIns="0" tIns="0" rIns="0" bIns="0" rtlCol="0" anchor="ctr"/>
          <a:lstStyle/>
          <a:p>
            <a:pPr indent="0" marL="0">
              <a:buNone/>
            </a:pPr>
            <a:r>
              <a:rPr lang="en-US" sz="1400" dirty="0">
                <a:solidFill>
                  <a:schemeClr val="tx2"/>
                </a:solidFill>
              </a:rPr>
              <a:t>archivos de prueba</a:t>
            </a:r>
            <a:endParaRPr lang="en-US" sz="1400" dirty="0"/>
          </a:p>
        </p:txBody>
      </p:sp>
      <p:sp>
        <p:nvSpPr>
          <p:cNvPr id="15" name="Shape 13"/>
          <p:cNvSpPr/>
          <p:nvPr/>
        </p:nvSpPr>
        <p:spPr>
          <a:xfrm>
            <a:off x="4709160" y="1371600"/>
            <a:ext cx="6903720" cy="4535424"/>
          </a:xfrm>
          <a:prstGeom prst="roundRect">
            <a:avLst>
              <a:gd name="adj" fmla="val 2419"/>
            </a:avLst>
          </a:prstGeom>
          <a:solidFill>
            <a:schemeClr val="bg2"/>
          </a:solidFill>
          <a:ln w="12700">
            <a:solidFill>
              <a:srgbClr val="2A2A2A"/>
            </a:solidFill>
            <a:prstDash val="solid"/>
          </a:ln>
        </p:spPr>
      </p:sp>
      <p:graphicFrame>
        <p:nvGraphicFramePr>
          <p:cNvPr id="16" name="Chart 0" descr=""/>
          <p:cNvGraphicFramePr/>
          <p:nvPr/>
        </p:nvGraphicFramePr>
        <p:xfrm>
          <a:off x="4892040" y="1508760"/>
          <a:ext cx="6537960" cy="42519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i="1" dirty="0">
                <a:solidFill>
                  <a:schemeClr val="tx2"/>
                </a:solidFill>
              </a:rPr>
              <a:t>13 de las 31 pruebas de API se ejecutan con Postman/Newman contra el gateway desplegado en Render.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Pruebas unitarias · 56</a:t>
            </a:r>
            <a:endParaRPr lang="en-US" sz="3200" dirty="0"/>
          </a:p>
        </p:txBody>
      </p:sp>
      <p:sp>
        <p:nvSpPr>
          <p:cNvPr id="3" name="Text 1"/>
          <p:cNvSpPr txBox="1"/>
          <p:nvPr/>
        </p:nvSpPr>
        <p:spPr>
          <a:xfrm>
            <a:off x="548640" y="1280160"/>
            <a:ext cx="5120640" cy="685800"/>
          </a:xfrm>
          <a:prstGeom prst="rect">
            <a:avLst/>
          </a:prstGeom>
          <a:noFill/>
          <a:ln/>
        </p:spPr>
        <p:txBody>
          <a:bodyPr wrap="square" lIns="0" tIns="0" rIns="0" bIns="0" rtlCol="0" anchor="t"/>
          <a:lstStyle/>
          <a:p>
            <a:pPr indent="0" marL="0">
              <a:buNone/>
            </a:pPr>
            <a:r>
              <a:rPr lang="en-US" sz="1600" dirty="0">
                <a:solidFill>
                  <a:schemeClr val="tx2"/>
                </a:solidFill>
              </a:rPr>
              <a:t>Prueban cada pieza por separado, reemplazando red y base de datos por dobles.</a:t>
            </a:r>
            <a:endParaRPr lang="en-US" sz="1600" dirty="0"/>
          </a:p>
        </p:txBody>
      </p:sp>
      <p:sp>
        <p:nvSpPr>
          <p:cNvPr id="4" name="Shape 2"/>
          <p:cNvSpPr/>
          <p:nvPr/>
        </p:nvSpPr>
        <p:spPr>
          <a:xfrm>
            <a:off x="548640" y="2103120"/>
            <a:ext cx="5120640" cy="658368"/>
          </a:xfrm>
          <a:prstGeom prst="roundRect">
            <a:avLst>
              <a:gd name="adj" fmla="val 16667"/>
            </a:avLst>
          </a:prstGeom>
          <a:solidFill>
            <a:schemeClr val="bg2"/>
          </a:solidFill>
          <a:ln w="12700">
            <a:solidFill>
              <a:srgbClr val="2A2A2A"/>
            </a:solidFill>
            <a:prstDash val="solid"/>
          </a:ln>
        </p:spPr>
      </p:sp>
      <p:sp>
        <p:nvSpPr>
          <p:cNvPr id="5" name="Text 3"/>
          <p:cNvSpPr txBox="1"/>
          <p:nvPr/>
        </p:nvSpPr>
        <p:spPr>
          <a:xfrm>
            <a:off x="777240" y="2157984"/>
            <a:ext cx="475488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scoring.test.ts</a:t>
            </a:r>
            <a:endParaRPr lang="en-US" sz="1200" dirty="0"/>
          </a:p>
        </p:txBody>
      </p:sp>
      <p:sp>
        <p:nvSpPr>
          <p:cNvPr id="6" name="Text 4"/>
          <p:cNvSpPr txBox="1"/>
          <p:nvPr/>
        </p:nvSpPr>
        <p:spPr>
          <a:xfrm>
            <a:off x="777240" y="2432304"/>
            <a:ext cx="4754880" cy="274320"/>
          </a:xfrm>
          <a:prstGeom prst="rect">
            <a:avLst/>
          </a:prstGeom>
          <a:noFill/>
          <a:ln/>
        </p:spPr>
        <p:txBody>
          <a:bodyPr wrap="square" lIns="0" tIns="0" rIns="0" bIns="0" rtlCol="0" anchor="t"/>
          <a:lstStyle/>
          <a:p>
            <a:pPr indent="0" marL="0">
              <a:buNone/>
            </a:pPr>
            <a:r>
              <a:rPr lang="en-US" sz="1400" dirty="0">
                <a:solidFill>
                  <a:schemeClr val="tx1"/>
                </a:solidFill>
              </a:rPr>
              <a:t>Puntaje y veredicto: phishing → peligroso</a:t>
            </a:r>
            <a:endParaRPr lang="en-US" sz="1400" dirty="0"/>
          </a:p>
        </p:txBody>
      </p:sp>
      <p:sp>
        <p:nvSpPr>
          <p:cNvPr id="7" name="Shape 5"/>
          <p:cNvSpPr/>
          <p:nvPr/>
        </p:nvSpPr>
        <p:spPr>
          <a:xfrm>
            <a:off x="548640" y="2871216"/>
            <a:ext cx="5120640" cy="658368"/>
          </a:xfrm>
          <a:prstGeom prst="roundRect">
            <a:avLst>
              <a:gd name="adj" fmla="val 16667"/>
            </a:avLst>
          </a:prstGeom>
          <a:solidFill>
            <a:schemeClr val="bg2"/>
          </a:solidFill>
          <a:ln w="12700">
            <a:solidFill>
              <a:srgbClr val="2A2A2A"/>
            </a:solidFill>
            <a:prstDash val="solid"/>
          </a:ln>
        </p:spPr>
      </p:sp>
      <p:sp>
        <p:nvSpPr>
          <p:cNvPr id="8" name="Text 6"/>
          <p:cNvSpPr txBox="1"/>
          <p:nvPr/>
        </p:nvSpPr>
        <p:spPr>
          <a:xfrm>
            <a:off x="777240" y="2926080"/>
            <a:ext cx="475488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evidence.test.ts</a:t>
            </a:r>
            <a:endParaRPr lang="en-US" sz="1200" dirty="0"/>
          </a:p>
        </p:txBody>
      </p:sp>
      <p:sp>
        <p:nvSpPr>
          <p:cNvPr id="9" name="Text 7"/>
          <p:cNvSpPr txBox="1"/>
          <p:nvPr/>
        </p:nvSpPr>
        <p:spPr>
          <a:xfrm>
            <a:off x="777240" y="3200400"/>
            <a:ext cx="4754880" cy="274320"/>
          </a:xfrm>
          <a:prstGeom prst="rect">
            <a:avLst/>
          </a:prstGeom>
          <a:noFill/>
          <a:ln/>
        </p:spPr>
        <p:txBody>
          <a:bodyPr wrap="square" lIns="0" tIns="0" rIns="0" bIns="0" rtlCol="0" anchor="t"/>
          <a:lstStyle/>
          <a:p>
            <a:pPr indent="0" marL="0">
              <a:buNone/>
            </a:pPr>
            <a:r>
              <a:rPr lang="en-US" sz="1400" dirty="0">
                <a:solidFill>
                  <a:schemeClr val="tx1"/>
                </a:solidFill>
              </a:rPr>
              <a:t>Dominios que imitan marcas, IPs, acortadores</a:t>
            </a:r>
            <a:endParaRPr lang="en-US" sz="1400" dirty="0"/>
          </a:p>
        </p:txBody>
      </p:sp>
      <p:sp>
        <p:nvSpPr>
          <p:cNvPr id="10" name="Shape 8"/>
          <p:cNvSpPr/>
          <p:nvPr/>
        </p:nvSpPr>
        <p:spPr>
          <a:xfrm>
            <a:off x="548640" y="3639312"/>
            <a:ext cx="5120640" cy="658368"/>
          </a:xfrm>
          <a:prstGeom prst="roundRect">
            <a:avLst>
              <a:gd name="adj" fmla="val 16667"/>
            </a:avLst>
          </a:prstGeom>
          <a:solidFill>
            <a:schemeClr val="bg2"/>
          </a:solidFill>
          <a:ln w="12700">
            <a:solidFill>
              <a:srgbClr val="2A2A2A"/>
            </a:solidFill>
            <a:prstDash val="solid"/>
          </a:ln>
        </p:spPr>
      </p:sp>
      <p:sp>
        <p:nvSpPr>
          <p:cNvPr id="11" name="Text 9"/>
          <p:cNvSpPr txBox="1"/>
          <p:nvPr/>
        </p:nvSpPr>
        <p:spPr>
          <a:xfrm>
            <a:off x="777240" y="3694176"/>
            <a:ext cx="475488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analyze-email.test.ts</a:t>
            </a:r>
            <a:endParaRPr lang="en-US" sz="1200" dirty="0"/>
          </a:p>
        </p:txBody>
      </p:sp>
      <p:sp>
        <p:nvSpPr>
          <p:cNvPr id="12" name="Text 10"/>
          <p:cNvSpPr txBox="1"/>
          <p:nvPr/>
        </p:nvSpPr>
        <p:spPr>
          <a:xfrm>
            <a:off x="777240" y="3968496"/>
            <a:ext cx="4754880" cy="274320"/>
          </a:xfrm>
          <a:prstGeom prst="rect">
            <a:avLst/>
          </a:prstGeom>
          <a:noFill/>
          <a:ln/>
        </p:spPr>
        <p:txBody>
          <a:bodyPr wrap="square" lIns="0" tIns="0" rIns="0" bIns="0" rtlCol="0" anchor="t"/>
          <a:lstStyle/>
          <a:p>
            <a:pPr indent="0" marL="0">
              <a:buNone/>
            </a:pPr>
            <a:r>
              <a:rPr lang="en-US" sz="1400" dirty="0">
                <a:solidFill>
                  <a:schemeClr val="tx1"/>
                </a:solidFill>
              </a:rPr>
              <a:t>Caché y respaldo cuando la IA falla</a:t>
            </a:r>
            <a:endParaRPr lang="en-US" sz="1400" dirty="0"/>
          </a:p>
        </p:txBody>
      </p:sp>
      <p:sp>
        <p:nvSpPr>
          <p:cNvPr id="13" name="Shape 11"/>
          <p:cNvSpPr/>
          <p:nvPr/>
        </p:nvSpPr>
        <p:spPr>
          <a:xfrm>
            <a:off x="548640" y="4407408"/>
            <a:ext cx="5120640" cy="658368"/>
          </a:xfrm>
          <a:prstGeom prst="roundRect">
            <a:avLst>
              <a:gd name="adj" fmla="val 16667"/>
            </a:avLst>
          </a:prstGeom>
          <a:solidFill>
            <a:schemeClr val="bg2"/>
          </a:solidFill>
          <a:ln w="12700">
            <a:solidFill>
              <a:srgbClr val="2A2A2A"/>
            </a:solidFill>
            <a:prstDash val="solid"/>
          </a:ln>
        </p:spPr>
      </p:sp>
      <p:sp>
        <p:nvSpPr>
          <p:cNvPr id="14" name="Text 12"/>
          <p:cNvSpPr txBox="1"/>
          <p:nvPr/>
        </p:nvSpPr>
        <p:spPr>
          <a:xfrm>
            <a:off x="777240" y="4462272"/>
            <a:ext cx="475488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gateway.test.ts</a:t>
            </a:r>
            <a:endParaRPr lang="en-US" sz="1200" dirty="0"/>
          </a:p>
        </p:txBody>
      </p:sp>
      <p:sp>
        <p:nvSpPr>
          <p:cNvPr id="15" name="Text 13"/>
          <p:cNvSpPr txBox="1"/>
          <p:nvPr/>
        </p:nvSpPr>
        <p:spPr>
          <a:xfrm>
            <a:off x="777240" y="4736592"/>
            <a:ext cx="4754880" cy="274320"/>
          </a:xfrm>
          <a:prstGeom prst="rect">
            <a:avLst/>
          </a:prstGeom>
          <a:noFill/>
          <a:ln/>
        </p:spPr>
        <p:txBody>
          <a:bodyPr wrap="square" lIns="0" tIns="0" rIns="0" bIns="0" rtlCol="0" anchor="t"/>
          <a:lstStyle/>
          <a:p>
            <a:pPr indent="0" marL="0">
              <a:buNone/>
            </a:pPr>
            <a:r>
              <a:rPr lang="en-US" sz="1400" dirty="0">
                <a:solidFill>
                  <a:schemeClr val="tx1"/>
                </a:solidFill>
              </a:rPr>
              <a:t>Cuota, guardado con JWT, validación</a:t>
            </a:r>
            <a:endParaRPr lang="en-US" sz="1400" dirty="0"/>
          </a:p>
        </p:txBody>
      </p:sp>
      <p:sp>
        <p:nvSpPr>
          <p:cNvPr id="16" name="Shape 14"/>
          <p:cNvSpPr/>
          <p:nvPr/>
        </p:nvSpPr>
        <p:spPr>
          <a:xfrm>
            <a:off x="548640" y="5175504"/>
            <a:ext cx="5120640" cy="658368"/>
          </a:xfrm>
          <a:prstGeom prst="roundRect">
            <a:avLst>
              <a:gd name="adj" fmla="val 16667"/>
            </a:avLst>
          </a:prstGeom>
          <a:solidFill>
            <a:schemeClr val="bg2"/>
          </a:solidFill>
          <a:ln w="12700">
            <a:solidFill>
              <a:srgbClr val="2A2A2A"/>
            </a:solidFill>
            <a:prstDash val="solid"/>
          </a:ln>
        </p:spPr>
      </p:sp>
      <p:sp>
        <p:nvSpPr>
          <p:cNvPr id="17" name="Text 15"/>
          <p:cNvSpPr txBox="1"/>
          <p:nvPr/>
        </p:nvSpPr>
        <p:spPr>
          <a:xfrm>
            <a:off x="777240" y="5230368"/>
            <a:ext cx="4754880" cy="27432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use-cases.test.ts</a:t>
            </a:r>
            <a:endParaRPr lang="en-US" sz="1200" dirty="0"/>
          </a:p>
        </p:txBody>
      </p:sp>
      <p:sp>
        <p:nvSpPr>
          <p:cNvPr id="18" name="Text 16"/>
          <p:cNvSpPr txBox="1"/>
          <p:nvPr/>
        </p:nvSpPr>
        <p:spPr>
          <a:xfrm>
            <a:off x="777240" y="5504688"/>
            <a:ext cx="4754880" cy="274320"/>
          </a:xfrm>
          <a:prstGeom prst="rect">
            <a:avLst/>
          </a:prstGeom>
          <a:noFill/>
          <a:ln/>
        </p:spPr>
        <p:txBody>
          <a:bodyPr wrap="square" lIns="0" tIns="0" rIns="0" bIns="0" rtlCol="0" anchor="t"/>
          <a:lstStyle/>
          <a:p>
            <a:pPr indent="0" marL="0">
              <a:buNone/>
            </a:pPr>
            <a:r>
              <a:rPr lang="en-US" sz="1400" dirty="0">
                <a:solidFill>
                  <a:schemeClr val="tx1"/>
                </a:solidFill>
              </a:rPr>
              <a:t>Historial: deduplicar, métricas, borrar</a:t>
            </a:r>
            <a:endParaRPr lang="en-US" sz="1400" dirty="0"/>
          </a:p>
        </p:txBody>
      </p:sp>
      <p:pic>
        <p:nvPicPr>
          <p:cNvPr id="19" name="Image 0" descr="preencoded.png">    </p:cNvPr>
          <p:cNvPicPr>
            <a:picLocks noChangeAspect="1"/>
          </p:cNvPicPr>
          <p:nvPr/>
        </p:nvPicPr>
        <p:blipFill>
          <a:blip r:embed="rId1"/>
          <a:stretch>
            <a:fillRect/>
          </a:stretch>
        </p:blipFill>
        <p:spPr>
          <a:xfrm>
            <a:off x="5989320" y="1280160"/>
            <a:ext cx="5650992" cy="3862983"/>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Pruebas de API · 31</a:t>
            </a:r>
            <a:endParaRPr lang="en-US" sz="3200" dirty="0"/>
          </a:p>
        </p:txBody>
      </p:sp>
      <p:sp>
        <p:nvSpPr>
          <p:cNvPr id="3" name="Shape 1"/>
          <p:cNvSpPr/>
          <p:nvPr/>
        </p:nvSpPr>
        <p:spPr>
          <a:xfrm>
            <a:off x="548640" y="1280160"/>
            <a:ext cx="5120640" cy="2331720"/>
          </a:xfrm>
          <a:prstGeom prst="roundRect">
            <a:avLst>
              <a:gd name="adj" fmla="val 4706"/>
            </a:avLst>
          </a:prstGeom>
          <a:solidFill>
            <a:schemeClr val="bg2"/>
          </a:solidFill>
          <a:ln w="12700">
            <a:solidFill>
              <a:srgbClr val="2A2A2A"/>
            </a:solidFill>
            <a:prstDash val="solid"/>
          </a:ln>
        </p:spPr>
      </p:sp>
      <p:sp>
        <p:nvSpPr>
          <p:cNvPr id="4" name="Text 2"/>
          <p:cNvSpPr txBox="1"/>
          <p:nvPr/>
        </p:nvSpPr>
        <p:spPr>
          <a:xfrm>
            <a:off x="822960" y="1417320"/>
            <a:ext cx="4663440" cy="365760"/>
          </a:xfrm>
          <a:prstGeom prst="rect">
            <a:avLst/>
          </a:prstGeom>
          <a:noFill/>
          <a:ln/>
        </p:spPr>
        <p:txBody>
          <a:bodyPr wrap="square" lIns="0" tIns="0" rIns="0" bIns="0" rtlCol="0" anchor="t"/>
          <a:lstStyle/>
          <a:p>
            <a:pPr indent="0" marL="0">
              <a:buNone/>
            </a:pPr>
            <a:r>
              <a:rPr lang="en-US" sz="1600" b="1" dirty="0">
                <a:solidFill>
                  <a:schemeClr val="accent1"/>
                </a:solidFill>
              </a:rPr>
              <a:t>18 pruebas automáticas · test/api/</a:t>
            </a:r>
            <a:endParaRPr lang="en-US" sz="1600" dirty="0"/>
          </a:p>
        </p:txBody>
      </p:sp>
      <p:sp>
        <p:nvSpPr>
          <p:cNvPr id="5" name="Text 3"/>
          <p:cNvSpPr txBox="1"/>
          <p:nvPr/>
        </p:nvSpPr>
        <p:spPr>
          <a:xfrm>
            <a:off x="822960" y="1828800"/>
            <a:ext cx="466344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Se levantan los 3 microservicios reales y se hablan por HTTP</a:t>
            </a:r>
            <a:endParaRPr lang="en-US" sz="1400" dirty="0"/>
          </a:p>
          <a:p>
            <a:pPr marL="342900" indent="-342900">
              <a:spcAft>
                <a:spcPts val="400"/>
              </a:spcAft>
              <a:buSzPct val="100000"/>
              <a:buChar char="•"/>
            </a:pPr>
            <a:r>
              <a:rPr lang="en-US" sz="1400" dirty="0">
                <a:solidFill>
                  <a:schemeClr val="tx2"/>
                </a:solidFill>
              </a:rPr>
              <a:t>Salud, análisis, caché, historial, perfil y borrado</a:t>
            </a:r>
            <a:endParaRPr lang="en-US" sz="1400" dirty="0"/>
          </a:p>
          <a:p>
            <a:pPr marL="342900" indent="-342900">
              <a:spcAft>
                <a:spcPts val="400"/>
              </a:spcAft>
              <a:buSzPct val="100000"/>
              <a:buChar char="•"/>
            </a:pPr>
            <a:r>
              <a:rPr lang="en-US" sz="1400" dirty="0">
                <a:solidFill>
                  <a:schemeClr val="tx2"/>
                </a:solidFill>
              </a:rPr>
              <a:t>Errores: 400 cuerpo inválido, 404 ruta inexistente</a:t>
            </a:r>
            <a:endParaRPr lang="en-US" sz="1400" dirty="0"/>
          </a:p>
        </p:txBody>
      </p:sp>
      <p:sp>
        <p:nvSpPr>
          <p:cNvPr id="6" name="Shape 4"/>
          <p:cNvSpPr/>
          <p:nvPr/>
        </p:nvSpPr>
        <p:spPr>
          <a:xfrm>
            <a:off x="548640" y="3749040"/>
            <a:ext cx="5120640" cy="2331720"/>
          </a:xfrm>
          <a:prstGeom prst="roundRect">
            <a:avLst>
              <a:gd name="adj" fmla="val 4706"/>
            </a:avLst>
          </a:prstGeom>
          <a:solidFill>
            <a:schemeClr val="bg2"/>
          </a:solidFill>
          <a:ln w="12700">
            <a:solidFill>
              <a:srgbClr val="2A2A2A"/>
            </a:solidFill>
            <a:prstDash val="solid"/>
          </a:ln>
        </p:spPr>
      </p:sp>
      <p:sp>
        <p:nvSpPr>
          <p:cNvPr id="7" name="Text 5"/>
          <p:cNvSpPr txBox="1"/>
          <p:nvPr/>
        </p:nvSpPr>
        <p:spPr>
          <a:xfrm>
            <a:off x="822960" y="3886200"/>
            <a:ext cx="4663440" cy="365760"/>
          </a:xfrm>
          <a:prstGeom prst="rect">
            <a:avLst/>
          </a:prstGeom>
          <a:noFill/>
          <a:ln/>
        </p:spPr>
        <p:txBody>
          <a:bodyPr wrap="square" lIns="0" tIns="0" rIns="0" bIns="0" rtlCol="0" anchor="t"/>
          <a:lstStyle/>
          <a:p>
            <a:pPr indent="0" marL="0">
              <a:buNone/>
            </a:pPr>
            <a:r>
              <a:rPr lang="en-US" sz="1600" b="1" dirty="0">
                <a:solidFill>
                  <a:schemeClr val="accent1"/>
                </a:solidFill>
              </a:rPr>
              <a:t>Postman · 13 aserciones</a:t>
            </a:r>
            <a:endParaRPr lang="en-US" sz="1600" dirty="0"/>
          </a:p>
        </p:txBody>
      </p:sp>
      <p:sp>
        <p:nvSpPr>
          <p:cNvPr id="8" name="Text 6"/>
          <p:cNvSpPr txBox="1"/>
          <p:nvPr/>
        </p:nvSpPr>
        <p:spPr>
          <a:xfrm>
            <a:off x="822960" y="4297680"/>
            <a:ext cx="466344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6 peticiones contra el gateway real en Render (docs/postman/)</a:t>
            </a:r>
            <a:endParaRPr lang="en-US" sz="1400" dirty="0"/>
          </a:p>
          <a:p>
            <a:pPr marL="342900" indent="-342900">
              <a:spcAft>
                <a:spcPts val="400"/>
              </a:spcAft>
              <a:buSzPct val="100000"/>
              <a:buChar char="•"/>
            </a:pPr>
            <a:r>
              <a:rPr lang="en-US" sz="1400" dirty="0">
                <a:solidFill>
                  <a:schemeClr val="tx2"/>
                </a:solidFill>
              </a:rPr>
              <a:t>Se importa en Postman o se corre con Newman</a:t>
            </a:r>
            <a:endParaRPr lang="en-US" sz="1400" dirty="0"/>
          </a:p>
          <a:p>
            <a:pPr marL="342900" indent="-342900">
              <a:spcAft>
                <a:spcPts val="400"/>
              </a:spcAft>
              <a:buSzPct val="100000"/>
              <a:buChar char="•"/>
            </a:pPr>
            <a:r>
              <a:rPr lang="en-US" sz="1400" dirty="0">
                <a:solidFill>
                  <a:schemeClr val="tx2"/>
                </a:solidFill>
              </a:rPr>
              <a:t>La IA real (Jev) marcó el phishing como peligroso</a:t>
            </a:r>
            <a:endParaRPr lang="en-US" sz="1400" dirty="0"/>
          </a:p>
        </p:txBody>
      </p:sp>
      <p:pic>
        <p:nvPicPr>
          <p:cNvPr id="9" name="Image 0" descr="preencoded.png">    </p:cNvPr>
          <p:cNvPicPr>
            <a:picLocks noChangeAspect="1"/>
          </p:cNvPicPr>
          <p:nvPr/>
        </p:nvPicPr>
        <p:blipFill>
          <a:blip r:embed="rId1"/>
          <a:stretch>
            <a:fillRect/>
          </a:stretch>
        </p:blipFill>
        <p:spPr>
          <a:xfrm>
            <a:off x="5989320" y="1280160"/>
            <a:ext cx="5650992" cy="3862983"/>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Pruebas de seguridad · 33</a:t>
            </a:r>
            <a:endParaRPr lang="en-US" sz="3200" dirty="0"/>
          </a:p>
        </p:txBody>
      </p:sp>
      <p:sp>
        <p:nvSpPr>
          <p:cNvPr id="3" name="Shape 1"/>
          <p:cNvSpPr/>
          <p:nvPr/>
        </p:nvSpPr>
        <p:spPr>
          <a:xfrm>
            <a:off x="548640" y="1280160"/>
            <a:ext cx="5120640" cy="1078992"/>
          </a:xfrm>
          <a:prstGeom prst="roundRect">
            <a:avLst>
              <a:gd name="adj" fmla="val 10169"/>
            </a:avLst>
          </a:prstGeom>
          <a:solidFill>
            <a:schemeClr val="bg2"/>
          </a:solidFill>
          <a:ln w="12700">
            <a:solidFill>
              <a:srgbClr val="2A2A2A"/>
            </a:solidFill>
            <a:prstDash val="solid"/>
          </a:ln>
        </p:spPr>
      </p:sp>
      <p:sp>
        <p:nvSpPr>
          <p:cNvPr id="4" name="Text 2"/>
          <p:cNvSpPr txBox="1"/>
          <p:nvPr/>
        </p:nvSpPr>
        <p:spPr>
          <a:xfrm>
            <a:off x="777240" y="1371600"/>
            <a:ext cx="4663440" cy="320040"/>
          </a:xfrm>
          <a:prstGeom prst="rect">
            <a:avLst/>
          </a:prstGeom>
          <a:noFill/>
          <a:ln/>
        </p:spPr>
        <p:txBody>
          <a:bodyPr wrap="square" lIns="0" tIns="0" rIns="0" bIns="0" rtlCol="0" anchor="t"/>
          <a:lstStyle/>
          <a:p>
            <a:pPr indent="0" marL="0">
              <a:buNone/>
            </a:pPr>
            <a:r>
              <a:rPr lang="en-US" sz="1500" b="1" dirty="0">
                <a:solidFill>
                  <a:schemeClr val="accent1"/>
                </a:solidFill>
              </a:rPr>
              <a:t>Gateway · 14</a:t>
            </a:r>
            <a:endParaRPr lang="en-US" sz="1500" dirty="0"/>
          </a:p>
        </p:txBody>
      </p:sp>
      <p:sp>
        <p:nvSpPr>
          <p:cNvPr id="5" name="Text 3"/>
          <p:cNvSpPr txBox="1"/>
          <p:nvPr/>
        </p:nvSpPr>
        <p:spPr>
          <a:xfrm>
            <a:off x="777240" y="1691640"/>
            <a:ext cx="4709160" cy="640080"/>
          </a:xfrm>
          <a:prstGeom prst="rect">
            <a:avLst/>
          </a:prstGeom>
          <a:noFill/>
          <a:ln/>
        </p:spPr>
        <p:txBody>
          <a:bodyPr wrap="square" lIns="0" tIns="0" rIns="0" bIns="0" rtlCol="0" anchor="t"/>
          <a:lstStyle/>
          <a:p>
            <a:pPr indent="0" marL="0">
              <a:buNone/>
            </a:pPr>
            <a:r>
              <a:rPr lang="en-US" sz="1250" dirty="0">
                <a:solidFill>
                  <a:schemeClr val="tx2"/>
                </a:solidFill>
              </a:rPr>
              <a:t>Sin token o con JWT falso → 401 · Ana no ve ni borra lo de Luis · cuota → 429 · cuerpo grande → 413 · cabeceras y CORS</a:t>
            </a:r>
            <a:endParaRPr lang="en-US" sz="1250" dirty="0"/>
          </a:p>
        </p:txBody>
      </p:sp>
      <p:sp>
        <p:nvSpPr>
          <p:cNvPr id="6" name="Shape 4"/>
          <p:cNvSpPr/>
          <p:nvPr/>
        </p:nvSpPr>
        <p:spPr>
          <a:xfrm>
            <a:off x="548640" y="2487168"/>
            <a:ext cx="5120640" cy="1078992"/>
          </a:xfrm>
          <a:prstGeom prst="roundRect">
            <a:avLst>
              <a:gd name="adj" fmla="val 10169"/>
            </a:avLst>
          </a:prstGeom>
          <a:solidFill>
            <a:schemeClr val="bg2"/>
          </a:solidFill>
          <a:ln w="12700">
            <a:solidFill>
              <a:srgbClr val="2A2A2A"/>
            </a:solidFill>
            <a:prstDash val="solid"/>
          </a:ln>
        </p:spPr>
      </p:sp>
      <p:sp>
        <p:nvSpPr>
          <p:cNvPr id="7" name="Text 5"/>
          <p:cNvSpPr txBox="1"/>
          <p:nvPr/>
        </p:nvSpPr>
        <p:spPr>
          <a:xfrm>
            <a:off x="777240" y="2578608"/>
            <a:ext cx="4663440" cy="320040"/>
          </a:xfrm>
          <a:prstGeom prst="rect">
            <a:avLst/>
          </a:prstGeom>
          <a:noFill/>
          <a:ln/>
        </p:spPr>
        <p:txBody>
          <a:bodyPr wrap="square" lIns="0" tIns="0" rIns="0" bIns="0" rtlCol="0" anchor="t"/>
          <a:lstStyle/>
          <a:p>
            <a:pPr indent="0" marL="0">
              <a:buNone/>
            </a:pPr>
            <a:r>
              <a:rPr lang="en-US" sz="1500" b="1" dirty="0">
                <a:solidFill>
                  <a:schemeClr val="accent1"/>
                </a:solidFill>
              </a:rPr>
              <a:t>analysis-service · 7</a:t>
            </a:r>
            <a:endParaRPr lang="en-US" sz="1500" dirty="0"/>
          </a:p>
        </p:txBody>
      </p:sp>
      <p:sp>
        <p:nvSpPr>
          <p:cNvPr id="8" name="Text 6"/>
          <p:cNvSpPr txBox="1"/>
          <p:nvPr/>
        </p:nvSpPr>
        <p:spPr>
          <a:xfrm>
            <a:off x="777240" y="2898648"/>
            <a:ext cx="4709160" cy="640080"/>
          </a:xfrm>
          <a:prstGeom prst="rect">
            <a:avLst/>
          </a:prstGeom>
          <a:noFill/>
          <a:ln/>
        </p:spPr>
        <p:txBody>
          <a:bodyPr wrap="square" lIns="0" tIns="0" rIns="0" bIns="0" rtlCol="0" anchor="t"/>
          <a:lstStyle/>
          <a:p>
            <a:pPr indent="0" marL="0">
              <a:buNone/>
            </a:pPr>
            <a:r>
              <a:rPr lang="en-US" sz="1250" dirty="0">
                <a:solidFill>
                  <a:schemeClr val="tx2"/>
                </a:solidFill>
              </a:rPr>
              <a:t>Sin token interno, o con uno incorrecto → 401 · /health no expone datos sensibles</a:t>
            </a:r>
            <a:endParaRPr lang="en-US" sz="1250" dirty="0"/>
          </a:p>
        </p:txBody>
      </p:sp>
      <p:sp>
        <p:nvSpPr>
          <p:cNvPr id="9" name="Shape 7"/>
          <p:cNvSpPr/>
          <p:nvPr/>
        </p:nvSpPr>
        <p:spPr>
          <a:xfrm>
            <a:off x="548640" y="3694176"/>
            <a:ext cx="5120640" cy="1078992"/>
          </a:xfrm>
          <a:prstGeom prst="roundRect">
            <a:avLst>
              <a:gd name="adj" fmla="val 10169"/>
            </a:avLst>
          </a:prstGeom>
          <a:solidFill>
            <a:schemeClr val="bg2"/>
          </a:solidFill>
          <a:ln w="12700">
            <a:solidFill>
              <a:srgbClr val="2A2A2A"/>
            </a:solidFill>
            <a:prstDash val="solid"/>
          </a:ln>
        </p:spPr>
      </p:sp>
      <p:sp>
        <p:nvSpPr>
          <p:cNvPr id="10" name="Text 8"/>
          <p:cNvSpPr txBox="1"/>
          <p:nvPr/>
        </p:nvSpPr>
        <p:spPr>
          <a:xfrm>
            <a:off x="777240" y="3785616"/>
            <a:ext cx="4663440" cy="320040"/>
          </a:xfrm>
          <a:prstGeom prst="rect">
            <a:avLst/>
          </a:prstGeom>
          <a:noFill/>
          <a:ln/>
        </p:spPr>
        <p:txBody>
          <a:bodyPr wrap="square" lIns="0" tIns="0" rIns="0" bIns="0" rtlCol="0" anchor="t"/>
          <a:lstStyle/>
          <a:p>
            <a:pPr indent="0" marL="0">
              <a:buNone/>
            </a:pPr>
            <a:r>
              <a:rPr lang="en-US" sz="1500" b="1" dirty="0">
                <a:solidFill>
                  <a:schemeClr val="accent1"/>
                </a:solidFill>
              </a:rPr>
              <a:t>history-service · 6</a:t>
            </a:r>
            <a:endParaRPr lang="en-US" sz="1500" dirty="0"/>
          </a:p>
        </p:txBody>
      </p:sp>
      <p:sp>
        <p:nvSpPr>
          <p:cNvPr id="11" name="Text 9"/>
          <p:cNvSpPr txBox="1"/>
          <p:nvPr/>
        </p:nvSpPr>
        <p:spPr>
          <a:xfrm>
            <a:off x="777240" y="4105656"/>
            <a:ext cx="4709160" cy="640080"/>
          </a:xfrm>
          <a:prstGeom prst="rect">
            <a:avLst/>
          </a:prstGeom>
          <a:noFill/>
          <a:ln/>
        </p:spPr>
        <p:txBody>
          <a:bodyPr wrap="square" lIns="0" tIns="0" rIns="0" bIns="0" rtlCol="0" anchor="t"/>
          <a:lstStyle/>
          <a:p>
            <a:pPr indent="0" marL="0">
              <a:buNone/>
            </a:pPr>
            <a:r>
              <a:rPr lang="en-US" sz="1250" dirty="0">
                <a:solidFill>
                  <a:schemeClr val="tx2"/>
                </a:solidFill>
              </a:rPr>
              <a:t>Doble llave: token interno + JWT · sin Supabase → 503 · id inválido → 404</a:t>
            </a:r>
            <a:endParaRPr lang="en-US" sz="1250" dirty="0"/>
          </a:p>
        </p:txBody>
      </p:sp>
      <p:sp>
        <p:nvSpPr>
          <p:cNvPr id="12" name="Shape 10"/>
          <p:cNvSpPr/>
          <p:nvPr/>
        </p:nvSpPr>
        <p:spPr>
          <a:xfrm>
            <a:off x="548640" y="4901184"/>
            <a:ext cx="5120640" cy="1078992"/>
          </a:xfrm>
          <a:prstGeom prst="roundRect">
            <a:avLst>
              <a:gd name="adj" fmla="val 10169"/>
            </a:avLst>
          </a:prstGeom>
          <a:solidFill>
            <a:schemeClr val="bg2"/>
          </a:solidFill>
          <a:ln w="12700">
            <a:solidFill>
              <a:srgbClr val="2A2A2A"/>
            </a:solidFill>
            <a:prstDash val="solid"/>
          </a:ln>
        </p:spPr>
      </p:sp>
      <p:sp>
        <p:nvSpPr>
          <p:cNvPr id="13" name="Text 11"/>
          <p:cNvSpPr txBox="1"/>
          <p:nvPr/>
        </p:nvSpPr>
        <p:spPr>
          <a:xfrm>
            <a:off x="777240" y="4992624"/>
            <a:ext cx="4663440" cy="320040"/>
          </a:xfrm>
          <a:prstGeom prst="rect">
            <a:avLst/>
          </a:prstGeom>
          <a:noFill/>
          <a:ln/>
        </p:spPr>
        <p:txBody>
          <a:bodyPr wrap="square" lIns="0" tIns="0" rIns="0" bIns="0" rtlCol="0" anchor="t"/>
          <a:lstStyle/>
          <a:p>
            <a:pPr indent="0" marL="0">
              <a:buNone/>
            </a:pPr>
            <a:r>
              <a:rPr lang="en-US" sz="1500" b="1" dirty="0">
                <a:solidFill>
                  <a:schemeClr val="accent1"/>
                </a:solidFill>
              </a:rPr>
              <a:t>Supabase real · 6</a:t>
            </a:r>
            <a:endParaRPr lang="en-US" sz="1500" dirty="0"/>
          </a:p>
        </p:txBody>
      </p:sp>
      <p:sp>
        <p:nvSpPr>
          <p:cNvPr id="14" name="Text 12"/>
          <p:cNvSpPr txBox="1"/>
          <p:nvPr/>
        </p:nvSpPr>
        <p:spPr>
          <a:xfrm>
            <a:off x="777240" y="5312664"/>
            <a:ext cx="4709160" cy="640080"/>
          </a:xfrm>
          <a:prstGeom prst="rect">
            <a:avLst/>
          </a:prstGeom>
          <a:noFill/>
          <a:ln/>
        </p:spPr>
        <p:txBody>
          <a:bodyPr wrap="square" lIns="0" tIns="0" rIns="0" bIns="0" rtlCol="0" anchor="t"/>
          <a:lstStyle/>
          <a:p>
            <a:pPr indent="0" marL="0">
              <a:buNone/>
            </a:pPr>
            <a:r>
              <a:rPr lang="en-US" sz="1250" dirty="0">
                <a:solidFill>
                  <a:schemeClr val="tx2"/>
                </a:solidFill>
              </a:rPr>
              <a:t>Un visitante anónimo no lee filas ni puede insertar · RLS activo · JWT falsificado rechazado</a:t>
            </a:r>
            <a:endParaRPr lang="en-US" sz="1250" dirty="0"/>
          </a:p>
        </p:txBody>
      </p:sp>
      <p:pic>
        <p:nvPicPr>
          <p:cNvPr id="15" name="Image 0" descr="preencoded.png">    </p:cNvPr>
          <p:cNvPicPr>
            <a:picLocks noChangeAspect="1"/>
          </p:cNvPicPr>
          <p:nvPr/>
        </p:nvPicPr>
        <p:blipFill>
          <a:blip r:embed="rId1"/>
          <a:stretch>
            <a:fillRect/>
          </a:stretch>
        </p:blipFill>
        <p:spPr>
          <a:xfrm>
            <a:off x="5989320" y="1280160"/>
            <a:ext cx="5650992" cy="3862983"/>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Lo que encontraron las pruebas</a:t>
            </a:r>
            <a:endParaRPr lang="en-US" sz="3200" dirty="0"/>
          </a:p>
        </p:txBody>
      </p:sp>
      <p:sp>
        <p:nvSpPr>
          <p:cNvPr id="3" name="Shape 1"/>
          <p:cNvSpPr/>
          <p:nvPr/>
        </p:nvSpPr>
        <p:spPr>
          <a:xfrm>
            <a:off x="548640" y="1325880"/>
            <a:ext cx="5440680" cy="4709160"/>
          </a:xfrm>
          <a:prstGeom prst="roundRect">
            <a:avLst>
              <a:gd name="adj" fmla="val 2330"/>
            </a:avLst>
          </a:prstGeom>
          <a:solidFill>
            <a:schemeClr val="bg2"/>
          </a:solidFill>
          <a:ln w="12700">
            <a:solidFill>
              <a:srgbClr val="2A2A2A"/>
            </a:solidFill>
            <a:prstDash val="solid"/>
          </a:ln>
        </p:spPr>
      </p:sp>
      <p:sp>
        <p:nvSpPr>
          <p:cNvPr id="4" name="Shape 2"/>
          <p:cNvSpPr/>
          <p:nvPr/>
        </p:nvSpPr>
        <p:spPr>
          <a:xfrm>
            <a:off x="822960" y="1600200"/>
            <a:ext cx="640080" cy="640080"/>
          </a:xfrm>
          <a:prstGeom prst="ellipse">
            <a:avLst/>
          </a:prstGeom>
          <a:solidFill>
            <a:schemeClr val="accent6"/>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45920" y="1645920"/>
            <a:ext cx="4023360" cy="548640"/>
          </a:xfrm>
          <a:prstGeom prst="rect">
            <a:avLst/>
          </a:prstGeom>
          <a:noFill/>
          <a:ln/>
        </p:spPr>
        <p:txBody>
          <a:bodyPr wrap="square" lIns="0" tIns="0" rIns="0" bIns="0" rtlCol="0" anchor="ctr"/>
          <a:lstStyle/>
          <a:p>
            <a:pPr indent="0" marL="0">
              <a:buNone/>
            </a:pPr>
            <a:r>
              <a:rPr lang="en-US" sz="2200" b="1" dirty="0">
                <a:solidFill>
                  <a:schemeClr val="accent2"/>
                </a:solidFill>
              </a:rPr>
              <a:t>Bug corregido</a:t>
            </a:r>
            <a:endParaRPr lang="en-US" sz="2200" dirty="0"/>
          </a:p>
        </p:txBody>
      </p:sp>
      <p:sp>
        <p:nvSpPr>
          <p:cNvPr id="7" name="Text 4"/>
          <p:cNvSpPr txBox="1"/>
          <p:nvPr/>
        </p:nvSpPr>
        <p:spPr>
          <a:xfrm>
            <a:off x="822960" y="2423160"/>
            <a:ext cx="4937760" cy="3474720"/>
          </a:xfrm>
          <a:prstGeom prst="rect">
            <a:avLst/>
          </a:prstGeom>
          <a:noFill/>
          <a:ln/>
        </p:spPr>
        <p:txBody>
          <a:bodyPr wrap="square" lIns="0" tIns="0" rIns="0" bIns="0" rtlCol="0" anchor="t"/>
          <a:lstStyle/>
          <a:p>
            <a:pPr indent="0" marL="0">
              <a:buNone/>
            </a:pPr>
            <a:r>
              <a:rPr lang="en-US" sz="1400" b="1" dirty="0">
                <a:solidFill>
                  <a:schemeClr val="tx2"/>
                </a:solidFill>
              </a:rPr>
              <a:t>Síntoma: </a:t>
            </a:r>
            <a:pPr indent="0" marL="0">
              <a:buNone/>
            </a:pPr>
            <a:r>
              <a:rPr lang="en-US" sz="1400" dirty="0">
                <a:solidFill>
                  <a:schemeClr val="tx2"/>
                </a:solidFill>
              </a:rPr>
              <a:t>un cuerpo de más de 512 KB respondía 500 «Error interno» en vez de 413.</a:t>
            </a:r>
            <a:endParaRPr lang="en-US" sz="1400" dirty="0"/>
          </a:p>
          <a:p>
            <a:pPr indent="0" marL="0">
              <a:buNone/>
            </a:pPr>
            <a:r>
              <a:rPr lang="en-US" sz="1400" dirty="0">
                <a:solidFill>
                  <a:schemeClr val="tx2"/>
                </a:solidFill>
              </a:rPr>
              <a:t> </a:t>
            </a:r>
            <a:endParaRPr lang="en-US" sz="1400" dirty="0"/>
          </a:p>
          <a:p>
            <a:pPr indent="0" marL="0">
              <a:buNone/>
            </a:pPr>
            <a:r>
              <a:rPr lang="en-US" sz="1400" b="1" dirty="0">
                <a:solidFill>
                  <a:schemeClr val="tx2"/>
                </a:solidFill>
              </a:rPr>
              <a:t>Causa: </a:t>
            </a:r>
            <a:pPr indent="0" marL="0">
              <a:buNone/>
            </a:pPr>
            <a:r>
              <a:rPr lang="en-US" sz="1400" dirty="0">
                <a:solidFill>
                  <a:schemeClr val="tx2"/>
                </a:solidFill>
              </a:rPr>
              <a:t>el manejador de errores común solo reconocía AppError y convertía los errores HTTP de Hono en 500.</a:t>
            </a:r>
            <a:endParaRPr lang="en-US" sz="1400" dirty="0"/>
          </a:p>
          <a:p>
            <a:pPr indent="0" marL="0">
              <a:buNone/>
            </a:pPr>
            <a:r>
              <a:rPr lang="en-US" sz="1400" dirty="0">
                <a:solidFill>
                  <a:schemeClr val="tx2"/>
                </a:solidFill>
              </a:rPr>
              <a:t> </a:t>
            </a:r>
            <a:endParaRPr lang="en-US" sz="1400" dirty="0"/>
          </a:p>
          <a:p>
            <a:pPr indent="0" marL="0">
              <a:buNone/>
            </a:pPr>
            <a:r>
              <a:rPr lang="en-US" sz="1400" b="1" dirty="0">
                <a:solidFill>
                  <a:schemeClr val="tx2"/>
                </a:solidFill>
              </a:rPr>
              <a:t>Arreglo: </a:t>
            </a:r>
            <a:pPr indent="0" marL="0">
              <a:buNone/>
            </a:pPr>
            <a:r>
              <a:rPr lang="en-US" sz="1400" dirty="0">
                <a:solidFill>
                  <a:schemeClr val="tx2"/>
                </a:solidFill>
              </a:rPr>
              <a:t>packages/service-kit/src/app.ts respeta el código HTTP. La prueba queda como regresión.</a:t>
            </a:r>
            <a:endParaRPr lang="en-US" sz="1400" dirty="0"/>
          </a:p>
        </p:txBody>
      </p:sp>
      <p:sp>
        <p:nvSpPr>
          <p:cNvPr id="8" name="Shape 5"/>
          <p:cNvSpPr/>
          <p:nvPr/>
        </p:nvSpPr>
        <p:spPr>
          <a:xfrm>
            <a:off x="6172200" y="1325880"/>
            <a:ext cx="5440680" cy="4709160"/>
          </a:xfrm>
          <a:prstGeom prst="roundRect">
            <a:avLst>
              <a:gd name="adj" fmla="val 2330"/>
            </a:avLst>
          </a:prstGeom>
          <a:solidFill>
            <a:schemeClr val="bg2"/>
          </a:solidFill>
          <a:ln w="12700">
            <a:solidFill>
              <a:srgbClr val="2A2A2A"/>
            </a:solidFill>
            <a:prstDash val="solid"/>
          </a:ln>
        </p:spPr>
      </p:sp>
      <p:sp>
        <p:nvSpPr>
          <p:cNvPr id="9" name="Shape 6"/>
          <p:cNvSpPr/>
          <p:nvPr/>
        </p:nvSpPr>
        <p:spPr>
          <a:xfrm>
            <a:off x="6446520" y="1600200"/>
            <a:ext cx="640080" cy="640080"/>
          </a:xfrm>
          <a:prstGeom prst="ellipse">
            <a:avLst/>
          </a:prstGeom>
          <a:solidFill>
            <a:schemeClr val="accent6"/>
          </a:solidFill>
          <a:ln w="12700">
            <a:solidFill>
              <a:srgbClr val="2A2A2A"/>
            </a:solidFill>
            <a:prstDash val="solid"/>
          </a:ln>
        </p:spPr>
      </p:sp>
      <p:pic>
        <p:nvPicPr>
          <p:cNvPr id="10" name="Image 1" descr="preencoded.png">    </p:cNvPr>
          <p:cNvPicPr>
            <a:picLocks noChangeAspect="1"/>
          </p:cNvPicPr>
          <p:nvPr/>
        </p:nvPicPr>
        <p:blipFill>
          <a:blip r:embed="rId2"/>
          <a:stretch>
            <a:fillRect/>
          </a:stretch>
        </p:blipFill>
        <p:spPr>
          <a:xfrm>
            <a:off x="6600139" y="1753819"/>
            <a:ext cx="332842" cy="332842"/>
          </a:xfrm>
          <a:prstGeom prst="rect">
            <a:avLst/>
          </a:prstGeom>
        </p:spPr>
      </p:pic>
      <p:sp>
        <p:nvSpPr>
          <p:cNvPr id="11" name="Text 7"/>
          <p:cNvSpPr txBox="1"/>
          <p:nvPr/>
        </p:nvSpPr>
        <p:spPr>
          <a:xfrm>
            <a:off x="7269480" y="1645920"/>
            <a:ext cx="4023360" cy="548640"/>
          </a:xfrm>
          <a:prstGeom prst="rect">
            <a:avLst/>
          </a:prstGeom>
          <a:noFill/>
          <a:ln/>
        </p:spPr>
        <p:txBody>
          <a:bodyPr wrap="square" lIns="0" tIns="0" rIns="0" bIns="0" rtlCol="0" anchor="ctr"/>
          <a:lstStyle/>
          <a:p>
            <a:pPr indent="0" marL="0">
              <a:buNone/>
            </a:pPr>
            <a:r>
              <a:rPr lang="en-US" sz="2200" b="1" dirty="0">
                <a:solidFill>
                  <a:schemeClr val="accent4"/>
                </a:solidFill>
              </a:rPr>
              <a:t>Riesgo identificado</a:t>
            </a:r>
            <a:endParaRPr lang="en-US" sz="2200" dirty="0"/>
          </a:p>
        </p:txBody>
      </p:sp>
      <p:sp>
        <p:nvSpPr>
          <p:cNvPr id="12" name="Text 8"/>
          <p:cNvSpPr txBox="1"/>
          <p:nvPr/>
        </p:nvSpPr>
        <p:spPr>
          <a:xfrm>
            <a:off x="6446520" y="2423160"/>
            <a:ext cx="4937760" cy="3474720"/>
          </a:xfrm>
          <a:prstGeom prst="rect">
            <a:avLst/>
          </a:prstGeom>
          <a:noFill/>
          <a:ln/>
        </p:spPr>
        <p:txBody>
          <a:bodyPr wrap="square" lIns="0" tIns="0" rIns="0" bIns="0" rtlCol="0" anchor="t"/>
          <a:lstStyle/>
          <a:p>
            <a:pPr indent="0" marL="0">
              <a:buNone/>
            </a:pPr>
            <a:r>
              <a:rPr lang="en-US" sz="1400" b="1" dirty="0">
                <a:solidFill>
                  <a:schemeClr val="tx2"/>
                </a:solidFill>
              </a:rPr>
              <a:t>Síntoma: </a:t>
            </a:r>
            <a:pPr indent="0" marL="0">
              <a:buNone/>
            </a:pPr>
            <a:r>
              <a:rPr lang="en-US" sz="1400" dirty="0">
                <a:solidFill>
                  <a:schemeClr val="tx2"/>
                </a:solidFill>
              </a:rPr>
              <a:t>un invitado puede saltarse la cuota diaria enviando una IP falsa en X-Forwarded-For. Comprobado en Render.</a:t>
            </a:r>
            <a:endParaRPr lang="en-US" sz="1400" dirty="0"/>
          </a:p>
          <a:p>
            <a:pPr indent="0" marL="0">
              <a:buNone/>
            </a:pPr>
            <a:r>
              <a:rPr lang="en-US" sz="1400" dirty="0">
                <a:solidFill>
                  <a:schemeClr val="tx2"/>
                </a:solidFill>
              </a:rPr>
              <a:t> </a:t>
            </a:r>
            <a:endParaRPr lang="en-US" sz="1400" dirty="0"/>
          </a:p>
          <a:p>
            <a:pPr indent="0" marL="0">
              <a:buNone/>
            </a:pPr>
            <a:r>
              <a:rPr lang="en-US" sz="1400" b="1" dirty="0">
                <a:solidFill>
                  <a:schemeClr val="tx2"/>
                </a:solidFill>
              </a:rPr>
              <a:t>Impacto: </a:t>
            </a:r>
            <a:pPr indent="0" marL="0">
              <a:buNone/>
            </a:pPr>
            <a:r>
              <a:rPr lang="en-US" sz="1400" dirty="0">
                <a:solidFill>
                  <a:schemeClr val="tx2"/>
                </a:solidFill>
              </a:rPr>
              <a:t>análisis ilimitados sin cuenta y más costo de IA.</a:t>
            </a:r>
            <a:endParaRPr lang="en-US" sz="1400" dirty="0"/>
          </a:p>
          <a:p>
            <a:pPr indent="0" marL="0">
              <a:buNone/>
            </a:pPr>
            <a:r>
              <a:rPr lang="en-US" sz="1400" dirty="0">
                <a:solidFill>
                  <a:schemeClr val="tx2"/>
                </a:solidFill>
              </a:rPr>
              <a:t> </a:t>
            </a:r>
            <a:endParaRPr lang="en-US" sz="1400" dirty="0"/>
          </a:p>
          <a:p>
            <a:pPr indent="0" marL="0">
              <a:buNone/>
            </a:pPr>
            <a:r>
              <a:rPr lang="en-US" sz="1400" b="1" dirty="0">
                <a:solidFill>
                  <a:schemeClr val="tx2"/>
                </a:solidFill>
              </a:rPr>
              <a:t>Recomendación: </a:t>
            </a:r>
            <a:pPr indent="0" marL="0">
              <a:buNone/>
            </a:pPr>
            <a:r>
              <a:rPr lang="en-US" sz="1400" dirty="0">
                <a:solidFill>
                  <a:schemeClr val="tx2"/>
                </a:solidFill>
              </a:rPr>
              <a:t>usar la IP que agrega el proxy de confianza (no la primera de la lista) y agregar la prueba de regresión.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Pruebas de aceptación · 8 escenarios</a:t>
            </a:r>
            <a:endParaRPr lang="en-US" sz="3200" dirty="0"/>
          </a:p>
        </p:txBody>
      </p:sp>
      <p:sp>
        <p:nvSpPr>
          <p:cNvPr id="3" name="Shape 1"/>
          <p:cNvSpPr/>
          <p:nvPr/>
        </p:nvSpPr>
        <p:spPr>
          <a:xfrm>
            <a:off x="548640" y="1280160"/>
            <a:ext cx="5760720" cy="3429000"/>
          </a:xfrm>
          <a:prstGeom prst="roundRect">
            <a:avLst>
              <a:gd name="adj" fmla="val 3200"/>
            </a:avLst>
          </a:prstGeom>
          <a:solidFill>
            <a:srgbClr val="0D0D0D"/>
          </a:solidFill>
          <a:ln w="12700">
            <a:solidFill>
              <a:srgbClr val="2A2A2A"/>
            </a:solidFill>
            <a:prstDash val="solid"/>
          </a:ln>
        </p:spPr>
      </p:sp>
      <p:sp>
        <p:nvSpPr>
          <p:cNvPr id="4" name="Shape 2"/>
          <p:cNvSpPr/>
          <p:nvPr/>
        </p:nvSpPr>
        <p:spPr>
          <a:xfrm>
            <a:off x="548640" y="4892040"/>
            <a:ext cx="5760720" cy="1143000"/>
          </a:xfrm>
          <a:prstGeom prst="roundRect">
            <a:avLst>
              <a:gd name="adj" fmla="val 9600"/>
            </a:avLst>
          </a:prstGeom>
          <a:solidFill>
            <a:schemeClr val="bg2"/>
          </a:solidFill>
          <a:ln w="12700">
            <a:solidFill>
              <a:srgbClr val="2A2A2A"/>
            </a:solidFill>
            <a:prstDash val="solid"/>
          </a:ln>
        </p:spPr>
      </p:sp>
      <p:pic>
        <p:nvPicPr>
          <p:cNvPr id="5" name="Image 0" descr="preencoded.png">    </p:cNvPr>
          <p:cNvPicPr>
            <a:picLocks noChangeAspect="1"/>
          </p:cNvPicPr>
          <p:nvPr/>
        </p:nvPicPr>
        <p:blipFill>
          <a:blip r:embed="rId1"/>
          <a:stretch>
            <a:fillRect/>
          </a:stretch>
        </p:blipFill>
        <p:spPr>
          <a:xfrm>
            <a:off x="822960" y="5166360"/>
            <a:ext cx="594360" cy="594360"/>
          </a:xfrm>
          <a:prstGeom prst="rect">
            <a:avLst/>
          </a:prstGeom>
        </p:spPr>
      </p:pic>
      <p:sp>
        <p:nvSpPr>
          <p:cNvPr id="6" name="Text 3"/>
          <p:cNvSpPr txBox="1"/>
          <p:nvPr/>
        </p:nvSpPr>
        <p:spPr>
          <a:xfrm>
            <a:off x="1600200" y="4892040"/>
            <a:ext cx="4480560" cy="1143000"/>
          </a:xfrm>
          <a:prstGeom prst="rect">
            <a:avLst/>
          </a:prstGeom>
          <a:noFill/>
          <a:ln/>
        </p:spPr>
        <p:txBody>
          <a:bodyPr wrap="square" lIns="0" tIns="0" rIns="0" bIns="0" rtlCol="0" anchor="ctr"/>
          <a:lstStyle/>
          <a:p>
            <a:pPr indent="0" marL="0">
              <a:buNone/>
            </a:pPr>
            <a:r>
              <a:rPr lang="en-US" sz="1800" b="1" dirty="0">
                <a:solidFill>
                  <a:schemeClr val="accent2"/>
                </a:solidFill>
              </a:rPr>
              <a:t>8 de 8 escenarios pasan</a:t>
            </a:r>
            <a:endParaRPr lang="en-US" sz="1400" dirty="0"/>
          </a:p>
          <a:p>
            <a:pPr indent="0" marL="0">
              <a:buNone/>
            </a:pPr>
            <a:r>
              <a:rPr lang="en-US" sz="1300" dirty="0">
                <a:solidFill>
                  <a:schemeClr val="tx2"/>
                </a:solidFill>
              </a:rPr>
              <a:t>17 verificaciones contra los 3 microservicios reales</a:t>
            </a:r>
            <a:endParaRPr lang="en-US" sz="1400" dirty="0"/>
          </a:p>
        </p:txBody>
      </p:sp>
      <p:sp>
        <p:nvSpPr>
          <p:cNvPr id="7" name="Text 4"/>
          <p:cNvSpPr txBox="1"/>
          <p:nvPr/>
        </p:nvSpPr>
        <p:spPr>
          <a:xfrm>
            <a:off x="822960" y="1508760"/>
            <a:ext cx="5303520" cy="2651760"/>
          </a:xfrm>
          <a:prstGeom prst="rect">
            <a:avLst/>
          </a:prstGeom>
          <a:noFill/>
          <a:ln/>
        </p:spPr>
        <p:txBody>
          <a:bodyPr wrap="square" lIns="0" tIns="0" rIns="0" bIns="0" rtlCol="0" anchor="t"/>
          <a:lstStyle/>
          <a:p>
            <a:pPr indent="0" marL="0">
              <a:buNone/>
            </a:pPr>
            <a:r>
              <a:rPr lang="en-US" sz="1250" b="1" dirty="0">
                <a:solidFill>
                  <a:srgbClr val="C8D400"/>
                </a:solidFill>
                <a:latin typeface="Courier New" pitchFamily="34" charset="0"/>
                <a:ea typeface="Courier New" pitchFamily="34" charset="-122"/>
                <a:cs typeface="Courier New" pitchFamily="34" charset="-120"/>
              </a:rPr>
              <a:t>Característica:</a:t>
            </a:r>
            <a:pPr indent="0" marL="0">
              <a:buNone/>
            </a:pPr>
            <a:r>
              <a:rPr lang="en-US" sz="1250" dirty="0">
                <a:solidFill>
                  <a:srgbClr val="FFFFFF"/>
                </a:solidFill>
                <a:latin typeface="Courier New" pitchFamily="34" charset="0"/>
                <a:ea typeface="Courier New" pitchFamily="34" charset="-122"/>
                <a:cs typeface="Courier New" pitchFamily="34" charset="-120"/>
              </a:rPr>
              <a:t> Historial de análisis (UC-07, UC-10, UC-13)</a:t>
            </a:r>
            <a:endParaRPr lang="en-US" sz="1250" dirty="0"/>
          </a:p>
          <a:p>
            <a:pPr indent="0" marL="0">
              <a:buNone/>
            </a:pPr>
            <a:pPr indent="0" marL="0">
              <a:buNone/>
            </a:pP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Escenario:</a:t>
            </a:r>
            <a:pPr indent="0" marL="0">
              <a:buNone/>
            </a:pPr>
            <a:r>
              <a:rPr lang="en-US" sz="1250" dirty="0">
                <a:solidFill>
                  <a:srgbClr val="FFFFFF"/>
                </a:solidFill>
                <a:latin typeface="Courier New" pitchFamily="34" charset="0"/>
                <a:ea typeface="Courier New" pitchFamily="34" charset="-122"/>
                <a:cs typeface="Courier New" pitchFamily="34" charset="-120"/>
              </a:rPr>
              <a:t> Borrar todo el historial</a:t>
            </a: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Dado</a:t>
            </a:r>
            <a:pPr indent="0" marL="0">
              <a:buNone/>
            </a:pPr>
            <a:r>
              <a:rPr lang="en-US" sz="1250" dirty="0">
                <a:solidFill>
                  <a:srgbClr val="FFFFFF"/>
                </a:solidFill>
                <a:latin typeface="Courier New" pitchFamily="34" charset="0"/>
                <a:ea typeface="Courier New" pitchFamily="34" charset="-122"/>
                <a:cs typeface="Courier New" pitchFamily="34" charset="-120"/>
              </a:rPr>
              <a:t> que Ana inició sesión</a:t>
            </a: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Y</a:t>
            </a:r>
            <a:pPr indent="0" marL="0">
              <a:buNone/>
            </a:pPr>
            <a:r>
              <a:rPr lang="en-US" sz="1250" dirty="0">
                <a:solidFill>
                  <a:srgbClr val="FFFFFF"/>
                </a:solidFill>
                <a:latin typeface="Courier New" pitchFamily="34" charset="0"/>
                <a:ea typeface="Courier New" pitchFamily="34" charset="-122"/>
                <a:cs typeface="Courier New" pitchFamily="34" charset="-120"/>
              </a:rPr>
              <a:t> que analizó el correo "phishing del banco"</a:t>
            </a: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Y</a:t>
            </a:r>
            <a:pPr indent="0" marL="0">
              <a:buNone/>
            </a:pPr>
            <a:r>
              <a:rPr lang="en-US" sz="1250" dirty="0">
                <a:solidFill>
                  <a:srgbClr val="FFFFFF"/>
                </a:solidFill>
                <a:latin typeface="Courier New" pitchFamily="34" charset="0"/>
                <a:ea typeface="Courier New" pitchFamily="34" charset="-122"/>
                <a:cs typeface="Courier New" pitchFamily="34" charset="-120"/>
              </a:rPr>
              <a:t> que analizó el correo "alerta legítima de Google"</a:t>
            </a: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Cuando</a:t>
            </a:r>
            <a:pPr indent="0" marL="0">
              <a:buNone/>
            </a:pPr>
            <a:r>
              <a:rPr lang="en-US" sz="1250" dirty="0">
                <a:solidFill>
                  <a:srgbClr val="FFFFFF"/>
                </a:solidFill>
                <a:latin typeface="Courier New" pitchFamily="34" charset="0"/>
                <a:ea typeface="Courier New" pitchFamily="34" charset="-122"/>
                <a:cs typeface="Courier New" pitchFamily="34" charset="-120"/>
              </a:rPr>
              <a:t> borra su historial</a:t>
            </a: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Entonces</a:t>
            </a:r>
            <a:pPr indent="0" marL="0">
              <a:buNone/>
            </a:pPr>
            <a:r>
              <a:rPr lang="en-US" sz="1250" dirty="0">
                <a:solidFill>
                  <a:srgbClr val="FFFFFF"/>
                </a:solidFill>
                <a:latin typeface="Courier New" pitchFamily="34" charset="0"/>
                <a:ea typeface="Courier New" pitchFamily="34" charset="-122"/>
                <a:cs typeface="Courier New" pitchFamily="34" charset="-120"/>
              </a:rPr>
              <a:t> se borraron 2 análisis</a:t>
            </a:r>
            <a:endParaRPr lang="en-US" sz="1250" dirty="0"/>
          </a:p>
          <a:p>
            <a:pPr indent="0" marL="0">
              <a:buNone/>
            </a:pPr>
            <a:r>
              <a:rPr lang="en-US" sz="1250" b="1" dirty="0">
                <a:solidFill>
                  <a:srgbClr val="C8D400"/>
                </a:solidFill>
                <a:latin typeface="Courier New" pitchFamily="34" charset="0"/>
                <a:ea typeface="Courier New" pitchFamily="34" charset="-122"/>
                <a:cs typeface="Courier New" pitchFamily="34" charset="-120"/>
              </a:rPr>
              <a:t>    Y</a:t>
            </a:r>
            <a:pPr indent="0" marL="0">
              <a:buNone/>
            </a:pPr>
            <a:r>
              <a:rPr lang="en-US" sz="1250" dirty="0">
                <a:solidFill>
                  <a:srgbClr val="FFFFFF"/>
                </a:solidFill>
                <a:latin typeface="Courier New" pitchFamily="34" charset="0"/>
                <a:ea typeface="Courier New" pitchFamily="34" charset="-122"/>
                <a:cs typeface="Courier New" pitchFamily="34" charset="-120"/>
              </a:rPr>
              <a:t> su historial tiene 0 análisis</a:t>
            </a:r>
            <a:endParaRPr lang="en-US" sz="1250" dirty="0"/>
          </a:p>
        </p:txBody>
      </p:sp>
      <p:sp>
        <p:nvSpPr>
          <p:cNvPr id="8" name="Text 5"/>
          <p:cNvSpPr txBox="1"/>
          <p:nvPr/>
        </p:nvSpPr>
        <p:spPr>
          <a:xfrm>
            <a:off x="822960" y="4206240"/>
            <a:ext cx="530352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services/gateway/test/acceptance/features/historial.feature</a:t>
            </a:r>
            <a:endParaRPr lang="en-US" sz="1100" dirty="0"/>
          </a:p>
        </p:txBody>
      </p:sp>
      <p:sp>
        <p:nvSpPr>
          <p:cNvPr id="9" name="Shape 6"/>
          <p:cNvSpPr/>
          <p:nvPr/>
        </p:nvSpPr>
        <p:spPr>
          <a:xfrm>
            <a:off x="6675120" y="1371600"/>
            <a:ext cx="566928" cy="566928"/>
          </a:xfrm>
          <a:prstGeom prst="ellipse">
            <a:avLst/>
          </a:prstGeom>
          <a:solidFill>
            <a:schemeClr val="accent6"/>
          </a:solidFill>
          <a:ln w="12700">
            <a:solidFill>
              <a:srgbClr val="2A2A2A"/>
            </a:solidFill>
            <a:prstDash val="solid"/>
          </a:ln>
        </p:spPr>
      </p:sp>
      <p:pic>
        <p:nvPicPr>
          <p:cNvPr id="10" name="Image 1" descr="preencoded.png">    </p:cNvPr>
          <p:cNvPicPr>
            <a:picLocks noChangeAspect="1"/>
          </p:cNvPicPr>
          <p:nvPr/>
        </p:nvPicPr>
        <p:blipFill>
          <a:blip r:embed="rId2"/>
          <a:stretch>
            <a:fillRect/>
          </a:stretch>
        </p:blipFill>
        <p:spPr>
          <a:xfrm>
            <a:off x="6811183" y="1507663"/>
            <a:ext cx="294803" cy="294803"/>
          </a:xfrm>
          <a:prstGeom prst="rect">
            <a:avLst/>
          </a:prstGeom>
        </p:spPr>
      </p:pic>
      <p:sp>
        <p:nvSpPr>
          <p:cNvPr id="11" name="Text 7"/>
          <p:cNvSpPr txBox="1"/>
          <p:nvPr/>
        </p:nvSpPr>
        <p:spPr>
          <a:xfrm>
            <a:off x="7452360" y="1325880"/>
            <a:ext cx="4160520" cy="868680"/>
          </a:xfrm>
          <a:prstGeom prst="rect">
            <a:avLst/>
          </a:prstGeom>
          <a:noFill/>
          <a:ln/>
        </p:spPr>
        <p:txBody>
          <a:bodyPr wrap="square" lIns="0" tIns="0" rIns="0" bIns="0" rtlCol="0" anchor="ctr"/>
          <a:lstStyle/>
          <a:p>
            <a:pPr indent="0" marL="0">
              <a:buNone/>
            </a:pPr>
            <a:r>
              <a:rPr lang="en-US" sz="1500" dirty="0">
                <a:solidFill>
                  <a:schemeClr val="tx1"/>
                </a:solidFill>
              </a:rPr>
              <a:t>Escritos en español, como los casos de uso del documento USE_CASES.md</a:t>
            </a:r>
            <a:endParaRPr lang="en-US" sz="1500" dirty="0"/>
          </a:p>
        </p:txBody>
      </p:sp>
      <p:sp>
        <p:nvSpPr>
          <p:cNvPr id="12" name="Shape 8"/>
          <p:cNvSpPr/>
          <p:nvPr/>
        </p:nvSpPr>
        <p:spPr>
          <a:xfrm>
            <a:off x="6675120" y="2542032"/>
            <a:ext cx="566928" cy="566928"/>
          </a:xfrm>
          <a:prstGeom prst="ellipse">
            <a:avLst/>
          </a:prstGeom>
          <a:solidFill>
            <a:schemeClr val="accent6"/>
          </a:solidFill>
          <a:ln w="12700">
            <a:solidFill>
              <a:srgbClr val="2A2A2A"/>
            </a:solidFill>
            <a:prstDash val="solid"/>
          </a:ln>
        </p:spPr>
      </p:sp>
      <p:pic>
        <p:nvPicPr>
          <p:cNvPr id="13" name="Image 2" descr="preencoded.png">    </p:cNvPr>
          <p:cNvPicPr>
            <a:picLocks noChangeAspect="1"/>
          </p:cNvPicPr>
          <p:nvPr/>
        </p:nvPicPr>
        <p:blipFill>
          <a:blip r:embed="rId3"/>
          <a:stretch>
            <a:fillRect/>
          </a:stretch>
        </p:blipFill>
        <p:spPr>
          <a:xfrm>
            <a:off x="6811183" y="2678095"/>
            <a:ext cx="294803" cy="294803"/>
          </a:xfrm>
          <a:prstGeom prst="rect">
            <a:avLst/>
          </a:prstGeom>
        </p:spPr>
      </p:pic>
      <p:sp>
        <p:nvSpPr>
          <p:cNvPr id="14" name="Text 9"/>
          <p:cNvSpPr txBox="1"/>
          <p:nvPr/>
        </p:nvSpPr>
        <p:spPr>
          <a:xfrm>
            <a:off x="7452360" y="2496312"/>
            <a:ext cx="4160520" cy="868680"/>
          </a:xfrm>
          <a:prstGeom prst="rect">
            <a:avLst/>
          </a:prstGeom>
          <a:noFill/>
          <a:ln/>
        </p:spPr>
        <p:txBody>
          <a:bodyPr wrap="square" lIns="0" tIns="0" rIns="0" bIns="0" rtlCol="0" anchor="ctr"/>
          <a:lstStyle/>
          <a:p>
            <a:pPr indent="0" marL="0">
              <a:buNone/>
            </a:pPr>
            <a:r>
              <a:rPr lang="en-US" sz="1500" dirty="0">
                <a:solidFill>
                  <a:schemeClr val="tx1"/>
                </a:solidFill>
              </a:rPr>
              <a:t>Un runner sobre bun test ejecuta cada paso contra los 3 microservicios reales</a:t>
            </a:r>
            <a:endParaRPr lang="en-US" sz="1500" dirty="0"/>
          </a:p>
        </p:txBody>
      </p:sp>
      <p:sp>
        <p:nvSpPr>
          <p:cNvPr id="15" name="Shape 10"/>
          <p:cNvSpPr/>
          <p:nvPr/>
        </p:nvSpPr>
        <p:spPr>
          <a:xfrm>
            <a:off x="6675120" y="3712464"/>
            <a:ext cx="566928" cy="566928"/>
          </a:xfrm>
          <a:prstGeom prst="ellipse">
            <a:avLst/>
          </a:prstGeom>
          <a:solidFill>
            <a:schemeClr val="accent6"/>
          </a:solidFill>
          <a:ln w="12700">
            <a:solidFill>
              <a:srgbClr val="2A2A2A"/>
            </a:solidFill>
            <a:prstDash val="solid"/>
          </a:ln>
        </p:spPr>
      </p:sp>
      <p:pic>
        <p:nvPicPr>
          <p:cNvPr id="16" name="Image 3" descr="preencoded.png">    </p:cNvPr>
          <p:cNvPicPr>
            <a:picLocks noChangeAspect="1"/>
          </p:cNvPicPr>
          <p:nvPr/>
        </p:nvPicPr>
        <p:blipFill>
          <a:blip r:embed="rId4"/>
          <a:stretch>
            <a:fillRect/>
          </a:stretch>
        </p:blipFill>
        <p:spPr>
          <a:xfrm>
            <a:off x="6811183" y="3848527"/>
            <a:ext cx="294803" cy="294803"/>
          </a:xfrm>
          <a:prstGeom prst="rect">
            <a:avLst/>
          </a:prstGeom>
        </p:spPr>
      </p:pic>
      <p:sp>
        <p:nvSpPr>
          <p:cNvPr id="17" name="Text 11"/>
          <p:cNvSpPr txBox="1"/>
          <p:nvPr/>
        </p:nvSpPr>
        <p:spPr>
          <a:xfrm>
            <a:off x="7452360" y="3666744"/>
            <a:ext cx="4160520" cy="868680"/>
          </a:xfrm>
          <a:prstGeom prst="rect">
            <a:avLst/>
          </a:prstGeom>
          <a:noFill/>
          <a:ln/>
        </p:spPr>
        <p:txBody>
          <a:bodyPr wrap="square" lIns="0" tIns="0" rIns="0" bIns="0" rtlCol="0" anchor="ctr"/>
          <a:lstStyle/>
          <a:p>
            <a:pPr indent="0" marL="0">
              <a:buNone/>
            </a:pPr>
            <a:r>
              <a:rPr lang="en-US" sz="1500" dirty="0">
                <a:solidFill>
                  <a:schemeClr val="tx1"/>
                </a:solidFill>
              </a:rPr>
              <a:t>Si un paso falla, indica el archivo .feature y la línea exacta</a:t>
            </a:r>
            <a:endParaRPr lang="en-US" sz="1500" dirty="0"/>
          </a:p>
        </p:txBody>
      </p:sp>
      <p:sp>
        <p:nvSpPr>
          <p:cNvPr id="18" name="Shape 12"/>
          <p:cNvSpPr/>
          <p:nvPr/>
        </p:nvSpPr>
        <p:spPr>
          <a:xfrm>
            <a:off x="6675120" y="4882896"/>
            <a:ext cx="566928" cy="566928"/>
          </a:xfrm>
          <a:prstGeom prst="ellipse">
            <a:avLst/>
          </a:prstGeom>
          <a:solidFill>
            <a:schemeClr val="accent6"/>
          </a:solidFill>
          <a:ln w="12700">
            <a:solidFill>
              <a:srgbClr val="2A2A2A"/>
            </a:solidFill>
            <a:prstDash val="solid"/>
          </a:ln>
        </p:spPr>
      </p:sp>
      <p:pic>
        <p:nvPicPr>
          <p:cNvPr id="19" name="Image 4" descr="preencoded.png">    </p:cNvPr>
          <p:cNvPicPr>
            <a:picLocks noChangeAspect="1"/>
          </p:cNvPicPr>
          <p:nvPr/>
        </p:nvPicPr>
        <p:blipFill>
          <a:blip r:embed="rId5"/>
          <a:stretch>
            <a:fillRect/>
          </a:stretch>
        </p:blipFill>
        <p:spPr>
          <a:xfrm>
            <a:off x="6811183" y="5018959"/>
            <a:ext cx="294803" cy="294803"/>
          </a:xfrm>
          <a:prstGeom prst="rect">
            <a:avLst/>
          </a:prstGeom>
        </p:spPr>
      </p:pic>
      <p:sp>
        <p:nvSpPr>
          <p:cNvPr id="20" name="Text 13"/>
          <p:cNvSpPr txBox="1"/>
          <p:nvPr/>
        </p:nvSpPr>
        <p:spPr>
          <a:xfrm>
            <a:off x="7452360" y="4837176"/>
            <a:ext cx="4160520" cy="868680"/>
          </a:xfrm>
          <a:prstGeom prst="rect">
            <a:avLst/>
          </a:prstGeom>
          <a:noFill/>
          <a:ln/>
        </p:spPr>
        <p:txBody>
          <a:bodyPr wrap="square" lIns="0" tIns="0" rIns="0" bIns="0" rtlCol="0" anchor="ctr"/>
          <a:lstStyle/>
          <a:p>
            <a:pPr indent="0" marL="0">
              <a:buNone/>
            </a:pPr>
            <a:r>
              <a:rPr lang="en-US" sz="1500" dirty="0">
                <a:solidFill>
                  <a:schemeClr val="tx1"/>
                </a:solidFill>
              </a:rPr>
              <a:t>2 características: analizar un correo y gestionar el historial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Evidencia verificable: /dashboard/tests</a:t>
            </a:r>
            <a:endParaRPr lang="en-US" sz="3200" dirty="0"/>
          </a:p>
        </p:txBody>
      </p:sp>
      <p:pic>
        <p:nvPicPr>
          <p:cNvPr id="3" name="Image 0" descr="preencoded.png">    </p:cNvPr>
          <p:cNvPicPr>
            <a:picLocks noChangeAspect="1"/>
          </p:cNvPicPr>
          <p:nvPr/>
        </p:nvPicPr>
        <p:blipFill>
          <a:blip r:embed="rId1"/>
          <a:stretch>
            <a:fillRect/>
          </a:stretch>
        </p:blipFill>
        <p:spPr>
          <a:xfrm>
            <a:off x="548640" y="1280160"/>
            <a:ext cx="5577840" cy="4753841"/>
          </a:xfrm>
          <a:prstGeom prst="rect">
            <a:avLst/>
          </a:prstGeom>
        </p:spPr>
      </p:pic>
      <p:sp>
        <p:nvSpPr>
          <p:cNvPr id="4" name="Shape 1"/>
          <p:cNvSpPr/>
          <p:nvPr/>
        </p:nvSpPr>
        <p:spPr>
          <a:xfrm>
            <a:off x="6629400" y="1371600"/>
            <a:ext cx="566928" cy="566928"/>
          </a:xfrm>
          <a:prstGeom prst="ellipse">
            <a:avLst/>
          </a:prstGeom>
          <a:solidFill>
            <a:schemeClr val="accent6"/>
          </a:solidFill>
          <a:ln w="12700">
            <a:solidFill>
              <a:srgbClr val="2A2A2A"/>
            </a:solidFill>
            <a:prstDash val="solid"/>
          </a:ln>
        </p:spPr>
      </p:sp>
      <p:pic>
        <p:nvPicPr>
          <p:cNvPr id="5" name="Image 1" descr="preencoded.png">    </p:cNvPr>
          <p:cNvPicPr>
            <a:picLocks noChangeAspect="1"/>
          </p:cNvPicPr>
          <p:nvPr/>
        </p:nvPicPr>
        <p:blipFill>
          <a:blip r:embed="rId2"/>
          <a:stretch>
            <a:fillRect/>
          </a:stretch>
        </p:blipFill>
        <p:spPr>
          <a:xfrm>
            <a:off x="6765463" y="1507663"/>
            <a:ext cx="294803" cy="294803"/>
          </a:xfrm>
          <a:prstGeom prst="rect">
            <a:avLst/>
          </a:prstGeom>
        </p:spPr>
      </p:pic>
      <p:sp>
        <p:nvSpPr>
          <p:cNvPr id="6" name="Text 2"/>
          <p:cNvSpPr txBox="1"/>
          <p:nvPr/>
        </p:nvSpPr>
        <p:spPr>
          <a:xfrm>
            <a:off x="7406640" y="1325880"/>
            <a:ext cx="4206240" cy="868680"/>
          </a:xfrm>
          <a:prstGeom prst="rect">
            <a:avLst/>
          </a:prstGeom>
          <a:noFill/>
          <a:ln/>
        </p:spPr>
        <p:txBody>
          <a:bodyPr wrap="square" lIns="0" tIns="0" rIns="0" bIns="0" rtlCol="0" anchor="ctr"/>
          <a:lstStyle/>
          <a:p>
            <a:pPr indent="0" marL="0">
              <a:buNone/>
            </a:pPr>
            <a:r>
              <a:rPr lang="en-US" sz="1500" dirty="0">
                <a:solidFill>
                  <a:schemeClr val="tx1"/>
                </a:solidFill>
              </a:rPr>
              <a:t>Generada por bun run tests:report: ejecuta las pruebas de verdad y guarda el resultado con el commit</a:t>
            </a:r>
            <a:endParaRPr lang="en-US" sz="1500" dirty="0"/>
          </a:p>
        </p:txBody>
      </p:sp>
      <p:sp>
        <p:nvSpPr>
          <p:cNvPr id="7" name="Shape 3"/>
          <p:cNvSpPr/>
          <p:nvPr/>
        </p:nvSpPr>
        <p:spPr>
          <a:xfrm>
            <a:off x="6629400" y="2542032"/>
            <a:ext cx="566928" cy="566928"/>
          </a:xfrm>
          <a:prstGeom prst="ellipse">
            <a:avLst/>
          </a:prstGeom>
          <a:solidFill>
            <a:schemeClr val="accent6"/>
          </a:solidFill>
          <a:ln w="12700">
            <a:solidFill>
              <a:srgbClr val="2A2A2A"/>
            </a:solidFill>
            <a:prstDash val="solid"/>
          </a:ln>
        </p:spPr>
      </p:sp>
      <p:pic>
        <p:nvPicPr>
          <p:cNvPr id="8" name="Image 2" descr="preencoded.png">    </p:cNvPr>
          <p:cNvPicPr>
            <a:picLocks noChangeAspect="1"/>
          </p:cNvPicPr>
          <p:nvPr/>
        </p:nvPicPr>
        <p:blipFill>
          <a:blip r:embed="rId3"/>
          <a:stretch>
            <a:fillRect/>
          </a:stretch>
        </p:blipFill>
        <p:spPr>
          <a:xfrm>
            <a:off x="6765463" y="2678095"/>
            <a:ext cx="294803" cy="294803"/>
          </a:xfrm>
          <a:prstGeom prst="rect">
            <a:avLst/>
          </a:prstGeom>
        </p:spPr>
      </p:pic>
      <p:sp>
        <p:nvSpPr>
          <p:cNvPr id="9" name="Text 4"/>
          <p:cNvSpPr txBox="1"/>
          <p:nvPr/>
        </p:nvSpPr>
        <p:spPr>
          <a:xfrm>
            <a:off x="7406640" y="2496312"/>
            <a:ext cx="4206240" cy="868680"/>
          </a:xfrm>
          <a:prstGeom prst="rect">
            <a:avLst/>
          </a:prstGeom>
          <a:noFill/>
          <a:ln/>
        </p:spPr>
        <p:txBody>
          <a:bodyPr wrap="square" lIns="0" tIns="0" rIns="0" bIns="0" rtlCol="0" anchor="ctr"/>
          <a:lstStyle/>
          <a:p>
            <a:pPr indent="0" marL="0">
              <a:buNone/>
            </a:pPr>
            <a:r>
              <a:rPr lang="en-US" sz="1500" dirty="0">
                <a:solidFill>
                  <a:schemeClr val="tx1"/>
                </a:solidFill>
              </a:rPr>
              <a:t>Cada prueba enlaza a su línea exacta en GitHub (L14, L33…)</a:t>
            </a:r>
            <a:endParaRPr lang="en-US" sz="1500" dirty="0"/>
          </a:p>
        </p:txBody>
      </p:sp>
      <p:sp>
        <p:nvSpPr>
          <p:cNvPr id="10" name="Shape 5"/>
          <p:cNvSpPr/>
          <p:nvPr/>
        </p:nvSpPr>
        <p:spPr>
          <a:xfrm>
            <a:off x="6629400" y="3712464"/>
            <a:ext cx="566928" cy="566928"/>
          </a:xfrm>
          <a:prstGeom prst="ellipse">
            <a:avLst/>
          </a:prstGeom>
          <a:solidFill>
            <a:schemeClr val="accent6"/>
          </a:solidFill>
          <a:ln w="12700">
            <a:solidFill>
              <a:srgbClr val="2A2A2A"/>
            </a:solidFill>
            <a:prstDash val="solid"/>
          </a:ln>
        </p:spPr>
      </p:sp>
      <p:pic>
        <p:nvPicPr>
          <p:cNvPr id="11" name="Image 3" descr="preencoded.png">    </p:cNvPr>
          <p:cNvPicPr>
            <a:picLocks noChangeAspect="1"/>
          </p:cNvPicPr>
          <p:nvPr/>
        </p:nvPicPr>
        <p:blipFill>
          <a:blip r:embed="rId4"/>
          <a:stretch>
            <a:fillRect/>
          </a:stretch>
        </p:blipFill>
        <p:spPr>
          <a:xfrm>
            <a:off x="6765463" y="3848527"/>
            <a:ext cx="294803" cy="294803"/>
          </a:xfrm>
          <a:prstGeom prst="rect">
            <a:avLst/>
          </a:prstGeom>
        </p:spPr>
      </p:pic>
      <p:sp>
        <p:nvSpPr>
          <p:cNvPr id="12" name="Text 6"/>
          <p:cNvSpPr txBox="1"/>
          <p:nvPr/>
        </p:nvSpPr>
        <p:spPr>
          <a:xfrm>
            <a:off x="7406640" y="3666744"/>
            <a:ext cx="4206240" cy="868680"/>
          </a:xfrm>
          <a:prstGeom prst="rect">
            <a:avLst/>
          </a:prstGeom>
          <a:noFill/>
          <a:ln/>
        </p:spPr>
        <p:txBody>
          <a:bodyPr wrap="square" lIns="0" tIns="0" rIns="0" bIns="0" rtlCol="0" anchor="ctr"/>
          <a:lstStyle/>
          <a:p>
            <a:pPr indent="0" marL="0">
              <a:buNone/>
            </a:pPr>
            <a:r>
              <a:rPr lang="en-US" sz="1500" dirty="0">
                <a:solidFill>
                  <a:schemeClr val="tx1"/>
                </a:solidFill>
              </a:rPr>
              <a:t>Carrusel por tipo: unitarias, API, seguridad y aceptación</a:t>
            </a:r>
            <a:endParaRPr lang="en-US" sz="1500" dirty="0"/>
          </a:p>
        </p:txBody>
      </p:sp>
      <p:sp>
        <p:nvSpPr>
          <p:cNvPr id="13" name="Shape 7"/>
          <p:cNvSpPr/>
          <p:nvPr/>
        </p:nvSpPr>
        <p:spPr>
          <a:xfrm>
            <a:off x="6629400" y="4882896"/>
            <a:ext cx="566928" cy="566928"/>
          </a:xfrm>
          <a:prstGeom prst="ellipse">
            <a:avLst/>
          </a:prstGeom>
          <a:solidFill>
            <a:schemeClr val="accent6"/>
          </a:solidFill>
          <a:ln w="12700">
            <a:solidFill>
              <a:srgbClr val="2A2A2A"/>
            </a:solidFill>
            <a:prstDash val="solid"/>
          </a:ln>
        </p:spPr>
      </p:sp>
      <p:pic>
        <p:nvPicPr>
          <p:cNvPr id="14" name="Image 4" descr="preencoded.png">    </p:cNvPr>
          <p:cNvPicPr>
            <a:picLocks noChangeAspect="1"/>
          </p:cNvPicPr>
          <p:nvPr/>
        </p:nvPicPr>
        <p:blipFill>
          <a:blip r:embed="rId5"/>
          <a:stretch>
            <a:fillRect/>
          </a:stretch>
        </p:blipFill>
        <p:spPr>
          <a:xfrm>
            <a:off x="6765463" y="5018959"/>
            <a:ext cx="294803" cy="294803"/>
          </a:xfrm>
          <a:prstGeom prst="rect">
            <a:avLst/>
          </a:prstGeom>
        </p:spPr>
      </p:pic>
      <p:sp>
        <p:nvSpPr>
          <p:cNvPr id="15" name="Text 8"/>
          <p:cNvSpPr txBox="1"/>
          <p:nvPr/>
        </p:nvSpPr>
        <p:spPr>
          <a:xfrm>
            <a:off x="7406640" y="4837176"/>
            <a:ext cx="4206240" cy="868680"/>
          </a:xfrm>
          <a:prstGeom prst="rect">
            <a:avLst/>
          </a:prstGeom>
          <a:noFill/>
          <a:ln/>
        </p:spPr>
        <p:txBody>
          <a:bodyPr wrap="square" lIns="0" tIns="0" rIns="0" bIns="0" rtlCol="0" anchor="ctr"/>
          <a:lstStyle/>
          <a:p>
            <a:pPr indent="0" marL="0">
              <a:buNone/>
            </a:pPr>
            <a:r>
              <a:rPr lang="en-US" sz="1500" dirty="0">
                <a:solidFill>
                  <a:schemeClr val="tx1"/>
                </a:solidFill>
              </a:rPr>
              <a:t>Incluye los comandos para que cualquiera las vuelva a correr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Cómo ejecutarlas</a:t>
            </a:r>
            <a:endParaRPr lang="en-US" sz="3200" dirty="0"/>
          </a:p>
        </p:txBody>
      </p:sp>
      <p:sp>
        <p:nvSpPr>
          <p:cNvPr id="3" name="Shape 1"/>
          <p:cNvSpPr/>
          <p:nvPr/>
        </p:nvSpPr>
        <p:spPr>
          <a:xfrm>
            <a:off x="548640" y="1325880"/>
            <a:ext cx="11064240" cy="749808"/>
          </a:xfrm>
          <a:prstGeom prst="roundRect">
            <a:avLst>
              <a:gd name="adj" fmla="val 14634"/>
            </a:avLst>
          </a:prstGeom>
          <a:solidFill>
            <a:srgbClr val="0D0D0D"/>
          </a:solidFill>
          <a:ln w="12700">
            <a:solidFill>
              <a:srgbClr val="2A2A2A"/>
            </a:solidFill>
            <a:prstDash val="solid"/>
          </a:ln>
        </p:spPr>
      </p:sp>
      <p:sp>
        <p:nvSpPr>
          <p:cNvPr id="4" name="Text 2"/>
          <p:cNvSpPr txBox="1"/>
          <p:nvPr/>
        </p:nvSpPr>
        <p:spPr>
          <a:xfrm>
            <a:off x="822960" y="1325880"/>
            <a:ext cx="6309360" cy="749808"/>
          </a:xfrm>
          <a:prstGeom prst="rect">
            <a:avLst/>
          </a:prstGeom>
          <a:noFill/>
          <a:ln/>
        </p:spPr>
        <p:txBody>
          <a:bodyPr wrap="square" lIns="0" tIns="0" rIns="0" bIns="0" rtlCol="0" anchor="ctr"/>
          <a:lstStyle/>
          <a:p>
            <a:pPr indent="0" marL="0">
              <a:buNone/>
            </a:pPr>
            <a:r>
              <a:rPr lang="en-US" sz="1500" dirty="0">
                <a:solidFill>
                  <a:srgbClr val="C8C8AD"/>
                </a:solidFill>
                <a:latin typeface="Courier New" pitchFamily="34" charset="0"/>
                <a:ea typeface="Courier New" pitchFamily="34" charset="-122"/>
                <a:cs typeface="Courier New" pitchFamily="34" charset="-120"/>
              </a:rPr>
              <a:t>$ </a:t>
            </a:r>
            <a:pPr indent="0" marL="0">
              <a:buNone/>
            </a:pPr>
            <a:r>
              <a:rPr lang="en-US" sz="1500" b="1" dirty="0">
                <a:solidFill>
                  <a:srgbClr val="C8D400"/>
                </a:solidFill>
                <a:latin typeface="Courier New" pitchFamily="34" charset="0"/>
                <a:ea typeface="Courier New" pitchFamily="34" charset="-122"/>
                <a:cs typeface="Courier New" pitchFamily="34" charset="-120"/>
              </a:rPr>
              <a:t>bun install</a:t>
            </a:r>
            <a:endParaRPr lang="en-US" sz="1500" dirty="0"/>
          </a:p>
        </p:txBody>
      </p:sp>
      <p:sp>
        <p:nvSpPr>
          <p:cNvPr id="5" name="Text 3"/>
          <p:cNvSpPr txBox="1"/>
          <p:nvPr/>
        </p:nvSpPr>
        <p:spPr>
          <a:xfrm>
            <a:off x="6995160" y="1325880"/>
            <a:ext cx="4480560" cy="749808"/>
          </a:xfrm>
          <a:prstGeom prst="rect">
            <a:avLst/>
          </a:prstGeom>
          <a:noFill/>
          <a:ln/>
        </p:spPr>
        <p:txBody>
          <a:bodyPr wrap="square" lIns="0" tIns="0" rIns="0" bIns="0" rtlCol="0" anchor="ctr"/>
          <a:lstStyle/>
          <a:p>
            <a:pPr indent="0" marL="0">
              <a:buNone/>
            </a:pPr>
            <a:r>
              <a:rPr lang="en-US" sz="1400" dirty="0">
                <a:solidFill>
                  <a:schemeClr val="tx2"/>
                </a:solidFill>
              </a:rPr>
              <a:t>Instala las dependencias del monorepo</a:t>
            </a:r>
            <a:endParaRPr lang="en-US" sz="1400" dirty="0"/>
          </a:p>
        </p:txBody>
      </p:sp>
      <p:sp>
        <p:nvSpPr>
          <p:cNvPr id="6" name="Shape 4"/>
          <p:cNvSpPr/>
          <p:nvPr/>
        </p:nvSpPr>
        <p:spPr>
          <a:xfrm>
            <a:off x="548640" y="2221992"/>
            <a:ext cx="11064240" cy="749808"/>
          </a:xfrm>
          <a:prstGeom prst="roundRect">
            <a:avLst>
              <a:gd name="adj" fmla="val 14634"/>
            </a:avLst>
          </a:prstGeom>
          <a:solidFill>
            <a:srgbClr val="0D0D0D"/>
          </a:solidFill>
          <a:ln w="12700">
            <a:solidFill>
              <a:srgbClr val="2A2A2A"/>
            </a:solidFill>
            <a:prstDash val="solid"/>
          </a:ln>
        </p:spPr>
      </p:sp>
      <p:sp>
        <p:nvSpPr>
          <p:cNvPr id="7" name="Text 5"/>
          <p:cNvSpPr txBox="1"/>
          <p:nvPr/>
        </p:nvSpPr>
        <p:spPr>
          <a:xfrm>
            <a:off x="822960" y="2221992"/>
            <a:ext cx="6309360" cy="749808"/>
          </a:xfrm>
          <a:prstGeom prst="rect">
            <a:avLst/>
          </a:prstGeom>
          <a:noFill/>
          <a:ln/>
        </p:spPr>
        <p:txBody>
          <a:bodyPr wrap="square" lIns="0" tIns="0" rIns="0" bIns="0" rtlCol="0" anchor="ctr"/>
          <a:lstStyle/>
          <a:p>
            <a:pPr indent="0" marL="0">
              <a:buNone/>
            </a:pPr>
            <a:r>
              <a:rPr lang="en-US" sz="1500" dirty="0">
                <a:solidFill>
                  <a:srgbClr val="C8C8AD"/>
                </a:solidFill>
                <a:latin typeface="Courier New" pitchFamily="34" charset="0"/>
                <a:ea typeface="Courier New" pitchFamily="34" charset="-122"/>
                <a:cs typeface="Courier New" pitchFamily="34" charset="-120"/>
              </a:rPr>
              <a:t>$ </a:t>
            </a:r>
            <a:pPr indent="0" marL="0">
              <a:buNone/>
            </a:pPr>
            <a:r>
              <a:rPr lang="en-US" sz="1500" b="1" dirty="0">
                <a:solidFill>
                  <a:srgbClr val="C8D400"/>
                </a:solidFill>
                <a:latin typeface="Courier New" pitchFamily="34" charset="0"/>
                <a:ea typeface="Courier New" pitchFamily="34" charset="-122"/>
                <a:cs typeface="Courier New" pitchFamily="34" charset="-120"/>
              </a:rPr>
              <a:t>bun run test</a:t>
            </a:r>
            <a:endParaRPr lang="en-US" sz="1500" dirty="0"/>
          </a:p>
        </p:txBody>
      </p:sp>
      <p:sp>
        <p:nvSpPr>
          <p:cNvPr id="8" name="Text 6"/>
          <p:cNvSpPr txBox="1"/>
          <p:nvPr/>
        </p:nvSpPr>
        <p:spPr>
          <a:xfrm>
            <a:off x="6995160" y="2221992"/>
            <a:ext cx="4480560" cy="749808"/>
          </a:xfrm>
          <a:prstGeom prst="rect">
            <a:avLst/>
          </a:prstGeom>
          <a:noFill/>
          <a:ln/>
        </p:spPr>
        <p:txBody>
          <a:bodyPr wrap="square" lIns="0" tIns="0" rIns="0" bIns="0" rtlCol="0" anchor="ctr"/>
          <a:lstStyle/>
          <a:p>
            <a:pPr indent="0" marL="0">
              <a:buNone/>
            </a:pPr>
            <a:r>
              <a:rPr lang="en-US" sz="1400" dirty="0">
                <a:solidFill>
                  <a:schemeClr val="tx2"/>
                </a:solidFill>
              </a:rPr>
              <a:t>Corre las 115 pruebas locales de todos los paquetes</a:t>
            </a:r>
            <a:endParaRPr lang="en-US" sz="1400" dirty="0"/>
          </a:p>
        </p:txBody>
      </p:sp>
      <p:sp>
        <p:nvSpPr>
          <p:cNvPr id="9" name="Shape 7"/>
          <p:cNvSpPr/>
          <p:nvPr/>
        </p:nvSpPr>
        <p:spPr>
          <a:xfrm>
            <a:off x="548640" y="3118104"/>
            <a:ext cx="11064240" cy="749808"/>
          </a:xfrm>
          <a:prstGeom prst="roundRect">
            <a:avLst>
              <a:gd name="adj" fmla="val 14634"/>
            </a:avLst>
          </a:prstGeom>
          <a:solidFill>
            <a:srgbClr val="0D0D0D"/>
          </a:solidFill>
          <a:ln w="12700">
            <a:solidFill>
              <a:srgbClr val="2A2A2A"/>
            </a:solidFill>
            <a:prstDash val="solid"/>
          </a:ln>
        </p:spPr>
      </p:sp>
      <p:sp>
        <p:nvSpPr>
          <p:cNvPr id="10" name="Text 8"/>
          <p:cNvSpPr txBox="1"/>
          <p:nvPr/>
        </p:nvSpPr>
        <p:spPr>
          <a:xfrm>
            <a:off x="822960" y="3118104"/>
            <a:ext cx="6309360" cy="749808"/>
          </a:xfrm>
          <a:prstGeom prst="rect">
            <a:avLst/>
          </a:prstGeom>
          <a:noFill/>
          <a:ln/>
        </p:spPr>
        <p:txBody>
          <a:bodyPr wrap="square" lIns="0" tIns="0" rIns="0" bIns="0" rtlCol="0" anchor="ctr"/>
          <a:lstStyle/>
          <a:p>
            <a:pPr indent="0" marL="0">
              <a:buNone/>
            </a:pPr>
            <a:r>
              <a:rPr lang="en-US" sz="1500" dirty="0">
                <a:solidFill>
                  <a:srgbClr val="C8C8AD"/>
                </a:solidFill>
                <a:latin typeface="Courier New" pitchFamily="34" charset="0"/>
                <a:ea typeface="Courier New" pitchFamily="34" charset="-122"/>
                <a:cs typeface="Courier New" pitchFamily="34" charset="-120"/>
              </a:rPr>
              <a:t>$ </a:t>
            </a:r>
            <a:pPr indent="0" marL="0">
              <a:buNone/>
            </a:pPr>
            <a:r>
              <a:rPr lang="en-US" sz="1500" b="1" dirty="0">
                <a:solidFill>
                  <a:srgbClr val="C8D400"/>
                </a:solidFill>
                <a:latin typeface="Courier New" pitchFamily="34" charset="0"/>
                <a:ea typeface="Courier New" pitchFamily="34" charset="-122"/>
                <a:cs typeface="Courier New" pitchFamily="34" charset="-120"/>
              </a:rPr>
              <a:t>cd services/gateway &amp;&amp; bun test test/security</a:t>
            </a:r>
            <a:endParaRPr lang="en-US" sz="1500" dirty="0"/>
          </a:p>
        </p:txBody>
      </p:sp>
      <p:sp>
        <p:nvSpPr>
          <p:cNvPr id="11" name="Text 9"/>
          <p:cNvSpPr txBox="1"/>
          <p:nvPr/>
        </p:nvSpPr>
        <p:spPr>
          <a:xfrm>
            <a:off x="6995160" y="3118104"/>
            <a:ext cx="4480560" cy="749808"/>
          </a:xfrm>
          <a:prstGeom prst="rect">
            <a:avLst/>
          </a:prstGeom>
          <a:noFill/>
          <a:ln/>
        </p:spPr>
        <p:txBody>
          <a:bodyPr wrap="square" lIns="0" tIns="0" rIns="0" bIns="0" rtlCol="0" anchor="ctr"/>
          <a:lstStyle/>
          <a:p>
            <a:pPr indent="0" marL="0">
              <a:buNone/>
            </a:pPr>
            <a:r>
              <a:rPr lang="en-US" sz="1400" dirty="0">
                <a:solidFill>
                  <a:schemeClr val="tx2"/>
                </a:solidFill>
              </a:rPr>
              <a:t>Solo un tipo de prueba en un servicio</a:t>
            </a:r>
            <a:endParaRPr lang="en-US" sz="1400" dirty="0"/>
          </a:p>
        </p:txBody>
      </p:sp>
      <p:sp>
        <p:nvSpPr>
          <p:cNvPr id="12" name="Shape 10"/>
          <p:cNvSpPr/>
          <p:nvPr/>
        </p:nvSpPr>
        <p:spPr>
          <a:xfrm>
            <a:off x="548640" y="4014216"/>
            <a:ext cx="11064240" cy="749808"/>
          </a:xfrm>
          <a:prstGeom prst="roundRect">
            <a:avLst>
              <a:gd name="adj" fmla="val 14634"/>
            </a:avLst>
          </a:prstGeom>
          <a:solidFill>
            <a:srgbClr val="0D0D0D"/>
          </a:solidFill>
          <a:ln w="12700">
            <a:solidFill>
              <a:srgbClr val="2A2A2A"/>
            </a:solidFill>
            <a:prstDash val="solid"/>
          </a:ln>
        </p:spPr>
      </p:sp>
      <p:sp>
        <p:nvSpPr>
          <p:cNvPr id="13" name="Text 11"/>
          <p:cNvSpPr txBox="1"/>
          <p:nvPr/>
        </p:nvSpPr>
        <p:spPr>
          <a:xfrm>
            <a:off x="822960" y="4014216"/>
            <a:ext cx="6309360" cy="749808"/>
          </a:xfrm>
          <a:prstGeom prst="rect">
            <a:avLst/>
          </a:prstGeom>
          <a:noFill/>
          <a:ln/>
        </p:spPr>
        <p:txBody>
          <a:bodyPr wrap="square" lIns="0" tIns="0" rIns="0" bIns="0" rtlCol="0" anchor="ctr"/>
          <a:lstStyle/>
          <a:p>
            <a:pPr indent="0" marL="0">
              <a:buNone/>
            </a:pPr>
            <a:r>
              <a:rPr lang="en-US" sz="1500" dirty="0">
                <a:solidFill>
                  <a:srgbClr val="C8C8AD"/>
                </a:solidFill>
                <a:latin typeface="Courier New" pitchFamily="34" charset="0"/>
                <a:ea typeface="Courier New" pitchFamily="34" charset="-122"/>
                <a:cs typeface="Courier New" pitchFamily="34" charset="-120"/>
              </a:rPr>
              <a:t>$ </a:t>
            </a:r>
            <a:pPr indent="0" marL="0">
              <a:buNone/>
            </a:pPr>
            <a:r>
              <a:rPr lang="en-US" sz="1500" b="1" dirty="0">
                <a:solidFill>
                  <a:srgbClr val="C8D400"/>
                </a:solidFill>
                <a:latin typeface="Courier New" pitchFamily="34" charset="0"/>
                <a:ea typeface="Courier New" pitchFamily="34" charset="-122"/>
                <a:cs typeface="Courier New" pitchFamily="34" charset="-120"/>
              </a:rPr>
              <a:t>bun run test:postman</a:t>
            </a:r>
            <a:endParaRPr lang="en-US" sz="1500" dirty="0"/>
          </a:p>
        </p:txBody>
      </p:sp>
      <p:sp>
        <p:nvSpPr>
          <p:cNvPr id="14" name="Text 12"/>
          <p:cNvSpPr txBox="1"/>
          <p:nvPr/>
        </p:nvSpPr>
        <p:spPr>
          <a:xfrm>
            <a:off x="6995160" y="4014216"/>
            <a:ext cx="4480560" cy="749808"/>
          </a:xfrm>
          <a:prstGeom prst="rect">
            <a:avLst/>
          </a:prstGeom>
          <a:noFill/>
          <a:ln/>
        </p:spPr>
        <p:txBody>
          <a:bodyPr wrap="square" lIns="0" tIns="0" rIns="0" bIns="0" rtlCol="0" anchor="ctr"/>
          <a:lstStyle/>
          <a:p>
            <a:pPr indent="0" marL="0">
              <a:buNone/>
            </a:pPr>
            <a:r>
              <a:rPr lang="en-US" sz="1400" dirty="0">
                <a:solidFill>
                  <a:schemeClr val="tx2"/>
                </a:solidFill>
              </a:rPr>
              <a:t>Colección de Postman contra Render</a:t>
            </a:r>
            <a:endParaRPr lang="en-US" sz="1400" dirty="0"/>
          </a:p>
        </p:txBody>
      </p:sp>
      <p:sp>
        <p:nvSpPr>
          <p:cNvPr id="15" name="Shape 13"/>
          <p:cNvSpPr/>
          <p:nvPr/>
        </p:nvSpPr>
        <p:spPr>
          <a:xfrm>
            <a:off x="548640" y="4910328"/>
            <a:ext cx="11064240" cy="749808"/>
          </a:xfrm>
          <a:prstGeom prst="roundRect">
            <a:avLst>
              <a:gd name="adj" fmla="val 14634"/>
            </a:avLst>
          </a:prstGeom>
          <a:solidFill>
            <a:srgbClr val="0D0D0D"/>
          </a:solidFill>
          <a:ln w="12700">
            <a:solidFill>
              <a:srgbClr val="2A2A2A"/>
            </a:solidFill>
            <a:prstDash val="solid"/>
          </a:ln>
        </p:spPr>
      </p:sp>
      <p:sp>
        <p:nvSpPr>
          <p:cNvPr id="16" name="Text 14"/>
          <p:cNvSpPr txBox="1"/>
          <p:nvPr/>
        </p:nvSpPr>
        <p:spPr>
          <a:xfrm>
            <a:off x="822960" y="4910328"/>
            <a:ext cx="6309360" cy="749808"/>
          </a:xfrm>
          <a:prstGeom prst="rect">
            <a:avLst/>
          </a:prstGeom>
          <a:noFill/>
          <a:ln/>
        </p:spPr>
        <p:txBody>
          <a:bodyPr wrap="square" lIns="0" tIns="0" rIns="0" bIns="0" rtlCol="0" anchor="ctr"/>
          <a:lstStyle/>
          <a:p>
            <a:pPr indent="0" marL="0">
              <a:buNone/>
            </a:pPr>
            <a:r>
              <a:rPr lang="en-US" sz="1500" dirty="0">
                <a:solidFill>
                  <a:srgbClr val="C8C8AD"/>
                </a:solidFill>
                <a:latin typeface="Courier New" pitchFamily="34" charset="0"/>
                <a:ea typeface="Courier New" pitchFamily="34" charset="-122"/>
                <a:cs typeface="Courier New" pitchFamily="34" charset="-120"/>
              </a:rPr>
              <a:t>$ </a:t>
            </a:r>
            <a:pPr indent="0" marL="0">
              <a:buNone/>
            </a:pPr>
            <a:r>
              <a:rPr lang="en-US" sz="1500" b="1" dirty="0">
                <a:solidFill>
                  <a:srgbClr val="C8D400"/>
                </a:solidFill>
                <a:latin typeface="Courier New" pitchFamily="34" charset="0"/>
                <a:ea typeface="Courier New" pitchFamily="34" charset="-122"/>
                <a:cs typeface="Courier New" pitchFamily="34" charset="-120"/>
              </a:rPr>
              <a:t>bun run tests:report -- --postman</a:t>
            </a:r>
            <a:endParaRPr lang="en-US" sz="1500" dirty="0"/>
          </a:p>
        </p:txBody>
      </p:sp>
      <p:sp>
        <p:nvSpPr>
          <p:cNvPr id="17" name="Text 15"/>
          <p:cNvSpPr txBox="1"/>
          <p:nvPr/>
        </p:nvSpPr>
        <p:spPr>
          <a:xfrm>
            <a:off x="6995160" y="4910328"/>
            <a:ext cx="4480560" cy="749808"/>
          </a:xfrm>
          <a:prstGeom prst="rect">
            <a:avLst/>
          </a:prstGeom>
          <a:noFill/>
          <a:ln/>
        </p:spPr>
        <p:txBody>
          <a:bodyPr wrap="square" lIns="0" tIns="0" rIns="0" bIns="0" rtlCol="0" anchor="ctr"/>
          <a:lstStyle/>
          <a:p>
            <a:pPr indent="0" marL="0">
              <a:buNone/>
            </a:pPr>
            <a:r>
              <a:rPr lang="en-US" sz="1400" dirty="0">
                <a:solidFill>
                  <a:schemeClr val="tx2"/>
                </a:solidFill>
              </a:rPr>
              <a:t>Todo + actualiza la página de pruebas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Conclusiones</a:t>
            </a:r>
            <a:endParaRPr lang="en-US" sz="3200" dirty="0"/>
          </a:p>
        </p:txBody>
      </p:sp>
      <p:sp>
        <p:nvSpPr>
          <p:cNvPr id="3" name="Shape 1"/>
          <p:cNvSpPr/>
          <p:nvPr/>
        </p:nvSpPr>
        <p:spPr>
          <a:xfrm>
            <a:off x="548640" y="1371600"/>
            <a:ext cx="640080" cy="640080"/>
          </a:xfrm>
          <a:prstGeom prst="ellipse">
            <a:avLst/>
          </a:prstGeom>
          <a:solidFill>
            <a:schemeClr val="accent6"/>
          </a:solidFill>
          <a:ln w="12700">
            <a:solidFill>
              <a:srgbClr val="2A2A2A"/>
            </a:solidFill>
            <a:prstDash val="solid"/>
          </a:ln>
        </p:spPr>
      </p:sp>
      <p:pic>
        <p:nvPicPr>
          <p:cNvPr id="4" name="Image 0" descr="preencoded.png">    </p:cNvPr>
          <p:cNvPicPr>
            <a:picLocks noChangeAspect="1"/>
          </p:cNvPicPr>
          <p:nvPr/>
        </p:nvPicPr>
        <p:blipFill>
          <a:blip r:embed="rId1"/>
          <a:stretch>
            <a:fillRect/>
          </a:stretch>
        </p:blipFill>
        <p:spPr>
          <a:xfrm>
            <a:off x="702259" y="1525219"/>
            <a:ext cx="332842" cy="332842"/>
          </a:xfrm>
          <a:prstGeom prst="rect">
            <a:avLst/>
          </a:prstGeom>
        </p:spPr>
      </p:pic>
      <p:sp>
        <p:nvSpPr>
          <p:cNvPr id="5" name="Text 2"/>
          <p:cNvSpPr txBox="1"/>
          <p:nvPr/>
        </p:nvSpPr>
        <p:spPr>
          <a:xfrm>
            <a:off x="1463040" y="1371600"/>
            <a:ext cx="6035040" cy="685800"/>
          </a:xfrm>
          <a:prstGeom prst="rect">
            <a:avLst/>
          </a:prstGeom>
          <a:noFill/>
          <a:ln/>
        </p:spPr>
        <p:txBody>
          <a:bodyPr wrap="square" lIns="0" tIns="0" rIns="0" bIns="0" rtlCol="0" anchor="ctr"/>
          <a:lstStyle/>
          <a:p>
            <a:pPr indent="0" marL="0">
              <a:buNone/>
            </a:pPr>
            <a:r>
              <a:rPr lang="en-US" sz="1600" dirty="0">
                <a:solidFill>
                  <a:schemeClr val="tx1"/>
                </a:solidFill>
              </a:rPr>
              <a:t>Tres microservicios con una sola responsabilidad cada uno, comunicados por HTTP y protegidos por un gateway.</a:t>
            </a:r>
            <a:endParaRPr lang="en-US" sz="1600" dirty="0"/>
          </a:p>
        </p:txBody>
      </p:sp>
      <p:sp>
        <p:nvSpPr>
          <p:cNvPr id="6" name="Shape 3"/>
          <p:cNvSpPr/>
          <p:nvPr/>
        </p:nvSpPr>
        <p:spPr>
          <a:xfrm>
            <a:off x="548640" y="2395728"/>
            <a:ext cx="640080" cy="640080"/>
          </a:xfrm>
          <a:prstGeom prst="ellipse">
            <a:avLst/>
          </a:prstGeom>
          <a:solidFill>
            <a:schemeClr val="accent6"/>
          </a:solidFill>
          <a:ln w="12700">
            <a:solidFill>
              <a:srgbClr val="2A2A2A"/>
            </a:solidFill>
            <a:prstDash val="solid"/>
          </a:ln>
        </p:spPr>
      </p:sp>
      <p:pic>
        <p:nvPicPr>
          <p:cNvPr id="7" name="Image 1" descr="preencoded.png">    </p:cNvPr>
          <p:cNvPicPr>
            <a:picLocks noChangeAspect="1"/>
          </p:cNvPicPr>
          <p:nvPr/>
        </p:nvPicPr>
        <p:blipFill>
          <a:blip r:embed="rId2"/>
          <a:stretch>
            <a:fillRect/>
          </a:stretch>
        </p:blipFill>
        <p:spPr>
          <a:xfrm>
            <a:off x="702259" y="2549347"/>
            <a:ext cx="332842" cy="332842"/>
          </a:xfrm>
          <a:prstGeom prst="rect">
            <a:avLst/>
          </a:prstGeom>
        </p:spPr>
      </p:pic>
      <p:sp>
        <p:nvSpPr>
          <p:cNvPr id="8" name="Text 4"/>
          <p:cNvSpPr txBox="1"/>
          <p:nvPr/>
        </p:nvSpPr>
        <p:spPr>
          <a:xfrm>
            <a:off x="1463040" y="2395728"/>
            <a:ext cx="6035040" cy="685800"/>
          </a:xfrm>
          <a:prstGeom prst="rect">
            <a:avLst/>
          </a:prstGeom>
          <a:noFill/>
          <a:ln/>
        </p:spPr>
        <p:txBody>
          <a:bodyPr wrap="square" lIns="0" tIns="0" rIns="0" bIns="0" rtlCol="0" anchor="ctr"/>
          <a:lstStyle/>
          <a:p>
            <a:pPr indent="0" marL="0">
              <a:buNone/>
            </a:pPr>
            <a:r>
              <a:rPr lang="en-US" sz="1600" dirty="0">
                <a:solidFill>
                  <a:schemeClr val="tx1"/>
                </a:solidFill>
              </a:rPr>
              <a:t>128 pruebas de cuatro tipos, alineadas con las herramientas vistas en clase.</a:t>
            </a:r>
            <a:endParaRPr lang="en-US" sz="1600" dirty="0"/>
          </a:p>
        </p:txBody>
      </p:sp>
      <p:sp>
        <p:nvSpPr>
          <p:cNvPr id="9" name="Shape 5"/>
          <p:cNvSpPr/>
          <p:nvPr/>
        </p:nvSpPr>
        <p:spPr>
          <a:xfrm>
            <a:off x="548640" y="3419856"/>
            <a:ext cx="640080" cy="640080"/>
          </a:xfrm>
          <a:prstGeom prst="ellipse">
            <a:avLst/>
          </a:prstGeom>
          <a:solidFill>
            <a:schemeClr val="accent6"/>
          </a:solidFill>
          <a:ln w="12700">
            <a:solidFill>
              <a:srgbClr val="2A2A2A"/>
            </a:solidFill>
            <a:prstDash val="solid"/>
          </a:ln>
        </p:spPr>
      </p:sp>
      <p:pic>
        <p:nvPicPr>
          <p:cNvPr id="10" name="Image 2" descr="preencoded.png">    </p:cNvPr>
          <p:cNvPicPr>
            <a:picLocks noChangeAspect="1"/>
          </p:cNvPicPr>
          <p:nvPr/>
        </p:nvPicPr>
        <p:blipFill>
          <a:blip r:embed="rId3"/>
          <a:stretch>
            <a:fillRect/>
          </a:stretch>
        </p:blipFill>
        <p:spPr>
          <a:xfrm>
            <a:off x="702259" y="3573475"/>
            <a:ext cx="332842" cy="332842"/>
          </a:xfrm>
          <a:prstGeom prst="rect">
            <a:avLst/>
          </a:prstGeom>
        </p:spPr>
      </p:pic>
      <p:sp>
        <p:nvSpPr>
          <p:cNvPr id="11" name="Text 6"/>
          <p:cNvSpPr txBox="1"/>
          <p:nvPr/>
        </p:nvSpPr>
        <p:spPr>
          <a:xfrm>
            <a:off x="1463040" y="3419856"/>
            <a:ext cx="6035040" cy="685800"/>
          </a:xfrm>
          <a:prstGeom prst="rect">
            <a:avLst/>
          </a:prstGeom>
          <a:noFill/>
          <a:ln/>
        </p:spPr>
        <p:txBody>
          <a:bodyPr wrap="square" lIns="0" tIns="0" rIns="0" bIns="0" rtlCol="0" anchor="ctr"/>
          <a:lstStyle/>
          <a:p>
            <a:pPr indent="0" marL="0">
              <a:buNone/>
            </a:pPr>
            <a:r>
              <a:rPr lang="en-US" sz="1600" dirty="0">
                <a:solidFill>
                  <a:schemeClr val="tx1"/>
                </a:solidFill>
              </a:rPr>
              <a:t>Las pruebas de seguridad comprueban autenticación, autorización y RLS, también contra la base real.</a:t>
            </a:r>
            <a:endParaRPr lang="en-US" sz="1600" dirty="0"/>
          </a:p>
        </p:txBody>
      </p:sp>
      <p:sp>
        <p:nvSpPr>
          <p:cNvPr id="12" name="Shape 7"/>
          <p:cNvSpPr/>
          <p:nvPr/>
        </p:nvSpPr>
        <p:spPr>
          <a:xfrm>
            <a:off x="548640" y="4443984"/>
            <a:ext cx="640080" cy="640080"/>
          </a:xfrm>
          <a:prstGeom prst="ellipse">
            <a:avLst/>
          </a:prstGeom>
          <a:solidFill>
            <a:schemeClr val="accent6"/>
          </a:solidFill>
          <a:ln w="12700">
            <a:solidFill>
              <a:srgbClr val="2A2A2A"/>
            </a:solidFill>
            <a:prstDash val="solid"/>
          </a:ln>
        </p:spPr>
      </p:sp>
      <p:pic>
        <p:nvPicPr>
          <p:cNvPr id="13" name="Image 3" descr="preencoded.png">    </p:cNvPr>
          <p:cNvPicPr>
            <a:picLocks noChangeAspect="1"/>
          </p:cNvPicPr>
          <p:nvPr/>
        </p:nvPicPr>
        <p:blipFill>
          <a:blip r:embed="rId4"/>
          <a:stretch>
            <a:fillRect/>
          </a:stretch>
        </p:blipFill>
        <p:spPr>
          <a:xfrm>
            <a:off x="702259" y="4597603"/>
            <a:ext cx="332842" cy="332842"/>
          </a:xfrm>
          <a:prstGeom prst="rect">
            <a:avLst/>
          </a:prstGeom>
        </p:spPr>
      </p:pic>
      <p:sp>
        <p:nvSpPr>
          <p:cNvPr id="14" name="Text 8"/>
          <p:cNvSpPr txBox="1"/>
          <p:nvPr/>
        </p:nvSpPr>
        <p:spPr>
          <a:xfrm>
            <a:off x="1463040" y="4443984"/>
            <a:ext cx="6035040" cy="685800"/>
          </a:xfrm>
          <a:prstGeom prst="rect">
            <a:avLst/>
          </a:prstGeom>
          <a:noFill/>
          <a:ln/>
        </p:spPr>
        <p:txBody>
          <a:bodyPr wrap="square" lIns="0" tIns="0" rIns="0" bIns="0" rtlCol="0" anchor="ctr"/>
          <a:lstStyle/>
          <a:p>
            <a:pPr indent="0" marL="0">
              <a:buNone/>
            </a:pPr>
            <a:r>
              <a:rPr lang="en-US" sz="1600" dirty="0">
                <a:solidFill>
                  <a:schemeClr val="tx1"/>
                </a:solidFill>
              </a:rPr>
              <a:t>Probar sirvió: se encontró y corrigió un bug y se identificó un riesgo de abuso de cuota.</a:t>
            </a:r>
            <a:endParaRPr lang="en-US" sz="1600" dirty="0"/>
          </a:p>
        </p:txBody>
      </p:sp>
      <p:sp>
        <p:nvSpPr>
          <p:cNvPr id="15" name="Shape 9"/>
          <p:cNvSpPr/>
          <p:nvPr/>
        </p:nvSpPr>
        <p:spPr>
          <a:xfrm>
            <a:off x="7818120" y="1371600"/>
            <a:ext cx="3794760" cy="3886200"/>
          </a:xfrm>
          <a:prstGeom prst="roundRect">
            <a:avLst>
              <a:gd name="adj" fmla="val 2892"/>
            </a:avLst>
          </a:prstGeom>
          <a:solidFill>
            <a:schemeClr val="accent6"/>
          </a:solidFill>
          <a:ln w="12700">
            <a:solidFill>
              <a:srgbClr val="2A2A2A"/>
            </a:solidFill>
            <a:prstDash val="solid"/>
          </a:ln>
        </p:spPr>
      </p:sp>
      <p:sp>
        <p:nvSpPr>
          <p:cNvPr id="16" name="Text 10"/>
          <p:cNvSpPr txBox="1"/>
          <p:nvPr/>
        </p:nvSpPr>
        <p:spPr>
          <a:xfrm>
            <a:off x="8092440" y="1600200"/>
            <a:ext cx="3291840" cy="411480"/>
          </a:xfrm>
          <a:prstGeom prst="rect">
            <a:avLst/>
          </a:prstGeom>
          <a:noFill/>
          <a:ln/>
        </p:spPr>
        <p:txBody>
          <a:bodyPr wrap="square" lIns="0" tIns="0" rIns="0" bIns="0" rtlCol="0" anchor="t"/>
          <a:lstStyle/>
          <a:p>
            <a:pPr indent="0" marL="0">
              <a:buNone/>
            </a:pPr>
            <a:r>
              <a:rPr lang="en-US" sz="1800" b="1" dirty="0">
                <a:solidFill>
                  <a:schemeClr val="accent1"/>
                </a:solidFill>
              </a:rPr>
              <a:t>Próximos pasos</a:t>
            </a:r>
            <a:endParaRPr lang="en-US" sz="1800" dirty="0"/>
          </a:p>
        </p:txBody>
      </p:sp>
      <p:sp>
        <p:nvSpPr>
          <p:cNvPr id="17" name="Text 11"/>
          <p:cNvSpPr txBox="1"/>
          <p:nvPr/>
        </p:nvSpPr>
        <p:spPr>
          <a:xfrm>
            <a:off x="8092440" y="2103120"/>
            <a:ext cx="329184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Corregir la cuota por IP</a:t>
            </a:r>
            <a:endParaRPr lang="en-US" sz="1500" dirty="0"/>
          </a:p>
          <a:p>
            <a:pPr marL="342900" indent="-342900">
              <a:spcAft>
                <a:spcPts val="800"/>
              </a:spcAft>
              <a:buSzPct val="100000"/>
              <a:buChar char="•"/>
            </a:pPr>
            <a:r>
              <a:rPr lang="en-US" sz="1500" dirty="0">
                <a:solidFill>
                  <a:schemeClr val="tx2"/>
                </a:solidFill>
              </a:rPr>
              <a:t>Restringir CORS a la extensión y al panel</a:t>
            </a:r>
            <a:endParaRPr lang="en-US" sz="1500" dirty="0"/>
          </a:p>
          <a:p>
            <a:pPr marL="342900" indent="-342900">
              <a:spcAft>
                <a:spcPts val="800"/>
              </a:spcAft>
              <a:buSzPct val="100000"/>
              <a:buChar char="•"/>
            </a:pPr>
            <a:r>
              <a:rPr lang="en-US" sz="1500" dirty="0">
                <a:solidFill>
                  <a:schemeClr val="tx2"/>
                </a:solidFill>
              </a:rPr>
              <a:t>Pruebas E2E de la extensión con Selenium</a:t>
            </a:r>
            <a:endParaRPr lang="en-US" sz="1500" dirty="0"/>
          </a:p>
          <a:p>
            <a:pPr marL="342900" indent="-342900">
              <a:spcAft>
                <a:spcPts val="800"/>
              </a:spcAft>
              <a:buSzPct val="100000"/>
              <a:buChar char="•"/>
            </a:pPr>
            <a:r>
              <a:rPr lang="en-US" sz="1500" dirty="0">
                <a:solidFill>
                  <a:schemeClr val="tx2"/>
                </a:solidFill>
              </a:rPr>
              <a:t>Ejecutar las pruebas en cada push (CI)</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8C8A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377440"/>
            <a:ext cx="8229600" cy="411480"/>
          </a:xfrm>
          <a:prstGeom prst="rect">
            <a:avLst/>
          </a:prstGeom>
          <a:noFill/>
          <a:ln/>
        </p:spPr>
        <p:txBody>
          <a:bodyPr wrap="square" lIns="0" tIns="0" rIns="0" bIns="0" rtlCol="0"/>
          <a:lstStyle/>
          <a:p>
            <a:pPr indent="0" marL="0">
              <a:buNone/>
            </a:pPr>
            <a:r>
              <a:rPr lang="en-US" sz="1600" b="1" dirty="0">
                <a:solidFill>
                  <a:schemeClr val="accent1"/>
                </a:solidFill>
              </a:rPr>
              <a:t>Mail Guard</a:t>
            </a:r>
            <a:endParaRPr lang="en-US" sz="1600" dirty="0"/>
          </a:p>
        </p:txBody>
      </p:sp>
      <p:sp>
        <p:nvSpPr>
          <p:cNvPr id="3" name="Text 0"/>
          <p:cNvSpPr/>
          <p:nvPr>
            <p:ph idx="101" type="title" hasCustomPrompt="1"/>
          </p:nvPr>
        </p:nvSpPr>
        <p:spPr>
          <a:xfrm>
            <a:off x="548640" y="2834640"/>
            <a:ext cx="10058400" cy="1097280"/>
          </a:xfrm>
          <a:prstGeom prst="rect">
            <a:avLst/>
          </a:prstGeom>
          <a:noFill/>
          <a:ln/>
        </p:spPr>
        <p:txBody>
          <a:bodyPr wrap="square" lIns="0" tIns="0" rIns="0" bIns="0" rtlCol="0" anchor="t"/>
          <a:lstStyle/>
          <a:p>
            <a:pPr algn="l" indent="0" marL="0">
              <a:buNone/>
            </a:pPr>
            <a:r>
              <a:rPr lang="en-US" sz="4800" b="1" dirty="0">
                <a:solidFill>
                  <a:schemeClr val="tx1"/>
                </a:solidFill>
                <a:latin typeface="Arial" pitchFamily="34" charset="0"/>
                <a:ea typeface="Arial" pitchFamily="34" charset="-122"/>
                <a:cs typeface="Arial" pitchFamily="34" charset="-120"/>
              </a:rPr>
              <a:t>¡Gracias! ¿Preguntas?</a:t>
            </a:r>
            <a:endParaRPr lang="en-US" sz="4800" dirty="0"/>
          </a:p>
        </p:txBody>
      </p:sp>
      <p:sp>
        <p:nvSpPr>
          <p:cNvPr id="4" name="Text 0"/>
          <p:cNvSpPr/>
          <p:nvPr>
            <p:ph idx="102" type="body" hasCustomPrompt="1"/>
          </p:nvPr>
        </p:nvSpPr>
        <p:spPr>
          <a:xfrm>
            <a:off x="548640" y="3977640"/>
            <a:ext cx="9144000" cy="822960"/>
          </a:xfrm>
          <a:prstGeom prst="rect">
            <a:avLst/>
          </a:prstGeom>
          <a:noFill/>
          <a:ln/>
        </p:spPr>
        <p:txBody>
          <a:bodyPr wrap="square" lIns="0" tIns="0" rIns="0" bIns="0" rtlCol="0" anchor="t"/>
          <a:lstStyle/>
          <a:p>
            <a:pPr indent="0" marL="0">
              <a:buNone/>
            </a:pPr>
            <a:r>
              <a:rPr lang="en-US" sz="2000" dirty="0">
                <a:solidFill>
                  <a:schemeClr val="tx2"/>
                </a:solidFill>
              </a:rPr>
              <a:t>Código: github.com/bgrados31/uts-mail-guard</a:t>
            </a:r>
            <a:endParaRPr lang="en-US" sz="2000" dirty="0"/>
          </a:p>
          <a:p>
            <a:pPr indent="0" marL="0">
              <a:buNone/>
            </a:pPr>
            <a:r>
              <a:rPr lang="en-US" sz="2000" dirty="0">
                <a:solidFill>
                  <a:schemeClr val="tx2"/>
                </a:solidFill>
              </a:rPr>
              <a:t>Pruebas: uts-mail-guard-extension-dashboard.vercel.app/dashboard/tests</a:t>
            </a:r>
            <a:endParaRPr lang="en-US" sz="2000" dirty="0"/>
          </a:p>
        </p:txBody>
      </p:sp>
      <p:sp>
        <p:nvSpPr>
          <p:cNvPr id="5" name="Shape 3"/>
          <p:cNvSpPr/>
          <p:nvPr/>
        </p:nvSpPr>
        <p:spPr>
          <a:xfrm>
            <a:off x="548640" y="1371600"/>
            <a:ext cx="822960" cy="822960"/>
          </a:xfrm>
          <a:prstGeom prst="ellipse">
            <a:avLst/>
          </a:prstGeom>
          <a:solidFill>
            <a:schemeClr val="accent6"/>
          </a:solidFill>
          <a:ln w="12700">
            <a:solidFill>
              <a:srgbClr val="2A2A2A"/>
            </a:solidFill>
            <a:prstDash val="solid"/>
          </a:ln>
        </p:spPr>
      </p:sp>
      <p:pic>
        <p:nvPicPr>
          <p:cNvPr id="6" name="Image 0" descr="preencoded.png">    </p:cNvPr>
          <p:cNvPicPr>
            <a:picLocks noChangeAspect="1"/>
          </p:cNvPicPr>
          <p:nvPr/>
        </p:nvPicPr>
        <p:blipFill>
          <a:blip r:embed="rId1"/>
          <a:stretch>
            <a:fillRect/>
          </a:stretch>
        </p:blipFill>
        <p:spPr>
          <a:xfrm>
            <a:off x="746150" y="1569110"/>
            <a:ext cx="427939" cy="427939"/>
          </a:xfrm>
          <a:prstGeom prst="rect">
            <a:avLst/>
          </a:prstGeom>
        </p:spPr>
      </p:pic>
    </p:spTree>
  </p:cSld>
  <p:clrMapOvr>
    <a:masterClrMapping/>
  </p:clrMapOvr>
</p:sld>
</file>

<file path=ppt/theme/theme1.xml><?xml version="1.0" encoding="utf-8"?>
<a:theme xmlns:a="http://schemas.openxmlformats.org/drawingml/2006/main" name="Mail Guard">
  <a:themeElements>
    <a:clrScheme name="Mail Guard">
      <a:dk1>
        <a:srgbClr val="FFFFFF"/>
      </a:dk1>
      <a:lt1>
        <a:srgbClr val="131313"/>
      </a:lt1>
      <a:dk2>
        <a:srgbClr val="C8C8AD"/>
      </a:dk2>
      <a:lt2>
        <a:srgbClr val="1E1E1E"/>
      </a:lt2>
      <a:accent1>
        <a:srgbClr val="C8D400"/>
      </a:accent1>
      <a:accent2>
        <a:srgbClr val="4EDEA3"/>
      </a:accent2>
      <a:accent3>
        <a:srgbClr val="F87171"/>
      </a:accent3>
      <a:accent4>
        <a:srgbClr val="FBBF24"/>
      </a:accent4>
      <a:accent5>
        <a:srgbClr val="7DD3FC"/>
      </a:accent5>
      <a:accent6>
        <a:srgbClr val="2A2A2A"/>
      </a:accent6>
      <a:hlink>
        <a:srgbClr val="C8D400"/>
      </a:hlink>
      <a:folHlink>
        <a:srgbClr val="E4F132"/>
      </a:folHlink>
    </a:clrScheme>
    <a:fontScheme name="Mail Gu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 Guard: microservicios y pruebas de software</dc:title>
  <dc:subject>Marcos de Trabajo</dc:subject>
  <dc:creator>PptxGenJS</dc:creator>
  <cp:lastModifiedBy>PptxGenJS</cp:lastModifiedBy>
  <cp:revision>1</cp:revision>
  <dcterms:created xsi:type="dcterms:W3CDTF">2026-10-13T08:13:43Z</dcterms:created>
  <dcterms:modified xsi:type="dcterms:W3CDTF">2026-10-13T08:13:43Z</dcterms:modified>
</cp:coreProperties>
</file>