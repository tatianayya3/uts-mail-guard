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151c9ee2-653e-159c-7df0-31b5e55e1c12}">
          <p14:sldIdLst>
            <p14:sldId id="256"/>
            <p14:sldId id="257"/>
            <p14:sldId id="258"/>
            <p14:sldId id="259"/>
          </p14:sldIdLst>
        </p14:section>
        <p14:section name="Las 8 fases" id="{763e2dc0-3ab5-9e97-a72f-064a2ae9e0ed}">
          <p14:sldIdLst>
            <p14:sldId id="260"/>
            <p14:sldId id="261"/>
            <p14:sldId id="262"/>
            <p14:sldId id="263"/>
            <p14:sldId id="264"/>
            <p14:sldId id="265"/>
            <p14:sldId id="266"/>
            <p14:sldId id="267"/>
            <p14:sldId id="268"/>
            <p14:sldId id="269"/>
          </p14:sldIdLst>
        </p14:section>
        <p14:section name="Microservicios sin Docker" id="{20c61a0a-419b-0477-ae06-803454efd098}">
          <p14:sldIdLst>
            <p14:sldId id="270"/>
            <p14:sldId id="271"/>
            <p14:sldId id="272"/>
          </p14:sldIdLst>
        </p14:section>
        <p14:section name="Cierre" id="{1d62acd1-95f1-0ca2-e09f-5002262b2a7f}">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Pruebas</c:v>
                </c:pt>
              </c:strCache>
            </c:strRef>
          </c:tx>
          <c:spPr>
            <a:solidFill>
              <a:srgbClr val="4EDEA3"/>
            </a:solidFill>
            <a:effectLst/>
          </c:spPr>
          <c:invertIfNegative val="0"/>
          <c:dLbls>
            <c:numFmt formatCode="#,##0" sourceLinked="0"/>
            <c:txPr>
              <a:bodyPr/>
              <a:lstStyle/>
              <a:p>
                <a:pPr>
                  <a:defRPr b="1" i="0" strike="noStrike" sz="1400" u="none">
                    <a:solidFill>
                      <a:srgbClr val="FFFFFF"/>
                    </a:solidFill>
                    <a:latin typeface="+mn-lt"/>
                  </a:defRPr>
                </a:pPr>
              </a:p>
            </c:txPr>
            <c:showLegendKey val="0"/>
            <c:showVal val="1"/>
            <c:showCatName val="0"/>
            <c:showSerName val="0"/>
            <c:showPercent val="0"/>
            <c:showBubbleSize val="0"/>
            <c:showLeaderLines val="0"/>
          </c:dLbls>
          <c:cat>
            <c:multiLvlStrRef>
              <c:f>Sheet1!$A$2:$A$5</c:f>
              <c:multiLvlStrCache>
                <c:ptCount val="4"/>
                <c:lvl>
                  <c:pt idx="0">
                    <c:v>Unitarias</c:v>
                  </c:pt>
                  <c:pt idx="1">
                    <c:v>Seguridad</c:v>
                  </c:pt>
                  <c:pt idx="2">
                    <c:v>API (bun + Postman)</c:v>
                  </c:pt>
                  <c:pt idx="3">
                    <c:v>Aceptación (Gherkin)</c:v>
                  </c:pt>
                </c:lvl>
              </c:multiLvlStrCache>
            </c:multiLvlStrRef>
          </c:cat>
          <c:val>
            <c:numRef>
              <c:f>Sheet1!$B$2:$B$5</c:f>
              <c:numCache>
                <c:formatCode>General</c:formatCode>
                <c:ptCount val="4"/>
                <c:pt idx="0">
                  <c:v>69</c:v>
                </c:pt>
                <c:pt idx="1">
                  <c:v>33</c:v>
                </c:pt>
                <c:pt idx="2">
                  <c:v>31</c:v>
                </c:pt>
                <c:pt idx="3">
                  <c:v>8</c:v>
                </c:pt>
              </c:numCache>
            </c:numRef>
          </c:val>
        </c:ser>
        <c:dLbls>
          <c:numFmt formatCode="#,##0" sourceLinked="0"/>
          <c:txPr>
            <a:bodyPr/>
            <a:lstStyle/>
            <a:p>
              <a:pPr>
                <a:defRPr b="1" i="0" strike="noStrike" sz="1400" u="none">
                  <a:solidFill>
                    <a:srgbClr val="FFFFFF"/>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E4E4E7"/>
                </a:solidFill>
                <a:latin typeface="+mn-lt"/>
              </a:defRPr>
            </a:pPr>
            <a:endParaRPr lang="en-US"/>
          </a:p>
        </c:txPr>
        <c:crossAx val="2094734552"/>
        <c:crosses val="autoZero"/>
        <c:auto val="1"/>
        <c:lblAlgn val="ctr"/>
        <c:noMultiLvlLbl val="1"/>
      </c:catAx>
      <c:valAx>
        <c:axId val="2094734552"/>
        <c:scaling>
          <c:orientation val="minMax"/>
          <c:max val="8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el equipo de Mail Guard, la extensión de Chrome que detecta phishing en Gmail y Outlook. Hoy no vamos a explicar teoría de DevOps: vamos a mostrar, fase por fase, qué herramienta usamos, cómo la instalamos, cómo la configuramos y cómo funciona en nuestro proyecto. Al final mostramos los dos microservicios que corren como software, sin 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evaluación tiene dos partes. La parte A son dos microservicios hechos como software: no van dentro de Docker, son scripts que corremos directamente con Bun. La parte B son las fases de DevOps: para cada una mostramos la herramienta aplicada al proyecto. Los tres microservicios están desplegados en Render, hay 141 pruebas que se ejecutan solas en cada cambio y tres workflows de GitHub Actions: CI, Release y Operate.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ciclo completo. Debajo de cada fase está la herramienta que usamos. Lo importante es que una herramienta puede servir para varias fases: GitHub nos cubre Plan con Projects, Code con el repositorio y los Pull Requests, Build y Test con Actions, y Release con Releases y el registro de contenedores. Docker aparece en Build, en Operate y en Monitor.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conectan las fases. Cada cambio entra por un Pull Request; GitHub Actions compila y prueba; si todo pasa, se fusiona a main y Render despliega automáticamente, porque lo configuramos para esperar a que los checks de GitHub estén en verde. Para sacar una versión creamos un tag: eso vuelve a correr el CI, publica la imagen Docker en el registro de GitHub y crea el Release con la extensión empaquetada. Si algo falla, el proceso se detiene: no se fusiona y no se despliega.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planear usamos GitHub Projects con un tablero Kanban y los issues de GitHub. No hay que instalar nada: en el repositorio vamos a Projects, New project y elegimos Board. Configuramos plantillas de issues en la carpeta .github: la de nuevas funciones obliga a indicar a qué fase de DevOps pertenece la tarea y sus criterios de aceptación. Demo: abrimos el tablero, creamos un issue con la plantilla y mostramos un PR que dice Closes con el número del issue; al fusionarlo, GitHub mueve la tarjeta a Hecho.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código usamos Git y GitHub con el flujo GitHub Flow: cada cambio va en su propia rama y entra por un Pull Request. Configuramos la protección de la rama main: exige un PR, una aprobación y que el CI pase. Nadie puede subir directo a main. Para el estilo usamos ESLint, Prettier y TypeScript estricto, que se instalan con bun install. Demo: creamos una rama, abrimos el PR, el compañero lo aprueba y, con los checks en verde, se fusiona.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build usamos GitHub Actions como servidor de integración continua. No se instala: se crea el archivo ci.yml dentro de .github/workflows y GitHub lo ejecuta en cada push y en cada Pull Request. El job instala Bun, instala las dependencias con el lockfile congelado y corre Turborepo, que verifica tipos, revisa el estilo y compila los 12 paquetes del monorepo. Guardamos la caché de Turbo entre ejecuciones, así que lo que no cambió no se recompila. Otro job construye la imagen Docker de los microservicios. Demo: abrimos Actions, entramos al run y descargamos la extensión compilada que queda como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las pruebas usamos bun test, que viene con Bun: tenemos pruebas unitarias, de API, de seguridad y de aceptación escritas en Gherkin. Además, la colección de Postman se ejecuta con Newman. En el CI hay dos jobs: uno corre todas las pruebas del monorepo y las de la demo, y el otro levanta los tres microservicios de verdad y les lanza la colección de Postman. Demo: abrimos un PR con una prueba rota a propósito, el check queda en rojo y GitHub no deja fusionar.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números: son 141 pruebas. 69 unitarias, 33 de seguridad, 31 de API contando las 13 de Postman, y 8 escenarios de aceptación en Gherkin. Están repartidas en 9 proyectos, incluidos los microservicios de la demo. Todas corren en cada push, y el reporte también se ve en el panel web, en /dashboard/tests.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publicar versiones usamos versionado semántico: mayor, menor y parche. Con un script ponemos la misma versión en todos los paquetes, escribimos las notas en el CHANGELOG, hacemos commit y creamos el tag. El tag dispara el workflow release.yml: vuelve a correr todo el CI, publica la imagen Docker en el registro de contenedores de GitHub con las etiquetas de versión y crea el GitHub Release con la extensión empaquetada adjunta. No hay nada que instalar ni secretos que configurar: usa el token automático de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Desplegamos los tres microservicios en Render usando un Blueprint: el archivo render.yaml describe la infraestructura como código. En Render elegimos New, Blueprint, seleccionamos el repositorio y Render crea los tres servicios con su Dockerfile. La clave está en autoDeployTrigger: checksPass: Render espera a que GitHub Actions termine y solo despliega si todos los checks pasaron. Además, la versión nueva solo recibe tráfico cuando su /health responde. El panel web está en Vercel y la base de datos en Supabase. Demo: fusionamos un PR y vemos en Render el deploy disparado por ese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operar usamos Docker Compose en local y el panel de Render en producción. En el compose cada servicio se reinicia solo si se cae, Docker revisa su /health cada 15 segundos, tiene límites de CPU y memoria, y el gateway no arranca hasta que los otros dos estén sanos. En producción, Render guarda los logs y permite reiniciar o volver a una versión anterior. Creamos un workflow que despierta y revisa los tres servicios con un botón, y Dependabot abre PRs semanales para actualizar dependencias. Demo: matamos un contenedor y vemos cómo Docker lo levanta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monitorear usamos Prometheus y Grafana, que se levantan con Docker con un solo comando. Prometheus lee cada 15 segundos el endpoint /metrics de los tres microservicios y evalúa las alertas; Grafana arranca ya conectado y con nuestro dashboard cargado, sin configurar nada a mano. En producción usamos UptimeRobot, que revisa desde internet que el gateway responda. Demo: abrimos Grafana, generamos tráfico con Newman y vemos subir las gráficas; luego detenemos un servicio y su panel pasa a CAÍDO y se activa la alerta.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métricas salen de una sola pieza de código compartida, service-kit, así que los tres microservicios las tienen: peticiones por ruta y código, latencia, memoria y CPU. El gateway además cuenta cuántos correos se analizaron por veredicto, que es la métrica de negocio. Sobre esas métricas definimos cuatro alertas: servicio caído, demasiados errores 5xx, latencia alta y un pico de correos peligrosos, que podría indicar una campaña de phishing.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parte de los microservicios como software. Son dos: el Analizador, en el puerto 5001, y el Historial, en el 5002. No están dentro de Docker: son procesos de Bun que arrancamos con un comando en dos terminales. Cada uno tiene tres scripts separados: el endpoint con las rutas HTTP, el validador con las reglas de entrada y el microservicio, que levanta el servidor. El Analizador valida el correo, calcula un puntaje de riesgo y le envía el resultado al Historial por HTTP. Si el Historial se cae, el análisis se entrega igual.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validador del Analizador. Revisa que el remitente sea un correo, que el asunto sea texto y que haya cuerpo. Si algo falla, devuelve la lista de errores y el endpoint responde 400 sin ejecutar la lógica de análisis. A la derecha están las respuestas reales: una petición mal formada recibe los tres errores; un correo válido de phishing recibe el veredicto, el puntaje y la confirmación de que quedó guardado en el Historial.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demo no es un ejercicio aparte: es el mismo patrón de Mail Guard en pequeño. El endpoint de la demo corresponde a las rutas Hono del servicio de análisis; el validador manual corresponde a los esquemas Zod que compartimos entre la extensión, el panel y los servicios; y el microservicio es el index.ts que arranca cada servicio. La diferencia es que el sistema real tiene más capas y se despliega con Docker en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resumen para la evaluación: para cada fase, la herramienta y lo que mostramos en vivo. Todo está documentado en docs/DEVOPS.md del repositorio, con la instalación y la configuración de cada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Pueden escoger cualquier fase y la mostramos en vivo desde 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G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6309360" cy="10515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548640" y="3246120"/>
            <a:ext cx="6309360" cy="914400"/>
          </a:xfrm>
          <a:prstGeom prst="rect">
            <a:avLst/>
          </a:prstGeom>
          <a:noFill/>
          <a:ln/>
        </p:spPr>
        <p:txBody>
          <a:bodyPr wrap="square" rtlCol="0"/>
          <a:lstStyle>
            <a:lvl1pPr indent="0" marL="0">
              <a:buNone/>
              <a:defRPr lang="en-US" sz="2200" dirty="0">
                <a:solidFill>
                  <a:schemeClr val="accent1"/>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G_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2"/>
                </a:solidFill>
              </a:rPr>
              <a:t>Mail Guard · DevOps en 8 fases</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G_PHAS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59436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2"/>
                </a:solidFill>
              </a:rPr>
              <a:t>Mail Guard · DevOps en 8 fases</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2.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00200"/>
            <a:ext cx="6309360" cy="320040"/>
          </a:xfrm>
          <a:prstGeom prst="rect">
            <a:avLst/>
          </a:prstGeom>
          <a:noFill/>
          <a:ln/>
        </p:spPr>
        <p:txBody>
          <a:bodyPr wrap="square" lIns="0" tIns="0" rIns="0" bIns="0" rtlCol="0" anchor="ctr"/>
          <a:lstStyle/>
          <a:p>
            <a:pPr indent="0" marL="0">
              <a:buNone/>
            </a:pPr>
            <a:r>
              <a:rPr lang="en-US" sz="1300" b="1" spc="200" kern="0" dirty="0">
                <a:solidFill>
                  <a:schemeClr val="bg2"/>
                </a:solidFill>
              </a:rPr>
              <a:t>MARCOS DE TRABAJO · ING. CARLOS PINEDA</a:t>
            </a:r>
            <a:endParaRPr lang="en-US" sz="1300" dirty="0"/>
          </a:p>
        </p:txBody>
      </p:sp>
      <p:sp>
        <p:nvSpPr>
          <p:cNvPr id="3" name="Text 0"/>
          <p:cNvSpPr/>
          <p:nvPr>
            <p:ph idx="100" type="title" hasCustomPrompt="1"/>
          </p:nvPr>
        </p:nvSpPr>
        <p:spPr>
          <a:xfrm>
            <a:off x="548640" y="2148840"/>
            <a:ext cx="6309360" cy="1051560"/>
          </a:xfrm>
          <a:prstGeom prst="rect">
            <a:avLst/>
          </a:prstGeom>
          <a:noFill/>
          <a:ln/>
        </p:spPr>
        <p:txBody>
          <a:bodyPr wrap="square" lIns="0" tIns="0" rIns="0" bIns="0" rtlCol="0" anchor="ctr"/>
          <a:lstStyle/>
          <a:p>
            <a:pPr algn="l" indent="0" marL="0">
              <a:buNone/>
            </a:pPr>
            <a:r>
              <a:rPr lang="en-US" sz="6000" b="1" dirty="0">
                <a:solidFill>
                  <a:schemeClr val="bg1"/>
                </a:solidFill>
              </a:rPr>
              <a:t>Mail Guard</a:t>
            </a:r>
            <a:endParaRPr lang="en-US" sz="6000" dirty="0"/>
          </a:p>
        </p:txBody>
      </p:sp>
      <p:sp>
        <p:nvSpPr>
          <p:cNvPr id="4" name="Text 0"/>
          <p:cNvSpPr/>
          <p:nvPr>
            <p:ph idx="101" type="body" hasCustomPrompt="1"/>
          </p:nvPr>
        </p:nvSpPr>
        <p:spPr>
          <a:xfrm>
            <a:off x="548640" y="3246120"/>
            <a:ext cx="6309360" cy="914400"/>
          </a:xfrm>
          <a:prstGeom prst="rect">
            <a:avLst/>
          </a:prstGeom>
          <a:noFill/>
          <a:ln/>
        </p:spPr>
        <p:txBody>
          <a:bodyPr wrap="square" lIns="0" tIns="0" rIns="0" bIns="0" rtlCol="0" anchor="t"/>
          <a:lstStyle/>
          <a:p>
            <a:pPr indent="0" marL="0">
              <a:buNone/>
            </a:pPr>
            <a:r>
              <a:rPr lang="en-US" sz="2200" dirty="0">
                <a:solidFill>
                  <a:schemeClr val="accent1"/>
                </a:solidFill>
              </a:rPr>
              <a:t>DevOps en 8 fases: herramienta, instalación, configuración y demo</a:t>
            </a:r>
            <a:endParaRPr lang="en-US" sz="2200" dirty="0"/>
          </a:p>
        </p:txBody>
      </p:sp>
      <p:sp>
        <p:nvSpPr>
          <p:cNvPr id="5" name="Text 3"/>
          <p:cNvSpPr txBox="1"/>
          <p:nvPr/>
        </p:nvSpPr>
        <p:spPr>
          <a:xfrm>
            <a:off x="548640" y="4343400"/>
            <a:ext cx="6309360" cy="548640"/>
          </a:xfrm>
          <a:prstGeom prst="rect">
            <a:avLst/>
          </a:prstGeom>
          <a:noFill/>
          <a:ln/>
        </p:spPr>
        <p:txBody>
          <a:bodyPr wrap="square" lIns="0" tIns="0" rIns="0" bIns="0" rtlCol="0" anchor="ctr"/>
          <a:lstStyle/>
          <a:p>
            <a:pPr indent="0" marL="0">
              <a:buNone/>
            </a:pPr>
            <a:r>
              <a:rPr lang="en-US" sz="1500" dirty="0">
                <a:solidFill>
                  <a:srgbClr val="E4E4E7"/>
                </a:solidFill>
              </a:rPr>
              <a:t>3 microservicios · CI/CD con GitHub Actions · 141 pruebas</a:t>
            </a:r>
            <a:endParaRPr lang="en-US" sz="1500" dirty="0"/>
          </a:p>
        </p:txBody>
      </p:sp>
      <p:sp>
        <p:nvSpPr>
          <p:cNvPr id="6" name="Text 4"/>
          <p:cNvSpPr txBox="1"/>
          <p:nvPr/>
        </p:nvSpPr>
        <p:spPr>
          <a:xfrm>
            <a:off x="548640" y="5989320"/>
            <a:ext cx="6309360" cy="320040"/>
          </a:xfrm>
          <a:prstGeom prst="rect">
            <a:avLst/>
          </a:prstGeom>
          <a:noFill/>
          <a:ln/>
        </p:spPr>
        <p:txBody>
          <a:bodyPr wrap="square" lIns="0" tIns="0" rIns="0" bIns="0" rtlCol="0" anchor="ctr"/>
          <a:lstStyle/>
          <a:p>
            <a:pPr indent="0" marL="0">
              <a:buNone/>
            </a:pPr>
            <a:r>
              <a:rPr lang="en-US" sz="1300" dirty="0">
                <a:solidFill>
                  <a:schemeClr val="bg2"/>
                </a:solidFill>
                <a:latin typeface="Courier New" pitchFamily="34" charset="0"/>
                <a:ea typeface="Courier New" pitchFamily="34" charset="-122"/>
                <a:cs typeface="Courier New" pitchFamily="34" charset="-120"/>
              </a:rPr>
              <a:t>github.com/Tatianayya3/uts-mail-guard</a:t>
            </a:r>
            <a:endParaRPr lang="en-US" sz="1300" dirty="0"/>
          </a:p>
        </p:txBody>
      </p:sp>
      <p:sp>
        <p:nvSpPr>
          <p:cNvPr id="7" name="Shape 5"/>
          <p:cNvSpPr/>
          <p:nvPr/>
        </p:nvSpPr>
        <p:spPr>
          <a:xfrm>
            <a:off x="7315200" y="1463040"/>
            <a:ext cx="3931920" cy="3931920"/>
          </a:xfrm>
          <a:prstGeom prst="ellipse">
            <a:avLst/>
          </a:prstGeom>
          <a:ln w="19050">
            <a:solidFill>
              <a:srgbClr val="2E2E2E"/>
            </a:solidFill>
            <a:prstDash val="solid"/>
          </a:ln>
        </p:spPr>
      </p:sp>
      <p:sp>
        <p:nvSpPr>
          <p:cNvPr id="8" name="Shape 6"/>
          <p:cNvSpPr/>
          <p:nvPr/>
        </p:nvSpPr>
        <p:spPr>
          <a:xfrm>
            <a:off x="8846820" y="1028700"/>
            <a:ext cx="868680" cy="868680"/>
          </a:xfrm>
          <a:prstGeom prst="ellipse">
            <a:avLst/>
          </a:prstGeom>
          <a:solidFill>
            <a:schemeClr val="accent5"/>
          </a:solidFill>
          <a:ln/>
        </p:spPr>
      </p:sp>
      <p:pic>
        <p:nvPicPr>
          <p:cNvPr id="9" name="Image 0" descr="preencoded.png">    </p:cNvPr>
          <p:cNvPicPr>
            <a:picLocks noChangeAspect="1"/>
          </p:cNvPicPr>
          <p:nvPr/>
        </p:nvPicPr>
        <p:blipFill>
          <a:blip r:embed="rId1"/>
          <a:stretch>
            <a:fillRect/>
          </a:stretch>
        </p:blipFill>
        <p:spPr>
          <a:xfrm>
            <a:off x="9072677" y="1254557"/>
            <a:ext cx="416966" cy="416966"/>
          </a:xfrm>
          <a:prstGeom prst="rect">
            <a:avLst/>
          </a:prstGeom>
        </p:spPr>
      </p:pic>
      <p:sp>
        <p:nvSpPr>
          <p:cNvPr id="10" name="Shape 7"/>
          <p:cNvSpPr/>
          <p:nvPr/>
        </p:nvSpPr>
        <p:spPr>
          <a:xfrm>
            <a:off x="10236964" y="1604516"/>
            <a:ext cx="868680" cy="868680"/>
          </a:xfrm>
          <a:prstGeom prst="ellipse">
            <a:avLst/>
          </a:prstGeom>
          <a:solidFill>
            <a:schemeClr val="accent6"/>
          </a:solidFill>
          <a:ln/>
        </p:spPr>
      </p:sp>
      <p:pic>
        <p:nvPicPr>
          <p:cNvPr id="11" name="Image 1" descr="preencoded.png">    </p:cNvPr>
          <p:cNvPicPr>
            <a:picLocks noChangeAspect="1"/>
          </p:cNvPicPr>
          <p:nvPr/>
        </p:nvPicPr>
        <p:blipFill>
          <a:blip r:embed="rId2"/>
          <a:stretch>
            <a:fillRect/>
          </a:stretch>
        </p:blipFill>
        <p:spPr>
          <a:xfrm>
            <a:off x="10462820" y="1830373"/>
            <a:ext cx="416966" cy="416966"/>
          </a:xfrm>
          <a:prstGeom prst="rect">
            <a:avLst/>
          </a:prstGeom>
        </p:spPr>
      </p:pic>
      <p:sp>
        <p:nvSpPr>
          <p:cNvPr id="12" name="Shape 8"/>
          <p:cNvSpPr/>
          <p:nvPr/>
        </p:nvSpPr>
        <p:spPr>
          <a:xfrm>
            <a:off x="10812780" y="2994660"/>
            <a:ext cx="868680" cy="868680"/>
          </a:xfrm>
          <a:prstGeom prst="ellipse">
            <a:avLst/>
          </a:prstGeom>
          <a:solidFill>
            <a:schemeClr val="accent3"/>
          </a:solidFill>
          <a:ln/>
        </p:spPr>
      </p:sp>
      <p:pic>
        <p:nvPicPr>
          <p:cNvPr id="13" name="Image 2" descr="preencoded.png">    </p:cNvPr>
          <p:cNvPicPr>
            <a:picLocks noChangeAspect="1"/>
          </p:cNvPicPr>
          <p:nvPr/>
        </p:nvPicPr>
        <p:blipFill>
          <a:blip r:embed="rId3"/>
          <a:stretch>
            <a:fillRect/>
          </a:stretch>
        </p:blipFill>
        <p:spPr>
          <a:xfrm>
            <a:off x="11038637" y="3220517"/>
            <a:ext cx="416966" cy="416966"/>
          </a:xfrm>
          <a:prstGeom prst="rect">
            <a:avLst/>
          </a:prstGeom>
        </p:spPr>
      </p:pic>
      <p:sp>
        <p:nvSpPr>
          <p:cNvPr id="14" name="Shape 9"/>
          <p:cNvSpPr/>
          <p:nvPr/>
        </p:nvSpPr>
        <p:spPr>
          <a:xfrm>
            <a:off x="10236964" y="4384804"/>
            <a:ext cx="868680" cy="868680"/>
          </a:xfrm>
          <a:prstGeom prst="ellipse">
            <a:avLst/>
          </a:prstGeom>
          <a:solidFill>
            <a:schemeClr val="accent2"/>
          </a:solidFill>
          <a:ln/>
        </p:spPr>
      </p:sp>
      <p:pic>
        <p:nvPicPr>
          <p:cNvPr id="15" name="Image 3" descr="preencoded.png">    </p:cNvPr>
          <p:cNvPicPr>
            <a:picLocks noChangeAspect="1"/>
          </p:cNvPicPr>
          <p:nvPr/>
        </p:nvPicPr>
        <p:blipFill>
          <a:blip r:embed="rId4"/>
          <a:stretch>
            <a:fillRect/>
          </a:stretch>
        </p:blipFill>
        <p:spPr>
          <a:xfrm>
            <a:off x="10462820" y="4610660"/>
            <a:ext cx="416966" cy="416966"/>
          </a:xfrm>
          <a:prstGeom prst="rect">
            <a:avLst/>
          </a:prstGeom>
        </p:spPr>
      </p:pic>
      <p:sp>
        <p:nvSpPr>
          <p:cNvPr id="16" name="Shape 10"/>
          <p:cNvSpPr/>
          <p:nvPr/>
        </p:nvSpPr>
        <p:spPr>
          <a:xfrm>
            <a:off x="8846820" y="4960620"/>
            <a:ext cx="868680" cy="868680"/>
          </a:xfrm>
          <a:prstGeom prst="ellipse">
            <a:avLst/>
          </a:prstGeom>
          <a:solidFill>
            <a:srgbClr val="F472B6"/>
          </a:solidFill>
          <a:ln/>
        </p:spPr>
      </p:sp>
      <p:pic>
        <p:nvPicPr>
          <p:cNvPr id="17" name="Image 4" descr="preencoded.png">    </p:cNvPr>
          <p:cNvPicPr>
            <a:picLocks noChangeAspect="1"/>
          </p:cNvPicPr>
          <p:nvPr/>
        </p:nvPicPr>
        <p:blipFill>
          <a:blip r:embed="rId5"/>
          <a:stretch>
            <a:fillRect/>
          </a:stretch>
        </p:blipFill>
        <p:spPr>
          <a:xfrm>
            <a:off x="9072677" y="5186477"/>
            <a:ext cx="416966" cy="416966"/>
          </a:xfrm>
          <a:prstGeom prst="rect">
            <a:avLst/>
          </a:prstGeom>
        </p:spPr>
      </p:pic>
      <p:sp>
        <p:nvSpPr>
          <p:cNvPr id="18" name="Shape 11"/>
          <p:cNvSpPr/>
          <p:nvPr/>
        </p:nvSpPr>
        <p:spPr>
          <a:xfrm>
            <a:off x="7456676" y="4384804"/>
            <a:ext cx="868680" cy="868680"/>
          </a:xfrm>
          <a:prstGeom prst="ellipse">
            <a:avLst/>
          </a:prstGeom>
          <a:solidFill>
            <a:schemeClr val="accent1"/>
          </a:solidFill>
          <a:ln/>
        </p:spPr>
      </p:sp>
      <p:pic>
        <p:nvPicPr>
          <p:cNvPr id="19" name="Image 5" descr="preencoded.png">    </p:cNvPr>
          <p:cNvPicPr>
            <a:picLocks noChangeAspect="1"/>
          </p:cNvPicPr>
          <p:nvPr/>
        </p:nvPicPr>
        <p:blipFill>
          <a:blip r:embed="rId6"/>
          <a:stretch>
            <a:fillRect/>
          </a:stretch>
        </p:blipFill>
        <p:spPr>
          <a:xfrm>
            <a:off x="7682533" y="4610660"/>
            <a:ext cx="416966" cy="416966"/>
          </a:xfrm>
          <a:prstGeom prst="rect">
            <a:avLst/>
          </a:prstGeom>
        </p:spPr>
      </p:pic>
      <p:sp>
        <p:nvSpPr>
          <p:cNvPr id="20" name="Shape 12"/>
          <p:cNvSpPr/>
          <p:nvPr/>
        </p:nvSpPr>
        <p:spPr>
          <a:xfrm>
            <a:off x="6880860" y="2994660"/>
            <a:ext cx="868680" cy="868680"/>
          </a:xfrm>
          <a:prstGeom prst="ellipse">
            <a:avLst/>
          </a:prstGeom>
          <a:solidFill>
            <a:srgbClr val="FB923C"/>
          </a:solidFill>
          <a:ln/>
        </p:spPr>
      </p:sp>
      <p:pic>
        <p:nvPicPr>
          <p:cNvPr id="21" name="Image 6" descr="preencoded.png">    </p:cNvPr>
          <p:cNvPicPr>
            <a:picLocks noChangeAspect="1"/>
          </p:cNvPicPr>
          <p:nvPr/>
        </p:nvPicPr>
        <p:blipFill>
          <a:blip r:embed="rId7"/>
          <a:stretch>
            <a:fillRect/>
          </a:stretch>
        </p:blipFill>
        <p:spPr>
          <a:xfrm>
            <a:off x="7106717" y="3220517"/>
            <a:ext cx="416966" cy="416966"/>
          </a:xfrm>
          <a:prstGeom prst="rect">
            <a:avLst/>
          </a:prstGeom>
        </p:spPr>
      </p:pic>
      <p:sp>
        <p:nvSpPr>
          <p:cNvPr id="22" name="Shape 13"/>
          <p:cNvSpPr/>
          <p:nvPr/>
        </p:nvSpPr>
        <p:spPr>
          <a:xfrm>
            <a:off x="7456676" y="1604516"/>
            <a:ext cx="868680" cy="868680"/>
          </a:xfrm>
          <a:prstGeom prst="ellipse">
            <a:avLst/>
          </a:prstGeom>
          <a:solidFill>
            <a:schemeClr val="accent4"/>
          </a:solidFill>
          <a:ln/>
        </p:spPr>
      </p:sp>
      <p:pic>
        <p:nvPicPr>
          <p:cNvPr id="23" name="Image 7" descr="preencoded.png">    </p:cNvPr>
          <p:cNvPicPr>
            <a:picLocks noChangeAspect="1"/>
          </p:cNvPicPr>
          <p:nvPr/>
        </p:nvPicPr>
        <p:blipFill>
          <a:blip r:embed="rId8"/>
          <a:stretch>
            <a:fillRect/>
          </a:stretch>
        </p:blipFill>
        <p:spPr>
          <a:xfrm>
            <a:off x="7682533" y="1830373"/>
            <a:ext cx="416966" cy="416966"/>
          </a:xfrm>
          <a:prstGeom prst="rect">
            <a:avLst/>
          </a:prstGeom>
        </p:spPr>
      </p:pic>
      <p:sp>
        <p:nvSpPr>
          <p:cNvPr id="24" name="Shape 14"/>
          <p:cNvSpPr/>
          <p:nvPr/>
        </p:nvSpPr>
        <p:spPr>
          <a:xfrm>
            <a:off x="8412480" y="2560320"/>
            <a:ext cx="1737360" cy="1737360"/>
          </a:xfrm>
          <a:prstGeom prst="ellipse">
            <a:avLst/>
          </a:prstGeom>
          <a:solidFill>
            <a:schemeClr val="tx2"/>
          </a:solidFill>
          <a:ln/>
        </p:spPr>
      </p:sp>
      <p:pic>
        <p:nvPicPr>
          <p:cNvPr id="25" name="Image 8" descr="C:\Users\Administrator\Desktop\uts-mail-guard\apps\extension-dashboard\public\logo.png">    </p:cNvPr>
          <p:cNvPicPr>
            <a:picLocks noChangeAspect="1"/>
          </p:cNvPicPr>
          <p:nvPr/>
        </p:nvPicPr>
        <p:blipFill>
          <a:blip r:embed="rId9"/>
          <a:stretch>
            <a:fillRect/>
          </a:stretch>
        </p:blipFill>
        <p:spPr>
          <a:xfrm>
            <a:off x="8732520" y="2880360"/>
            <a:ext cx="1097280"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bg1"/>
                </a:solidFill>
              </a:rPr>
              <a:t>Dos entregables, un mismo proyecto</a:t>
            </a:r>
            <a:endParaRPr lang="en-US" sz="3000" dirty="0"/>
          </a:p>
        </p:txBody>
      </p:sp>
      <p:sp>
        <p:nvSpPr>
          <p:cNvPr id="3" name="Shape 1"/>
          <p:cNvSpPr/>
          <p:nvPr/>
        </p:nvSpPr>
        <p:spPr>
          <a:xfrm>
            <a:off x="548640" y="1463040"/>
            <a:ext cx="5404104" cy="2651760"/>
          </a:xfrm>
          <a:prstGeom prst="roundRect">
            <a:avLst>
              <a:gd name="adj" fmla="val 4138"/>
            </a:avLst>
          </a:prstGeom>
          <a:solidFill>
            <a:schemeClr val="tx2"/>
          </a:solidFill>
          <a:ln/>
        </p:spPr>
      </p:sp>
      <p:sp>
        <p:nvSpPr>
          <p:cNvPr id="4" name="Shape 2"/>
          <p:cNvSpPr/>
          <p:nvPr/>
        </p:nvSpPr>
        <p:spPr>
          <a:xfrm>
            <a:off x="868680" y="1737360"/>
            <a:ext cx="731520" cy="731520"/>
          </a:xfrm>
          <a:prstGeom prst="ellipse">
            <a:avLst/>
          </a:prstGeom>
          <a:solidFill>
            <a:schemeClr val="tx1"/>
          </a:solidFill>
          <a:ln/>
        </p:spPr>
      </p:sp>
      <p:pic>
        <p:nvPicPr>
          <p:cNvPr id="5" name="Image 0" descr="preencoded.png">    </p:cNvPr>
          <p:cNvPicPr>
            <a:picLocks noChangeAspect="1"/>
          </p:cNvPicPr>
          <p:nvPr/>
        </p:nvPicPr>
        <p:blipFill>
          <a:blip r:embed="rId1"/>
          <a:stretch>
            <a:fillRect/>
          </a:stretch>
        </p:blipFill>
        <p:spPr>
          <a:xfrm>
            <a:off x="1058875" y="1927555"/>
            <a:ext cx="351130" cy="351130"/>
          </a:xfrm>
          <a:prstGeom prst="rect">
            <a:avLst/>
          </a:prstGeom>
        </p:spPr>
      </p:pic>
      <p:sp>
        <p:nvSpPr>
          <p:cNvPr id="6" name="Text 3"/>
          <p:cNvSpPr txBox="1"/>
          <p:nvPr/>
        </p:nvSpPr>
        <p:spPr>
          <a:xfrm>
            <a:off x="1783080" y="1810512"/>
            <a:ext cx="2743200" cy="228600"/>
          </a:xfrm>
          <a:prstGeom prst="rect">
            <a:avLst/>
          </a:prstGeom>
          <a:noFill/>
          <a:ln/>
        </p:spPr>
        <p:txBody>
          <a:bodyPr wrap="square" lIns="0" tIns="0" rIns="0" bIns="0" rtlCol="0" anchor="ctr"/>
          <a:lstStyle/>
          <a:p>
            <a:pPr indent="0" marL="0">
              <a:buNone/>
            </a:pPr>
            <a:r>
              <a:rPr lang="en-US" sz="1100" b="1" spc="150" kern="0" dirty="0">
                <a:solidFill>
                  <a:schemeClr val="accent1"/>
                </a:solidFill>
              </a:rPr>
              <a:t>PARTE A</a:t>
            </a:r>
            <a:endParaRPr lang="en-US" sz="1100" dirty="0"/>
          </a:p>
        </p:txBody>
      </p:sp>
      <p:sp>
        <p:nvSpPr>
          <p:cNvPr id="7" name="Text 4"/>
          <p:cNvSpPr txBox="1"/>
          <p:nvPr/>
        </p:nvSpPr>
        <p:spPr>
          <a:xfrm>
            <a:off x="1783080" y="2057400"/>
            <a:ext cx="3931920" cy="411480"/>
          </a:xfrm>
          <a:prstGeom prst="rect">
            <a:avLst/>
          </a:prstGeom>
          <a:noFill/>
          <a:ln/>
        </p:spPr>
        <p:txBody>
          <a:bodyPr wrap="square" lIns="0" tIns="0" rIns="0" bIns="0" rtlCol="0" anchor="ctr"/>
          <a:lstStyle/>
          <a:p>
            <a:pPr indent="0" marL="0">
              <a:buNone/>
            </a:pPr>
            <a:r>
              <a:rPr lang="en-US" sz="2000" b="1" dirty="0">
                <a:solidFill>
                  <a:schemeClr val="bg1"/>
                </a:solidFill>
              </a:rPr>
              <a:t>Dos microservicios como software</a:t>
            </a:r>
            <a:endParaRPr lang="en-US" sz="2000" dirty="0"/>
          </a:p>
        </p:txBody>
      </p:sp>
      <p:sp>
        <p:nvSpPr>
          <p:cNvPr id="8" name="Text 5"/>
          <p:cNvSpPr txBox="1"/>
          <p:nvPr/>
        </p:nvSpPr>
        <p:spPr>
          <a:xfrm>
            <a:off x="868680" y="2788920"/>
            <a:ext cx="4800600" cy="16459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E4E4E7"/>
                </a:solidFill>
              </a:rPr>
              <a:t>Analizador e Historial, sin Docker ni librerías</a:t>
            </a:r>
            <a:endParaRPr lang="en-US" sz="1500" dirty="0"/>
          </a:p>
          <a:p>
            <a:pPr marL="228600" indent="-228600">
              <a:spcAft>
                <a:spcPts val="800"/>
              </a:spcAft>
              <a:buSzPct val="100000"/>
              <a:buChar char="•"/>
            </a:pPr>
            <a:r>
              <a:rPr lang="en-US" sz="1500" dirty="0">
                <a:solidFill>
                  <a:srgbClr val="E4E4E7"/>
                </a:solidFill>
              </a:rPr>
              <a:t>Cada uno con su endpoint, validador y microservicio</a:t>
            </a:r>
            <a:endParaRPr lang="en-US" sz="1500" dirty="0"/>
          </a:p>
          <a:p>
            <a:pPr marL="228600" indent="-228600">
              <a:spcAft>
                <a:spcPts val="800"/>
              </a:spcAft>
              <a:buSzPct val="100000"/>
              <a:buChar char="•"/>
            </a:pPr>
            <a:r>
              <a:rPr lang="en-US" sz="1500" dirty="0">
                <a:solidFill>
                  <a:srgbClr val="E4E4E7"/>
                </a:solidFill>
              </a:rPr>
              <a:t>Se comunican por HTTP y tienen 7 pruebas</a:t>
            </a:r>
            <a:endParaRPr lang="en-US" sz="1500" dirty="0"/>
          </a:p>
        </p:txBody>
      </p:sp>
      <p:sp>
        <p:nvSpPr>
          <p:cNvPr id="9" name="Shape 6"/>
          <p:cNvSpPr/>
          <p:nvPr/>
        </p:nvSpPr>
        <p:spPr>
          <a:xfrm>
            <a:off x="6236208" y="1463040"/>
            <a:ext cx="5404104" cy="2651760"/>
          </a:xfrm>
          <a:prstGeom prst="roundRect">
            <a:avLst>
              <a:gd name="adj" fmla="val 4138"/>
            </a:avLst>
          </a:prstGeom>
          <a:solidFill>
            <a:schemeClr val="tx2"/>
          </a:solidFill>
          <a:ln/>
        </p:spPr>
      </p:sp>
      <p:sp>
        <p:nvSpPr>
          <p:cNvPr id="10" name="Shape 7"/>
          <p:cNvSpPr/>
          <p:nvPr/>
        </p:nvSpPr>
        <p:spPr>
          <a:xfrm>
            <a:off x="6556248" y="1737360"/>
            <a:ext cx="731520" cy="731520"/>
          </a:xfrm>
          <a:prstGeom prst="ellipse">
            <a:avLst/>
          </a:prstGeom>
          <a:solidFill>
            <a:schemeClr val="tx1"/>
          </a:solidFill>
          <a:ln/>
        </p:spPr>
      </p:sp>
      <p:pic>
        <p:nvPicPr>
          <p:cNvPr id="11" name="Image 1" descr="preencoded.png">    </p:cNvPr>
          <p:cNvPicPr>
            <a:picLocks noChangeAspect="1"/>
          </p:cNvPicPr>
          <p:nvPr/>
        </p:nvPicPr>
        <p:blipFill>
          <a:blip r:embed="rId2"/>
          <a:stretch>
            <a:fillRect/>
          </a:stretch>
        </p:blipFill>
        <p:spPr>
          <a:xfrm>
            <a:off x="6746443" y="1927555"/>
            <a:ext cx="351130" cy="351130"/>
          </a:xfrm>
          <a:prstGeom prst="rect">
            <a:avLst/>
          </a:prstGeom>
        </p:spPr>
      </p:pic>
      <p:sp>
        <p:nvSpPr>
          <p:cNvPr id="12" name="Text 8"/>
          <p:cNvSpPr txBox="1"/>
          <p:nvPr/>
        </p:nvSpPr>
        <p:spPr>
          <a:xfrm>
            <a:off x="7470648" y="1810512"/>
            <a:ext cx="2743200" cy="228600"/>
          </a:xfrm>
          <a:prstGeom prst="rect">
            <a:avLst/>
          </a:prstGeom>
          <a:noFill/>
          <a:ln/>
        </p:spPr>
        <p:txBody>
          <a:bodyPr wrap="square" lIns="0" tIns="0" rIns="0" bIns="0" rtlCol="0" anchor="ctr"/>
          <a:lstStyle/>
          <a:p>
            <a:pPr indent="0" marL="0">
              <a:buNone/>
            </a:pPr>
            <a:r>
              <a:rPr lang="en-US" sz="1100" b="1" spc="150" kern="0" dirty="0">
                <a:solidFill>
                  <a:schemeClr val="accent5"/>
                </a:solidFill>
              </a:rPr>
              <a:t>PARTE B</a:t>
            </a:r>
            <a:endParaRPr lang="en-US" sz="1100" dirty="0"/>
          </a:p>
        </p:txBody>
      </p:sp>
      <p:sp>
        <p:nvSpPr>
          <p:cNvPr id="13" name="Text 9"/>
          <p:cNvSpPr txBox="1"/>
          <p:nvPr/>
        </p:nvSpPr>
        <p:spPr>
          <a:xfrm>
            <a:off x="7470648" y="2057400"/>
            <a:ext cx="3931920" cy="411480"/>
          </a:xfrm>
          <a:prstGeom prst="rect">
            <a:avLst/>
          </a:prstGeom>
          <a:noFill/>
          <a:ln/>
        </p:spPr>
        <p:txBody>
          <a:bodyPr wrap="square" lIns="0" tIns="0" rIns="0" bIns="0" rtlCol="0" anchor="ctr"/>
          <a:lstStyle/>
          <a:p>
            <a:pPr indent="0" marL="0">
              <a:buNone/>
            </a:pPr>
            <a:r>
              <a:rPr lang="en-US" sz="2000" b="1" dirty="0">
                <a:solidFill>
                  <a:schemeClr val="bg1"/>
                </a:solidFill>
              </a:rPr>
              <a:t>Las 8 fases de DevOps aplicadas</a:t>
            </a:r>
            <a:endParaRPr lang="en-US" sz="2000" dirty="0"/>
          </a:p>
        </p:txBody>
      </p:sp>
      <p:sp>
        <p:nvSpPr>
          <p:cNvPr id="14" name="Text 10"/>
          <p:cNvSpPr txBox="1"/>
          <p:nvPr/>
        </p:nvSpPr>
        <p:spPr>
          <a:xfrm>
            <a:off x="6556248" y="2788920"/>
            <a:ext cx="4800600" cy="16459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E4E4E7"/>
                </a:solidFill>
              </a:rPr>
              <a:t>Cada fase con su herramienta real en el repositorio</a:t>
            </a:r>
            <a:endParaRPr lang="en-US" sz="1500" dirty="0"/>
          </a:p>
          <a:p>
            <a:pPr marL="228600" indent="-228600">
              <a:spcAft>
                <a:spcPts val="800"/>
              </a:spcAft>
              <a:buSzPct val="100000"/>
              <a:buChar char="•"/>
            </a:pPr>
            <a:r>
              <a:rPr lang="en-US" sz="1500" dirty="0">
                <a:solidFill>
                  <a:srgbClr val="E4E4E7"/>
                </a:solidFill>
              </a:rPr>
              <a:t>Instalación, configuración y demo en vivo</a:t>
            </a:r>
            <a:endParaRPr lang="en-US" sz="1500" dirty="0"/>
          </a:p>
          <a:p>
            <a:pPr marL="228600" indent="-228600">
              <a:spcAft>
                <a:spcPts val="800"/>
              </a:spcAft>
              <a:buSzPct val="100000"/>
              <a:buChar char="•"/>
            </a:pPr>
            <a:r>
              <a:rPr lang="en-US" sz="1500" dirty="0">
                <a:solidFill>
                  <a:srgbClr val="E4E4E7"/>
                </a:solidFill>
              </a:rPr>
              <a:t>Todo automatizado: del PR a producción</a:t>
            </a:r>
            <a:endParaRPr lang="en-US" sz="1500" dirty="0"/>
          </a:p>
        </p:txBody>
      </p:sp>
      <p:sp>
        <p:nvSpPr>
          <p:cNvPr id="15" name="Text 11"/>
          <p:cNvSpPr txBox="1"/>
          <p:nvPr/>
        </p:nvSpPr>
        <p:spPr>
          <a:xfrm>
            <a:off x="548640" y="4480560"/>
            <a:ext cx="2651760" cy="822960"/>
          </a:xfrm>
          <a:prstGeom prst="rect">
            <a:avLst/>
          </a:prstGeom>
          <a:noFill/>
          <a:ln/>
        </p:spPr>
        <p:txBody>
          <a:bodyPr wrap="square" lIns="0" tIns="0" rIns="0" bIns="0" rtlCol="0" anchor="ctr"/>
          <a:lstStyle/>
          <a:p>
            <a:pPr indent="0" marL="0">
              <a:buNone/>
            </a:pPr>
            <a:r>
              <a:rPr lang="en-US" sz="4800" b="1" dirty="0">
                <a:solidFill>
                  <a:schemeClr val="accent1"/>
                </a:solidFill>
              </a:rPr>
              <a:t>8</a:t>
            </a:r>
            <a:endParaRPr lang="en-US" sz="4800" dirty="0"/>
          </a:p>
        </p:txBody>
      </p:sp>
      <p:sp>
        <p:nvSpPr>
          <p:cNvPr id="16" name="Text 12"/>
          <p:cNvSpPr txBox="1"/>
          <p:nvPr/>
        </p:nvSpPr>
        <p:spPr>
          <a:xfrm>
            <a:off x="548640" y="5349240"/>
            <a:ext cx="2651760" cy="320040"/>
          </a:xfrm>
          <a:prstGeom prst="rect">
            <a:avLst/>
          </a:prstGeom>
          <a:noFill/>
          <a:ln/>
        </p:spPr>
        <p:txBody>
          <a:bodyPr wrap="square" lIns="0" tIns="0" rIns="0" bIns="0" rtlCol="0" anchor="ctr"/>
          <a:lstStyle/>
          <a:p>
            <a:pPr indent="0" marL="0">
              <a:buNone/>
            </a:pPr>
            <a:r>
              <a:rPr lang="en-US" sz="1400" dirty="0">
                <a:solidFill>
                  <a:schemeClr val="bg2"/>
                </a:solidFill>
              </a:rPr>
              <a:t>fases cubiertas</a:t>
            </a:r>
            <a:endParaRPr lang="en-US" sz="1400" dirty="0"/>
          </a:p>
        </p:txBody>
      </p:sp>
      <p:sp>
        <p:nvSpPr>
          <p:cNvPr id="17" name="Text 13"/>
          <p:cNvSpPr txBox="1"/>
          <p:nvPr/>
        </p:nvSpPr>
        <p:spPr>
          <a:xfrm>
            <a:off x="3364992" y="4480560"/>
            <a:ext cx="2651760" cy="822960"/>
          </a:xfrm>
          <a:prstGeom prst="rect">
            <a:avLst/>
          </a:prstGeom>
          <a:noFill/>
          <a:ln/>
        </p:spPr>
        <p:txBody>
          <a:bodyPr wrap="square" lIns="0" tIns="0" rIns="0" bIns="0" rtlCol="0" anchor="ctr"/>
          <a:lstStyle/>
          <a:p>
            <a:pPr indent="0" marL="0">
              <a:buNone/>
            </a:pPr>
            <a:r>
              <a:rPr lang="en-US" sz="4800" b="1" dirty="0">
                <a:solidFill>
                  <a:schemeClr val="accent1"/>
                </a:solidFill>
              </a:rPr>
              <a:t>3</a:t>
            </a:r>
            <a:endParaRPr lang="en-US" sz="4800" dirty="0"/>
          </a:p>
        </p:txBody>
      </p:sp>
      <p:sp>
        <p:nvSpPr>
          <p:cNvPr id="18" name="Text 14"/>
          <p:cNvSpPr txBox="1"/>
          <p:nvPr/>
        </p:nvSpPr>
        <p:spPr>
          <a:xfrm>
            <a:off x="3364992" y="5349240"/>
            <a:ext cx="2651760" cy="320040"/>
          </a:xfrm>
          <a:prstGeom prst="rect">
            <a:avLst/>
          </a:prstGeom>
          <a:noFill/>
          <a:ln/>
        </p:spPr>
        <p:txBody>
          <a:bodyPr wrap="square" lIns="0" tIns="0" rIns="0" bIns="0" rtlCol="0" anchor="ctr"/>
          <a:lstStyle/>
          <a:p>
            <a:pPr indent="0" marL="0">
              <a:buNone/>
            </a:pPr>
            <a:r>
              <a:rPr lang="en-US" sz="1400" dirty="0">
                <a:solidFill>
                  <a:schemeClr val="bg2"/>
                </a:solidFill>
              </a:rPr>
              <a:t>microservicios en Render</a:t>
            </a:r>
            <a:endParaRPr lang="en-US" sz="1400" dirty="0"/>
          </a:p>
        </p:txBody>
      </p:sp>
      <p:sp>
        <p:nvSpPr>
          <p:cNvPr id="19" name="Text 15"/>
          <p:cNvSpPr txBox="1"/>
          <p:nvPr/>
        </p:nvSpPr>
        <p:spPr>
          <a:xfrm>
            <a:off x="6181344" y="4480560"/>
            <a:ext cx="2651760" cy="822960"/>
          </a:xfrm>
          <a:prstGeom prst="rect">
            <a:avLst/>
          </a:prstGeom>
          <a:noFill/>
          <a:ln/>
        </p:spPr>
        <p:txBody>
          <a:bodyPr wrap="square" lIns="0" tIns="0" rIns="0" bIns="0" rtlCol="0" anchor="ctr"/>
          <a:lstStyle/>
          <a:p>
            <a:pPr indent="0" marL="0">
              <a:buNone/>
            </a:pPr>
            <a:r>
              <a:rPr lang="en-US" sz="4800" b="1" dirty="0">
                <a:solidFill>
                  <a:schemeClr val="accent1"/>
                </a:solidFill>
              </a:rPr>
              <a:t>141</a:t>
            </a:r>
            <a:endParaRPr lang="en-US" sz="4800" dirty="0"/>
          </a:p>
        </p:txBody>
      </p:sp>
      <p:sp>
        <p:nvSpPr>
          <p:cNvPr id="20" name="Text 16"/>
          <p:cNvSpPr txBox="1"/>
          <p:nvPr/>
        </p:nvSpPr>
        <p:spPr>
          <a:xfrm>
            <a:off x="6181344" y="5349240"/>
            <a:ext cx="2651760" cy="320040"/>
          </a:xfrm>
          <a:prstGeom prst="rect">
            <a:avLst/>
          </a:prstGeom>
          <a:noFill/>
          <a:ln/>
        </p:spPr>
        <p:txBody>
          <a:bodyPr wrap="square" lIns="0" tIns="0" rIns="0" bIns="0" rtlCol="0" anchor="ctr"/>
          <a:lstStyle/>
          <a:p>
            <a:pPr indent="0" marL="0">
              <a:buNone/>
            </a:pPr>
            <a:r>
              <a:rPr lang="en-US" sz="1400" dirty="0">
                <a:solidFill>
                  <a:schemeClr val="bg2"/>
                </a:solidFill>
              </a:rPr>
              <a:t>pruebas automáticas</a:t>
            </a:r>
            <a:endParaRPr lang="en-US" sz="1400" dirty="0"/>
          </a:p>
        </p:txBody>
      </p:sp>
      <p:sp>
        <p:nvSpPr>
          <p:cNvPr id="21" name="Text 17"/>
          <p:cNvSpPr txBox="1"/>
          <p:nvPr/>
        </p:nvSpPr>
        <p:spPr>
          <a:xfrm>
            <a:off x="8997696" y="4480560"/>
            <a:ext cx="2651760" cy="822960"/>
          </a:xfrm>
          <a:prstGeom prst="rect">
            <a:avLst/>
          </a:prstGeom>
          <a:noFill/>
          <a:ln/>
        </p:spPr>
        <p:txBody>
          <a:bodyPr wrap="square" lIns="0" tIns="0" rIns="0" bIns="0" rtlCol="0" anchor="ctr"/>
          <a:lstStyle/>
          <a:p>
            <a:pPr indent="0" marL="0">
              <a:buNone/>
            </a:pPr>
            <a:r>
              <a:rPr lang="en-US" sz="4800" b="1" dirty="0">
                <a:solidFill>
                  <a:schemeClr val="accent1"/>
                </a:solidFill>
              </a:rPr>
              <a:t>3</a:t>
            </a:r>
            <a:endParaRPr lang="en-US" sz="4800" dirty="0"/>
          </a:p>
        </p:txBody>
      </p:sp>
      <p:sp>
        <p:nvSpPr>
          <p:cNvPr id="22" name="Text 18"/>
          <p:cNvSpPr txBox="1"/>
          <p:nvPr/>
        </p:nvSpPr>
        <p:spPr>
          <a:xfrm>
            <a:off x="8997696" y="5349240"/>
            <a:ext cx="2651760" cy="320040"/>
          </a:xfrm>
          <a:prstGeom prst="rect">
            <a:avLst/>
          </a:prstGeom>
          <a:noFill/>
          <a:ln/>
        </p:spPr>
        <p:txBody>
          <a:bodyPr wrap="square" lIns="0" tIns="0" rIns="0" bIns="0" rtlCol="0" anchor="ctr"/>
          <a:lstStyle/>
          <a:p>
            <a:pPr indent="0" marL="0">
              <a:buNone/>
            </a:pPr>
            <a:r>
              <a:rPr lang="en-US" sz="1400" dirty="0">
                <a:solidFill>
                  <a:schemeClr val="bg2"/>
                </a:solidFill>
              </a:rPr>
              <a:t>workflows de GitHub Actions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bg1"/>
                </a:solidFill>
              </a:rPr>
              <a:t>El ciclo completo y la herramienta de cada fase</a:t>
            </a:r>
            <a:endParaRPr lang="en-US" sz="3000" dirty="0"/>
          </a:p>
        </p:txBody>
      </p:sp>
      <p:sp>
        <p:nvSpPr>
          <p:cNvPr id="3" name="Shape 1"/>
          <p:cNvSpPr/>
          <p:nvPr/>
        </p:nvSpPr>
        <p:spPr>
          <a:xfrm>
            <a:off x="640080" y="2011680"/>
            <a:ext cx="6645075" cy="0"/>
          </a:xfrm>
          <a:prstGeom prst="line">
            <a:avLst/>
          </a:prstGeom>
          <a:noFill/>
          <a:ln w="19050">
            <a:solidFill>
              <a:schemeClr val="accent1"/>
            </a:solidFill>
            <a:prstDash val="solid"/>
          </a:ln>
        </p:spPr>
      </p:sp>
      <p:sp>
        <p:nvSpPr>
          <p:cNvPr id="4" name="Shape 2"/>
          <p:cNvSpPr/>
          <p:nvPr/>
        </p:nvSpPr>
        <p:spPr>
          <a:xfrm>
            <a:off x="640080" y="2011680"/>
            <a:ext cx="0" cy="164592"/>
          </a:xfrm>
          <a:prstGeom prst="line">
            <a:avLst/>
          </a:prstGeom>
          <a:noFill/>
          <a:ln w="19050">
            <a:solidFill>
              <a:schemeClr val="accent1"/>
            </a:solidFill>
            <a:prstDash val="solid"/>
          </a:ln>
        </p:spPr>
      </p:sp>
      <p:sp>
        <p:nvSpPr>
          <p:cNvPr id="5" name="Shape 3"/>
          <p:cNvSpPr/>
          <p:nvPr/>
        </p:nvSpPr>
        <p:spPr>
          <a:xfrm>
            <a:off x="7285155" y="2011680"/>
            <a:ext cx="0" cy="164592"/>
          </a:xfrm>
          <a:prstGeom prst="line">
            <a:avLst/>
          </a:prstGeom>
          <a:noFill/>
          <a:ln w="1905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640080" y="1481328"/>
            <a:ext cx="329184" cy="329184"/>
          </a:xfrm>
          <a:prstGeom prst="rect">
            <a:avLst/>
          </a:prstGeom>
        </p:spPr>
      </p:pic>
      <p:sp>
        <p:nvSpPr>
          <p:cNvPr id="7" name="Text 4"/>
          <p:cNvSpPr txBox="1"/>
          <p:nvPr/>
        </p:nvSpPr>
        <p:spPr>
          <a:xfrm>
            <a:off x="1097280" y="1481328"/>
            <a:ext cx="10058400" cy="329184"/>
          </a:xfrm>
          <a:prstGeom prst="rect">
            <a:avLst/>
          </a:prstGeom>
          <a:noFill/>
          <a:ln/>
        </p:spPr>
        <p:txBody>
          <a:bodyPr wrap="square" lIns="0" tIns="0" rIns="0" bIns="0" rtlCol="0" anchor="ctr"/>
          <a:lstStyle/>
          <a:p>
            <a:pPr indent="0" marL="0">
              <a:buNone/>
            </a:pPr>
            <a:r>
              <a:rPr lang="en-US" sz="1400" b="1" dirty="0">
                <a:solidFill>
                  <a:schemeClr val="accent1"/>
                </a:solidFill>
              </a:rPr>
              <a:t>GitHub cubre 5 fases: Projects · repositorio y PRs · Actions · Releases + GHCR</a:t>
            </a:r>
            <a:endParaRPr lang="en-US" sz="1400" dirty="0"/>
          </a:p>
        </p:txBody>
      </p:sp>
      <p:sp>
        <p:nvSpPr>
          <p:cNvPr id="8" name="Shape 5"/>
          <p:cNvSpPr/>
          <p:nvPr/>
        </p:nvSpPr>
        <p:spPr>
          <a:xfrm>
            <a:off x="662940" y="2331720"/>
            <a:ext cx="914400" cy="914400"/>
          </a:xfrm>
          <a:prstGeom prst="ellipse">
            <a:avLst/>
          </a:prstGeom>
          <a:solidFill>
            <a:schemeClr val="accent5"/>
          </a:solidFill>
          <a:ln/>
        </p:spPr>
      </p:sp>
      <p:pic>
        <p:nvPicPr>
          <p:cNvPr id="9" name="Image 1" descr="preencoded.png">    </p:cNvPr>
          <p:cNvPicPr>
            <a:picLocks noChangeAspect="1"/>
          </p:cNvPicPr>
          <p:nvPr/>
        </p:nvPicPr>
        <p:blipFill>
          <a:blip r:embed="rId2"/>
          <a:stretch>
            <a:fillRect/>
          </a:stretch>
        </p:blipFill>
        <p:spPr>
          <a:xfrm>
            <a:off x="900684" y="2569464"/>
            <a:ext cx="438912" cy="438912"/>
          </a:xfrm>
          <a:prstGeom prst="rect">
            <a:avLst/>
          </a:prstGeom>
        </p:spPr>
      </p:pic>
      <p:sp>
        <p:nvSpPr>
          <p:cNvPr id="10" name="Shape 6"/>
          <p:cNvSpPr/>
          <p:nvPr/>
        </p:nvSpPr>
        <p:spPr>
          <a:xfrm>
            <a:off x="1613916" y="2788920"/>
            <a:ext cx="433687" cy="0"/>
          </a:xfrm>
          <a:prstGeom prst="line">
            <a:avLst/>
          </a:prstGeom>
          <a:noFill/>
          <a:ln w="22225">
            <a:solidFill>
              <a:schemeClr val="bg2"/>
            </a:solidFill>
            <a:prstDash val="solid"/>
            <a:tailEnd type="triangle"/>
          </a:ln>
        </p:spPr>
      </p:sp>
      <p:sp>
        <p:nvSpPr>
          <p:cNvPr id="11" name="Text 7"/>
          <p:cNvSpPr txBox="1"/>
          <p:nvPr/>
        </p:nvSpPr>
        <p:spPr>
          <a:xfrm>
            <a:off x="548640" y="3383280"/>
            <a:ext cx="1143000" cy="365760"/>
          </a:xfrm>
          <a:prstGeom prst="rect">
            <a:avLst/>
          </a:prstGeom>
          <a:noFill/>
          <a:ln/>
        </p:spPr>
        <p:txBody>
          <a:bodyPr wrap="square" lIns="0" tIns="0" rIns="0" bIns="0" rtlCol="0" anchor="ctr"/>
          <a:lstStyle/>
          <a:p>
            <a:pPr algn="ctr" indent="0" marL="0">
              <a:buNone/>
            </a:pPr>
            <a:r>
              <a:rPr lang="en-US" sz="1600" b="1" dirty="0">
                <a:solidFill>
                  <a:schemeClr val="accent5"/>
                </a:solidFill>
              </a:rPr>
              <a:t>Plan</a:t>
            </a:r>
            <a:endParaRPr lang="en-US" sz="1600" dirty="0"/>
          </a:p>
        </p:txBody>
      </p:sp>
      <p:sp>
        <p:nvSpPr>
          <p:cNvPr id="12" name="Text 8"/>
          <p:cNvSpPr txBox="1"/>
          <p:nvPr/>
        </p:nvSpPr>
        <p:spPr>
          <a:xfrm>
            <a:off x="457200" y="3749040"/>
            <a:ext cx="1325880" cy="685800"/>
          </a:xfrm>
          <a:prstGeom prst="rect">
            <a:avLst/>
          </a:prstGeom>
          <a:noFill/>
          <a:ln/>
        </p:spPr>
        <p:txBody>
          <a:bodyPr wrap="square" lIns="0" tIns="0" rIns="0" bIns="0" rtlCol="0" anchor="t"/>
          <a:lstStyle/>
          <a:p>
            <a:pPr algn="ctr" indent="0" marL="0">
              <a:buNone/>
            </a:pPr>
            <a:r>
              <a:rPr lang="en-US" sz="1100" dirty="0">
                <a:solidFill>
                  <a:srgbClr val="D4D4D8"/>
                </a:solidFill>
              </a:rPr>
              <a:t>GitHub Projects</a:t>
            </a:r>
            <a:endParaRPr lang="en-US" sz="1100" dirty="0"/>
          </a:p>
          <a:p>
            <a:pPr algn="ctr" indent="0" marL="0">
              <a:buNone/>
            </a:pPr>
            <a:r>
              <a:rPr lang="en-US" sz="1100" dirty="0">
                <a:solidFill>
                  <a:srgbClr val="D4D4D8"/>
                </a:solidFill>
              </a:rPr>
              <a:t>+ Issues</a:t>
            </a:r>
            <a:endParaRPr lang="en-US" sz="1100" dirty="0"/>
          </a:p>
        </p:txBody>
      </p:sp>
      <p:sp>
        <p:nvSpPr>
          <p:cNvPr id="13" name="Shape 9"/>
          <p:cNvSpPr/>
          <p:nvPr/>
        </p:nvSpPr>
        <p:spPr>
          <a:xfrm>
            <a:off x="2084179" y="2331720"/>
            <a:ext cx="914400" cy="914400"/>
          </a:xfrm>
          <a:prstGeom prst="ellipse">
            <a:avLst/>
          </a:prstGeom>
          <a:solidFill>
            <a:schemeClr val="accent6"/>
          </a:solidFill>
          <a:ln/>
        </p:spPr>
      </p:sp>
      <p:pic>
        <p:nvPicPr>
          <p:cNvPr id="14" name="Image 2" descr="preencoded.png">    </p:cNvPr>
          <p:cNvPicPr>
            <a:picLocks noChangeAspect="1"/>
          </p:cNvPicPr>
          <p:nvPr/>
        </p:nvPicPr>
        <p:blipFill>
          <a:blip r:embed="rId3"/>
          <a:stretch>
            <a:fillRect/>
          </a:stretch>
        </p:blipFill>
        <p:spPr>
          <a:xfrm>
            <a:off x="2321923" y="2569464"/>
            <a:ext cx="438912" cy="438912"/>
          </a:xfrm>
          <a:prstGeom prst="rect">
            <a:avLst/>
          </a:prstGeom>
        </p:spPr>
      </p:pic>
      <p:sp>
        <p:nvSpPr>
          <p:cNvPr id="15" name="Shape 10"/>
          <p:cNvSpPr/>
          <p:nvPr/>
        </p:nvSpPr>
        <p:spPr>
          <a:xfrm>
            <a:off x="3035155" y="2788920"/>
            <a:ext cx="433687" cy="0"/>
          </a:xfrm>
          <a:prstGeom prst="line">
            <a:avLst/>
          </a:prstGeom>
          <a:noFill/>
          <a:ln w="22225">
            <a:solidFill>
              <a:schemeClr val="bg2"/>
            </a:solidFill>
            <a:prstDash val="solid"/>
            <a:tailEnd type="triangle"/>
          </a:ln>
        </p:spPr>
      </p:sp>
      <p:sp>
        <p:nvSpPr>
          <p:cNvPr id="16" name="Text 11"/>
          <p:cNvSpPr txBox="1"/>
          <p:nvPr/>
        </p:nvSpPr>
        <p:spPr>
          <a:xfrm>
            <a:off x="1969879" y="3383280"/>
            <a:ext cx="1143000" cy="365760"/>
          </a:xfrm>
          <a:prstGeom prst="rect">
            <a:avLst/>
          </a:prstGeom>
          <a:noFill/>
          <a:ln/>
        </p:spPr>
        <p:txBody>
          <a:bodyPr wrap="square" lIns="0" tIns="0" rIns="0" bIns="0" rtlCol="0" anchor="ctr"/>
          <a:lstStyle/>
          <a:p>
            <a:pPr algn="ctr" indent="0" marL="0">
              <a:buNone/>
            </a:pPr>
            <a:r>
              <a:rPr lang="en-US" sz="1600" b="1" dirty="0">
                <a:solidFill>
                  <a:schemeClr val="accent6"/>
                </a:solidFill>
              </a:rPr>
              <a:t>Code</a:t>
            </a:r>
            <a:endParaRPr lang="en-US" sz="1600" dirty="0"/>
          </a:p>
        </p:txBody>
      </p:sp>
      <p:sp>
        <p:nvSpPr>
          <p:cNvPr id="17" name="Text 12"/>
          <p:cNvSpPr txBox="1"/>
          <p:nvPr/>
        </p:nvSpPr>
        <p:spPr>
          <a:xfrm>
            <a:off x="1878439" y="3749040"/>
            <a:ext cx="1325880" cy="685800"/>
          </a:xfrm>
          <a:prstGeom prst="rect">
            <a:avLst/>
          </a:prstGeom>
          <a:noFill/>
          <a:ln/>
        </p:spPr>
        <p:txBody>
          <a:bodyPr wrap="square" lIns="0" tIns="0" rIns="0" bIns="0" rtlCol="0" anchor="t"/>
          <a:lstStyle/>
          <a:p>
            <a:pPr algn="ctr" indent="0" marL="0">
              <a:buNone/>
            </a:pPr>
            <a:r>
              <a:rPr lang="en-US" sz="1100" dirty="0">
                <a:solidFill>
                  <a:srgbClr val="D4D4D8"/>
                </a:solidFill>
              </a:rPr>
              <a:t>Git + GitHub PRs</a:t>
            </a:r>
            <a:endParaRPr lang="en-US" sz="1100" dirty="0"/>
          </a:p>
          <a:p>
            <a:pPr algn="ctr" indent="0" marL="0">
              <a:buNone/>
            </a:pPr>
            <a:r>
              <a:rPr lang="en-US" sz="1100" dirty="0">
                <a:solidFill>
                  <a:srgbClr val="D4D4D8"/>
                </a:solidFill>
              </a:rPr>
              <a:t>ESLint · Prettier</a:t>
            </a:r>
            <a:endParaRPr lang="en-US" sz="1100" dirty="0"/>
          </a:p>
        </p:txBody>
      </p:sp>
      <p:sp>
        <p:nvSpPr>
          <p:cNvPr id="18" name="Shape 13"/>
          <p:cNvSpPr/>
          <p:nvPr/>
        </p:nvSpPr>
        <p:spPr>
          <a:xfrm>
            <a:off x="3505418" y="2331720"/>
            <a:ext cx="914400" cy="914400"/>
          </a:xfrm>
          <a:prstGeom prst="ellipse">
            <a:avLst/>
          </a:prstGeom>
          <a:solidFill>
            <a:schemeClr val="accent3"/>
          </a:solidFill>
          <a:ln/>
        </p:spPr>
      </p:sp>
      <p:pic>
        <p:nvPicPr>
          <p:cNvPr id="19" name="Image 3" descr="preencoded.png">    </p:cNvPr>
          <p:cNvPicPr>
            <a:picLocks noChangeAspect="1"/>
          </p:cNvPicPr>
          <p:nvPr/>
        </p:nvPicPr>
        <p:blipFill>
          <a:blip r:embed="rId4"/>
          <a:stretch>
            <a:fillRect/>
          </a:stretch>
        </p:blipFill>
        <p:spPr>
          <a:xfrm>
            <a:off x="3743162" y="2569464"/>
            <a:ext cx="438912" cy="438912"/>
          </a:xfrm>
          <a:prstGeom prst="rect">
            <a:avLst/>
          </a:prstGeom>
        </p:spPr>
      </p:pic>
      <p:sp>
        <p:nvSpPr>
          <p:cNvPr id="20" name="Shape 14"/>
          <p:cNvSpPr/>
          <p:nvPr/>
        </p:nvSpPr>
        <p:spPr>
          <a:xfrm>
            <a:off x="4456394" y="2788920"/>
            <a:ext cx="433687" cy="0"/>
          </a:xfrm>
          <a:prstGeom prst="line">
            <a:avLst/>
          </a:prstGeom>
          <a:noFill/>
          <a:ln w="22225">
            <a:solidFill>
              <a:schemeClr val="bg2"/>
            </a:solidFill>
            <a:prstDash val="solid"/>
            <a:tailEnd type="triangle"/>
          </a:ln>
        </p:spPr>
      </p:sp>
      <p:sp>
        <p:nvSpPr>
          <p:cNvPr id="21" name="Text 15"/>
          <p:cNvSpPr txBox="1"/>
          <p:nvPr/>
        </p:nvSpPr>
        <p:spPr>
          <a:xfrm>
            <a:off x="3391118" y="3383280"/>
            <a:ext cx="1143000" cy="365760"/>
          </a:xfrm>
          <a:prstGeom prst="rect">
            <a:avLst/>
          </a:prstGeom>
          <a:noFill/>
          <a:ln/>
        </p:spPr>
        <p:txBody>
          <a:bodyPr wrap="square" lIns="0" tIns="0" rIns="0" bIns="0" rtlCol="0" anchor="ctr"/>
          <a:lstStyle/>
          <a:p>
            <a:pPr algn="ctr" indent="0" marL="0">
              <a:buNone/>
            </a:pPr>
            <a:r>
              <a:rPr lang="en-US" sz="1600" b="1" dirty="0">
                <a:solidFill>
                  <a:schemeClr val="accent3"/>
                </a:solidFill>
              </a:rPr>
              <a:t>Build</a:t>
            </a:r>
            <a:endParaRPr lang="en-US" sz="1600" dirty="0"/>
          </a:p>
        </p:txBody>
      </p:sp>
      <p:sp>
        <p:nvSpPr>
          <p:cNvPr id="22" name="Text 16"/>
          <p:cNvSpPr txBox="1"/>
          <p:nvPr/>
        </p:nvSpPr>
        <p:spPr>
          <a:xfrm>
            <a:off x="3299678" y="3749040"/>
            <a:ext cx="1325880" cy="685800"/>
          </a:xfrm>
          <a:prstGeom prst="rect">
            <a:avLst/>
          </a:prstGeom>
          <a:noFill/>
          <a:ln/>
        </p:spPr>
        <p:txBody>
          <a:bodyPr wrap="square" lIns="0" tIns="0" rIns="0" bIns="0" rtlCol="0" anchor="t"/>
          <a:lstStyle/>
          <a:p>
            <a:pPr algn="ctr" indent="0" marL="0">
              <a:buNone/>
            </a:pPr>
            <a:r>
              <a:rPr lang="en-US" sz="1100" dirty="0">
                <a:solidFill>
                  <a:srgbClr val="D4D4D8"/>
                </a:solidFill>
              </a:rPr>
              <a:t>GitHub Actions</a:t>
            </a:r>
            <a:endParaRPr lang="en-US" sz="1100" dirty="0"/>
          </a:p>
          <a:p>
            <a:pPr algn="ctr" indent="0" marL="0">
              <a:buNone/>
            </a:pPr>
            <a:r>
              <a:rPr lang="en-US" sz="1100" dirty="0">
                <a:solidFill>
                  <a:srgbClr val="D4D4D8"/>
                </a:solidFill>
              </a:rPr>
              <a:t>Turborepo · Docker</a:t>
            </a:r>
            <a:endParaRPr lang="en-US" sz="1100" dirty="0"/>
          </a:p>
        </p:txBody>
      </p:sp>
      <p:sp>
        <p:nvSpPr>
          <p:cNvPr id="23" name="Shape 17"/>
          <p:cNvSpPr/>
          <p:nvPr/>
        </p:nvSpPr>
        <p:spPr>
          <a:xfrm>
            <a:off x="4926657" y="2331720"/>
            <a:ext cx="914400" cy="914400"/>
          </a:xfrm>
          <a:prstGeom prst="ellipse">
            <a:avLst/>
          </a:prstGeom>
          <a:solidFill>
            <a:schemeClr val="accent2"/>
          </a:solidFill>
          <a:ln/>
        </p:spPr>
      </p:sp>
      <p:pic>
        <p:nvPicPr>
          <p:cNvPr id="24" name="Image 4" descr="preencoded.png">    </p:cNvPr>
          <p:cNvPicPr>
            <a:picLocks noChangeAspect="1"/>
          </p:cNvPicPr>
          <p:nvPr/>
        </p:nvPicPr>
        <p:blipFill>
          <a:blip r:embed="rId5"/>
          <a:stretch>
            <a:fillRect/>
          </a:stretch>
        </p:blipFill>
        <p:spPr>
          <a:xfrm>
            <a:off x="5164401" y="2569464"/>
            <a:ext cx="438912" cy="438912"/>
          </a:xfrm>
          <a:prstGeom prst="rect">
            <a:avLst/>
          </a:prstGeom>
        </p:spPr>
      </p:pic>
      <p:sp>
        <p:nvSpPr>
          <p:cNvPr id="25" name="Shape 18"/>
          <p:cNvSpPr/>
          <p:nvPr/>
        </p:nvSpPr>
        <p:spPr>
          <a:xfrm>
            <a:off x="5877633" y="2788920"/>
            <a:ext cx="433687" cy="0"/>
          </a:xfrm>
          <a:prstGeom prst="line">
            <a:avLst/>
          </a:prstGeom>
          <a:noFill/>
          <a:ln w="22225">
            <a:solidFill>
              <a:schemeClr val="bg2"/>
            </a:solidFill>
            <a:prstDash val="solid"/>
            <a:tailEnd type="triangle"/>
          </a:ln>
        </p:spPr>
      </p:sp>
      <p:sp>
        <p:nvSpPr>
          <p:cNvPr id="26" name="Text 19"/>
          <p:cNvSpPr txBox="1"/>
          <p:nvPr/>
        </p:nvSpPr>
        <p:spPr>
          <a:xfrm>
            <a:off x="4812357" y="3383280"/>
            <a:ext cx="1143000" cy="365760"/>
          </a:xfrm>
          <a:prstGeom prst="rect">
            <a:avLst/>
          </a:prstGeom>
          <a:noFill/>
          <a:ln/>
        </p:spPr>
        <p:txBody>
          <a:bodyPr wrap="square" lIns="0" tIns="0" rIns="0" bIns="0" rtlCol="0" anchor="ctr"/>
          <a:lstStyle/>
          <a:p>
            <a:pPr algn="ctr" indent="0" marL="0">
              <a:buNone/>
            </a:pPr>
            <a:r>
              <a:rPr lang="en-US" sz="1600" b="1" dirty="0">
                <a:solidFill>
                  <a:schemeClr val="accent2"/>
                </a:solidFill>
              </a:rPr>
              <a:t>Test</a:t>
            </a:r>
            <a:endParaRPr lang="en-US" sz="1600" dirty="0"/>
          </a:p>
        </p:txBody>
      </p:sp>
      <p:sp>
        <p:nvSpPr>
          <p:cNvPr id="27" name="Text 20"/>
          <p:cNvSpPr txBox="1"/>
          <p:nvPr/>
        </p:nvSpPr>
        <p:spPr>
          <a:xfrm>
            <a:off x="4720917" y="3749040"/>
            <a:ext cx="1325880" cy="685800"/>
          </a:xfrm>
          <a:prstGeom prst="rect">
            <a:avLst/>
          </a:prstGeom>
          <a:noFill/>
          <a:ln/>
        </p:spPr>
        <p:txBody>
          <a:bodyPr wrap="square" lIns="0" tIns="0" rIns="0" bIns="0" rtlCol="0" anchor="t"/>
          <a:lstStyle/>
          <a:p>
            <a:pPr algn="ctr" indent="0" marL="0">
              <a:buNone/>
            </a:pPr>
            <a:r>
              <a:rPr lang="en-US" sz="1100" dirty="0">
                <a:solidFill>
                  <a:srgbClr val="D4D4D8"/>
                </a:solidFill>
              </a:rPr>
              <a:t>bun test · Gherkin</a:t>
            </a:r>
            <a:endParaRPr lang="en-US" sz="1100" dirty="0"/>
          </a:p>
          <a:p>
            <a:pPr algn="ctr" indent="0" marL="0">
              <a:buNone/>
            </a:pPr>
            <a:r>
              <a:rPr lang="en-US" sz="1100" dirty="0">
                <a:solidFill>
                  <a:srgbClr val="D4D4D8"/>
                </a:solidFill>
              </a:rPr>
              <a:t>Postman + Newman</a:t>
            </a:r>
            <a:endParaRPr lang="en-US" sz="1100" dirty="0"/>
          </a:p>
        </p:txBody>
      </p:sp>
      <p:sp>
        <p:nvSpPr>
          <p:cNvPr id="28" name="Shape 21"/>
          <p:cNvSpPr/>
          <p:nvPr/>
        </p:nvSpPr>
        <p:spPr>
          <a:xfrm>
            <a:off x="6347895" y="2331720"/>
            <a:ext cx="914400" cy="914400"/>
          </a:xfrm>
          <a:prstGeom prst="ellipse">
            <a:avLst/>
          </a:prstGeom>
          <a:solidFill>
            <a:srgbClr val="F472B6"/>
          </a:solidFill>
          <a:ln/>
        </p:spPr>
      </p:sp>
      <p:pic>
        <p:nvPicPr>
          <p:cNvPr id="29" name="Image 5" descr="preencoded.png">    </p:cNvPr>
          <p:cNvPicPr>
            <a:picLocks noChangeAspect="1"/>
          </p:cNvPicPr>
          <p:nvPr/>
        </p:nvPicPr>
        <p:blipFill>
          <a:blip r:embed="rId6"/>
          <a:stretch>
            <a:fillRect/>
          </a:stretch>
        </p:blipFill>
        <p:spPr>
          <a:xfrm>
            <a:off x="6585639" y="2569464"/>
            <a:ext cx="438912" cy="438912"/>
          </a:xfrm>
          <a:prstGeom prst="rect">
            <a:avLst/>
          </a:prstGeom>
        </p:spPr>
      </p:pic>
      <p:sp>
        <p:nvSpPr>
          <p:cNvPr id="30" name="Shape 22"/>
          <p:cNvSpPr/>
          <p:nvPr/>
        </p:nvSpPr>
        <p:spPr>
          <a:xfrm>
            <a:off x="7298871" y="2788920"/>
            <a:ext cx="433687" cy="0"/>
          </a:xfrm>
          <a:prstGeom prst="line">
            <a:avLst/>
          </a:prstGeom>
          <a:noFill/>
          <a:ln w="22225">
            <a:solidFill>
              <a:schemeClr val="bg2"/>
            </a:solidFill>
            <a:prstDash val="solid"/>
            <a:tailEnd type="triangle"/>
          </a:ln>
        </p:spPr>
      </p:sp>
      <p:sp>
        <p:nvSpPr>
          <p:cNvPr id="31" name="Text 23"/>
          <p:cNvSpPr txBox="1"/>
          <p:nvPr/>
        </p:nvSpPr>
        <p:spPr>
          <a:xfrm>
            <a:off x="6233595" y="3383280"/>
            <a:ext cx="1143000" cy="365760"/>
          </a:xfrm>
          <a:prstGeom prst="rect">
            <a:avLst/>
          </a:prstGeom>
          <a:noFill/>
          <a:ln/>
        </p:spPr>
        <p:txBody>
          <a:bodyPr wrap="square" lIns="0" tIns="0" rIns="0" bIns="0" rtlCol="0" anchor="ctr"/>
          <a:lstStyle/>
          <a:p>
            <a:pPr algn="ctr" indent="0" marL="0">
              <a:buNone/>
            </a:pPr>
            <a:r>
              <a:rPr lang="en-US" sz="1600" b="1" dirty="0">
                <a:solidFill>
                  <a:srgbClr val="F472B6"/>
                </a:solidFill>
              </a:rPr>
              <a:t>Release</a:t>
            </a:r>
            <a:endParaRPr lang="en-US" sz="1600" dirty="0"/>
          </a:p>
        </p:txBody>
      </p:sp>
      <p:sp>
        <p:nvSpPr>
          <p:cNvPr id="32" name="Text 24"/>
          <p:cNvSpPr txBox="1"/>
          <p:nvPr/>
        </p:nvSpPr>
        <p:spPr>
          <a:xfrm>
            <a:off x="6142155" y="3749040"/>
            <a:ext cx="1325880" cy="685800"/>
          </a:xfrm>
          <a:prstGeom prst="rect">
            <a:avLst/>
          </a:prstGeom>
          <a:noFill/>
          <a:ln/>
        </p:spPr>
        <p:txBody>
          <a:bodyPr wrap="square" lIns="0" tIns="0" rIns="0" bIns="0" rtlCol="0" anchor="t"/>
          <a:lstStyle/>
          <a:p>
            <a:pPr algn="ctr" indent="0" marL="0">
              <a:buNone/>
            </a:pPr>
            <a:r>
              <a:rPr lang="en-US" sz="1100" dirty="0">
                <a:solidFill>
                  <a:srgbClr val="D4D4D8"/>
                </a:solidFill>
              </a:rPr>
              <a:t>SemVer</a:t>
            </a:r>
            <a:endParaRPr lang="en-US" sz="1100" dirty="0"/>
          </a:p>
          <a:p>
            <a:pPr algn="ctr" indent="0" marL="0">
              <a:buNone/>
            </a:pPr>
            <a:r>
              <a:rPr lang="en-US" sz="1100" dirty="0">
                <a:solidFill>
                  <a:srgbClr val="D4D4D8"/>
                </a:solidFill>
              </a:rPr>
              <a:t>Releases + GHCR</a:t>
            </a:r>
            <a:endParaRPr lang="en-US" sz="1100" dirty="0"/>
          </a:p>
        </p:txBody>
      </p:sp>
      <p:sp>
        <p:nvSpPr>
          <p:cNvPr id="33" name="Shape 25"/>
          <p:cNvSpPr/>
          <p:nvPr/>
        </p:nvSpPr>
        <p:spPr>
          <a:xfrm>
            <a:off x="7769134" y="2331720"/>
            <a:ext cx="914400" cy="914400"/>
          </a:xfrm>
          <a:prstGeom prst="ellipse">
            <a:avLst/>
          </a:prstGeom>
          <a:solidFill>
            <a:schemeClr val="accent1"/>
          </a:solidFill>
          <a:ln/>
        </p:spPr>
      </p:sp>
      <p:pic>
        <p:nvPicPr>
          <p:cNvPr id="34" name="Image 6" descr="preencoded.png">    </p:cNvPr>
          <p:cNvPicPr>
            <a:picLocks noChangeAspect="1"/>
          </p:cNvPicPr>
          <p:nvPr/>
        </p:nvPicPr>
        <p:blipFill>
          <a:blip r:embed="rId7"/>
          <a:stretch>
            <a:fillRect/>
          </a:stretch>
        </p:blipFill>
        <p:spPr>
          <a:xfrm>
            <a:off x="8006878" y="2569464"/>
            <a:ext cx="438912" cy="438912"/>
          </a:xfrm>
          <a:prstGeom prst="rect">
            <a:avLst/>
          </a:prstGeom>
        </p:spPr>
      </p:pic>
      <p:sp>
        <p:nvSpPr>
          <p:cNvPr id="35" name="Shape 26"/>
          <p:cNvSpPr/>
          <p:nvPr/>
        </p:nvSpPr>
        <p:spPr>
          <a:xfrm>
            <a:off x="8720110" y="2788920"/>
            <a:ext cx="433687" cy="0"/>
          </a:xfrm>
          <a:prstGeom prst="line">
            <a:avLst/>
          </a:prstGeom>
          <a:noFill/>
          <a:ln w="22225">
            <a:solidFill>
              <a:schemeClr val="bg2"/>
            </a:solidFill>
            <a:prstDash val="solid"/>
            <a:tailEnd type="triangle"/>
          </a:ln>
        </p:spPr>
      </p:sp>
      <p:sp>
        <p:nvSpPr>
          <p:cNvPr id="36" name="Text 27"/>
          <p:cNvSpPr txBox="1"/>
          <p:nvPr/>
        </p:nvSpPr>
        <p:spPr>
          <a:xfrm>
            <a:off x="7654834" y="3383280"/>
            <a:ext cx="1143000" cy="365760"/>
          </a:xfrm>
          <a:prstGeom prst="rect">
            <a:avLst/>
          </a:prstGeom>
          <a:noFill/>
          <a:ln/>
        </p:spPr>
        <p:txBody>
          <a:bodyPr wrap="square" lIns="0" tIns="0" rIns="0" bIns="0" rtlCol="0" anchor="ctr"/>
          <a:lstStyle/>
          <a:p>
            <a:pPr algn="ctr" indent="0" marL="0">
              <a:buNone/>
            </a:pPr>
            <a:r>
              <a:rPr lang="en-US" sz="1600" b="1" dirty="0">
                <a:solidFill>
                  <a:schemeClr val="accent1"/>
                </a:solidFill>
              </a:rPr>
              <a:t>Deploy</a:t>
            </a:r>
            <a:endParaRPr lang="en-US" sz="1600" dirty="0"/>
          </a:p>
        </p:txBody>
      </p:sp>
      <p:sp>
        <p:nvSpPr>
          <p:cNvPr id="37" name="Text 28"/>
          <p:cNvSpPr txBox="1"/>
          <p:nvPr/>
        </p:nvSpPr>
        <p:spPr>
          <a:xfrm>
            <a:off x="7563394" y="3749040"/>
            <a:ext cx="1325880" cy="685800"/>
          </a:xfrm>
          <a:prstGeom prst="rect">
            <a:avLst/>
          </a:prstGeom>
          <a:noFill/>
          <a:ln/>
        </p:spPr>
        <p:txBody>
          <a:bodyPr wrap="square" lIns="0" tIns="0" rIns="0" bIns="0" rtlCol="0" anchor="t"/>
          <a:lstStyle/>
          <a:p>
            <a:pPr algn="ctr" indent="0" marL="0">
              <a:buNone/>
            </a:pPr>
            <a:r>
              <a:rPr lang="en-US" sz="1100" dirty="0">
                <a:solidFill>
                  <a:srgbClr val="D4D4D8"/>
                </a:solidFill>
              </a:rPr>
              <a:t>Render Blueprint</a:t>
            </a:r>
            <a:endParaRPr lang="en-US" sz="1100" dirty="0"/>
          </a:p>
          <a:p>
            <a:pPr algn="ctr" indent="0" marL="0">
              <a:buNone/>
            </a:pPr>
            <a:r>
              <a:rPr lang="en-US" sz="1100" dirty="0">
                <a:solidFill>
                  <a:srgbClr val="D4D4D8"/>
                </a:solidFill>
              </a:rPr>
              <a:t>Vercel</a:t>
            </a:r>
            <a:endParaRPr lang="en-US" sz="1100" dirty="0"/>
          </a:p>
        </p:txBody>
      </p:sp>
      <p:sp>
        <p:nvSpPr>
          <p:cNvPr id="38" name="Shape 29"/>
          <p:cNvSpPr/>
          <p:nvPr/>
        </p:nvSpPr>
        <p:spPr>
          <a:xfrm>
            <a:off x="9190373" y="2331720"/>
            <a:ext cx="914400" cy="914400"/>
          </a:xfrm>
          <a:prstGeom prst="ellipse">
            <a:avLst/>
          </a:prstGeom>
          <a:solidFill>
            <a:srgbClr val="FB923C"/>
          </a:solidFill>
          <a:ln/>
        </p:spPr>
      </p:sp>
      <p:pic>
        <p:nvPicPr>
          <p:cNvPr id="39" name="Image 7" descr="preencoded.png">    </p:cNvPr>
          <p:cNvPicPr>
            <a:picLocks noChangeAspect="1"/>
          </p:cNvPicPr>
          <p:nvPr/>
        </p:nvPicPr>
        <p:blipFill>
          <a:blip r:embed="rId8"/>
          <a:stretch>
            <a:fillRect/>
          </a:stretch>
        </p:blipFill>
        <p:spPr>
          <a:xfrm>
            <a:off x="9428117" y="2569464"/>
            <a:ext cx="438912" cy="438912"/>
          </a:xfrm>
          <a:prstGeom prst="rect">
            <a:avLst/>
          </a:prstGeom>
        </p:spPr>
      </p:pic>
      <p:sp>
        <p:nvSpPr>
          <p:cNvPr id="40" name="Shape 30"/>
          <p:cNvSpPr/>
          <p:nvPr/>
        </p:nvSpPr>
        <p:spPr>
          <a:xfrm>
            <a:off x="10141349" y="2788920"/>
            <a:ext cx="433687" cy="0"/>
          </a:xfrm>
          <a:prstGeom prst="line">
            <a:avLst/>
          </a:prstGeom>
          <a:noFill/>
          <a:ln w="22225">
            <a:solidFill>
              <a:schemeClr val="bg2"/>
            </a:solidFill>
            <a:prstDash val="solid"/>
            <a:tailEnd type="triangle"/>
          </a:ln>
        </p:spPr>
      </p:sp>
      <p:sp>
        <p:nvSpPr>
          <p:cNvPr id="41" name="Text 31"/>
          <p:cNvSpPr txBox="1"/>
          <p:nvPr/>
        </p:nvSpPr>
        <p:spPr>
          <a:xfrm>
            <a:off x="9076073" y="3383280"/>
            <a:ext cx="1143000" cy="365760"/>
          </a:xfrm>
          <a:prstGeom prst="rect">
            <a:avLst/>
          </a:prstGeom>
          <a:noFill/>
          <a:ln/>
        </p:spPr>
        <p:txBody>
          <a:bodyPr wrap="square" lIns="0" tIns="0" rIns="0" bIns="0" rtlCol="0" anchor="ctr"/>
          <a:lstStyle/>
          <a:p>
            <a:pPr algn="ctr" indent="0" marL="0">
              <a:buNone/>
            </a:pPr>
            <a:r>
              <a:rPr lang="en-US" sz="1600" b="1" dirty="0">
                <a:solidFill>
                  <a:srgbClr val="FB923C"/>
                </a:solidFill>
              </a:rPr>
              <a:t>Operate</a:t>
            </a:r>
            <a:endParaRPr lang="en-US" sz="1600" dirty="0"/>
          </a:p>
        </p:txBody>
      </p:sp>
      <p:sp>
        <p:nvSpPr>
          <p:cNvPr id="42" name="Text 32"/>
          <p:cNvSpPr txBox="1"/>
          <p:nvPr/>
        </p:nvSpPr>
        <p:spPr>
          <a:xfrm>
            <a:off x="8984633" y="3749040"/>
            <a:ext cx="1325880" cy="685800"/>
          </a:xfrm>
          <a:prstGeom prst="rect">
            <a:avLst/>
          </a:prstGeom>
          <a:noFill/>
          <a:ln/>
        </p:spPr>
        <p:txBody>
          <a:bodyPr wrap="square" lIns="0" tIns="0" rIns="0" bIns="0" rtlCol="0" anchor="t"/>
          <a:lstStyle/>
          <a:p>
            <a:pPr algn="ctr" indent="0" marL="0">
              <a:buNone/>
            </a:pPr>
            <a:r>
              <a:rPr lang="en-US" sz="1100" dirty="0">
                <a:solidFill>
                  <a:srgbClr val="D4D4D8"/>
                </a:solidFill>
              </a:rPr>
              <a:t>Docker Compose</a:t>
            </a:r>
            <a:endParaRPr lang="en-US" sz="1100" dirty="0"/>
          </a:p>
          <a:p>
            <a:pPr algn="ctr" indent="0" marL="0">
              <a:buNone/>
            </a:pPr>
            <a:r>
              <a:rPr lang="en-US" sz="1100" dirty="0">
                <a:solidFill>
                  <a:srgbClr val="D4D4D8"/>
                </a:solidFill>
              </a:rPr>
              <a:t>Render</a:t>
            </a:r>
            <a:endParaRPr lang="en-US" sz="1100" dirty="0"/>
          </a:p>
          <a:p>
            <a:pPr algn="ctr" indent="0" marL="0">
              <a:buNone/>
            </a:pPr>
            <a:r>
              <a:rPr lang="en-US" sz="1100" dirty="0">
                <a:solidFill>
                  <a:srgbClr val="D4D4D8"/>
                </a:solidFill>
              </a:rPr>
              <a:t>Dependabot</a:t>
            </a:r>
            <a:endParaRPr lang="en-US" sz="1100" dirty="0"/>
          </a:p>
        </p:txBody>
      </p:sp>
      <p:sp>
        <p:nvSpPr>
          <p:cNvPr id="43" name="Shape 33"/>
          <p:cNvSpPr/>
          <p:nvPr/>
        </p:nvSpPr>
        <p:spPr>
          <a:xfrm>
            <a:off x="10611612" y="2331720"/>
            <a:ext cx="914400" cy="914400"/>
          </a:xfrm>
          <a:prstGeom prst="ellipse">
            <a:avLst/>
          </a:prstGeom>
          <a:solidFill>
            <a:schemeClr val="accent4"/>
          </a:solidFill>
          <a:ln/>
        </p:spPr>
      </p:sp>
      <p:pic>
        <p:nvPicPr>
          <p:cNvPr id="44" name="Image 8" descr="preencoded.png">    </p:cNvPr>
          <p:cNvPicPr>
            <a:picLocks noChangeAspect="1"/>
          </p:cNvPicPr>
          <p:nvPr/>
        </p:nvPicPr>
        <p:blipFill>
          <a:blip r:embed="rId9"/>
          <a:stretch>
            <a:fillRect/>
          </a:stretch>
        </p:blipFill>
        <p:spPr>
          <a:xfrm>
            <a:off x="10849356" y="2569464"/>
            <a:ext cx="438912" cy="438912"/>
          </a:xfrm>
          <a:prstGeom prst="rect">
            <a:avLst/>
          </a:prstGeom>
        </p:spPr>
      </p:pic>
      <p:sp>
        <p:nvSpPr>
          <p:cNvPr id="45" name="Text 34"/>
          <p:cNvSpPr txBox="1"/>
          <p:nvPr/>
        </p:nvSpPr>
        <p:spPr>
          <a:xfrm>
            <a:off x="10497312" y="3383280"/>
            <a:ext cx="1143000" cy="365760"/>
          </a:xfrm>
          <a:prstGeom prst="rect">
            <a:avLst/>
          </a:prstGeom>
          <a:noFill/>
          <a:ln/>
        </p:spPr>
        <p:txBody>
          <a:bodyPr wrap="square" lIns="0" tIns="0" rIns="0" bIns="0" rtlCol="0" anchor="ctr"/>
          <a:lstStyle/>
          <a:p>
            <a:pPr algn="ctr" indent="0" marL="0">
              <a:buNone/>
            </a:pPr>
            <a:r>
              <a:rPr lang="en-US" sz="1600" b="1" dirty="0">
                <a:solidFill>
                  <a:schemeClr val="accent4"/>
                </a:solidFill>
              </a:rPr>
              <a:t>Monitor</a:t>
            </a:r>
            <a:endParaRPr lang="en-US" sz="1600" dirty="0"/>
          </a:p>
        </p:txBody>
      </p:sp>
      <p:sp>
        <p:nvSpPr>
          <p:cNvPr id="46" name="Text 35"/>
          <p:cNvSpPr txBox="1"/>
          <p:nvPr/>
        </p:nvSpPr>
        <p:spPr>
          <a:xfrm>
            <a:off x="10405872" y="3749040"/>
            <a:ext cx="1325880" cy="685800"/>
          </a:xfrm>
          <a:prstGeom prst="rect">
            <a:avLst/>
          </a:prstGeom>
          <a:noFill/>
          <a:ln/>
        </p:spPr>
        <p:txBody>
          <a:bodyPr wrap="square" lIns="0" tIns="0" rIns="0" bIns="0" rtlCol="0" anchor="t"/>
          <a:lstStyle/>
          <a:p>
            <a:pPr algn="ctr" indent="0" marL="0">
              <a:buNone/>
            </a:pPr>
            <a:r>
              <a:rPr lang="en-US" sz="1100" dirty="0">
                <a:solidFill>
                  <a:srgbClr val="D4D4D8"/>
                </a:solidFill>
              </a:rPr>
              <a:t>Prometheus</a:t>
            </a:r>
            <a:endParaRPr lang="en-US" sz="1100" dirty="0"/>
          </a:p>
          <a:p>
            <a:pPr algn="ctr" indent="0" marL="0">
              <a:buNone/>
            </a:pPr>
            <a:r>
              <a:rPr lang="en-US" sz="1100" dirty="0">
                <a:solidFill>
                  <a:srgbClr val="D4D4D8"/>
                </a:solidFill>
              </a:rPr>
              <a:t>Grafana</a:t>
            </a:r>
            <a:endParaRPr lang="en-US" sz="1100" dirty="0"/>
          </a:p>
          <a:p>
            <a:pPr algn="ctr" indent="0" marL="0">
              <a:buNone/>
            </a:pPr>
            <a:r>
              <a:rPr lang="en-US" sz="1100" dirty="0">
                <a:solidFill>
                  <a:srgbClr val="D4D4D8"/>
                </a:solidFill>
              </a:rPr>
              <a:t>UptimeRobot</a:t>
            </a:r>
            <a:endParaRPr lang="en-US" sz="1100" dirty="0"/>
          </a:p>
        </p:txBody>
      </p:sp>
      <p:sp>
        <p:nvSpPr>
          <p:cNvPr id="47" name="Shape 36"/>
          <p:cNvSpPr/>
          <p:nvPr/>
        </p:nvSpPr>
        <p:spPr>
          <a:xfrm>
            <a:off x="548640" y="4846320"/>
            <a:ext cx="11091672" cy="1188720"/>
          </a:xfrm>
          <a:prstGeom prst="roundRect">
            <a:avLst>
              <a:gd name="adj" fmla="val 9231"/>
            </a:avLst>
          </a:prstGeom>
          <a:solidFill>
            <a:schemeClr val="tx2"/>
          </a:solidFill>
          <a:ln/>
        </p:spPr>
      </p:sp>
      <p:sp>
        <p:nvSpPr>
          <p:cNvPr id="48" name="Shape 37"/>
          <p:cNvSpPr/>
          <p:nvPr/>
        </p:nvSpPr>
        <p:spPr>
          <a:xfrm>
            <a:off x="822960" y="5074920"/>
            <a:ext cx="731520" cy="731520"/>
          </a:xfrm>
          <a:prstGeom prst="ellipse">
            <a:avLst/>
          </a:prstGeom>
          <a:solidFill>
            <a:schemeClr val="tx1"/>
          </a:solidFill>
          <a:ln/>
        </p:spPr>
      </p:sp>
      <p:pic>
        <p:nvPicPr>
          <p:cNvPr id="49" name="Image 9" descr="preencoded.png">    </p:cNvPr>
          <p:cNvPicPr>
            <a:picLocks noChangeAspect="1"/>
          </p:cNvPicPr>
          <p:nvPr/>
        </p:nvPicPr>
        <p:blipFill>
          <a:blip r:embed="rId10"/>
          <a:stretch>
            <a:fillRect/>
          </a:stretch>
        </p:blipFill>
        <p:spPr>
          <a:xfrm>
            <a:off x="1013155" y="5265115"/>
            <a:ext cx="351130" cy="351130"/>
          </a:xfrm>
          <a:prstGeom prst="rect">
            <a:avLst/>
          </a:prstGeom>
        </p:spPr>
      </p:pic>
      <p:sp>
        <p:nvSpPr>
          <p:cNvPr id="50" name="Text 38"/>
          <p:cNvSpPr txBox="1"/>
          <p:nvPr/>
        </p:nvSpPr>
        <p:spPr>
          <a:xfrm>
            <a:off x="1783080" y="4983480"/>
            <a:ext cx="9601200" cy="914400"/>
          </a:xfrm>
          <a:prstGeom prst="rect">
            <a:avLst/>
          </a:prstGeom>
          <a:noFill/>
          <a:ln/>
        </p:spPr>
        <p:txBody>
          <a:bodyPr wrap="square" lIns="0" tIns="0" rIns="0" bIns="0" rtlCol="0" anchor="ctr"/>
          <a:lstStyle/>
          <a:p>
            <a:pPr indent="0" marL="0">
              <a:buNone/>
            </a:pPr>
            <a:r>
              <a:rPr lang="en-US" sz="1500" b="1" dirty="0">
                <a:solidFill>
                  <a:schemeClr val="bg1"/>
                </a:solidFill>
              </a:rPr>
              <a:t>Una herramienta puede servir para varias fases. </a:t>
            </a:r>
            <a:pPr indent="0" marL="0">
              <a:buNone/>
            </a:pPr>
            <a:r>
              <a:rPr lang="en-US" sz="1500" dirty="0">
                <a:solidFill>
                  <a:srgbClr val="E4E4E7"/>
                </a:solidFill>
              </a:rPr>
              <a:t>GitHub cubre 5 de las 8, y Docker aparece en Build (imagen), Operate (Compose) y Monitor (Prometheus y Grafana).</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bg1"/>
                </a:solidFill>
              </a:rPr>
              <a:t>Del Pull Request a producción sin pasos manuales</a:t>
            </a:r>
            <a:endParaRPr lang="en-US" sz="3000" dirty="0"/>
          </a:p>
        </p:txBody>
      </p:sp>
      <p:sp>
        <p:nvSpPr>
          <p:cNvPr id="3" name="Text 1"/>
          <p:cNvSpPr txBox="1"/>
          <p:nvPr/>
        </p:nvSpPr>
        <p:spPr>
          <a:xfrm>
            <a:off x="548640" y="1645920"/>
            <a:ext cx="1737360" cy="365760"/>
          </a:xfrm>
          <a:prstGeom prst="rect">
            <a:avLst/>
          </a:prstGeom>
          <a:noFill/>
          <a:ln/>
        </p:spPr>
        <p:txBody>
          <a:bodyPr wrap="square" lIns="0" tIns="0" rIns="0" bIns="0" rtlCol="0" anchor="ctr"/>
          <a:lstStyle/>
          <a:p>
            <a:pPr indent="0" marL="0">
              <a:buNone/>
            </a:pPr>
            <a:r>
              <a:rPr lang="en-US" sz="1600" b="1" dirty="0">
                <a:solidFill>
                  <a:schemeClr val="bg1"/>
                </a:solidFill>
              </a:rPr>
              <a:t>Cada cambio</a:t>
            </a:r>
            <a:endParaRPr lang="en-US" sz="1600" dirty="0"/>
          </a:p>
        </p:txBody>
      </p:sp>
      <p:sp>
        <p:nvSpPr>
          <p:cNvPr id="4" name="Text 2"/>
          <p:cNvSpPr txBox="1"/>
          <p:nvPr/>
        </p:nvSpPr>
        <p:spPr>
          <a:xfrm>
            <a:off x="548640" y="2011680"/>
            <a:ext cx="1737360" cy="457200"/>
          </a:xfrm>
          <a:prstGeom prst="rect">
            <a:avLst/>
          </a:prstGeom>
          <a:noFill/>
          <a:ln/>
        </p:spPr>
        <p:txBody>
          <a:bodyPr wrap="square" lIns="0" tIns="0" rIns="0" bIns="0" rtlCol="0" anchor="ctr"/>
          <a:lstStyle/>
          <a:p>
            <a:pPr indent="0" marL="0">
              <a:buNone/>
            </a:pPr>
            <a:r>
              <a:rPr lang="en-US" sz="1100" dirty="0">
                <a:solidFill>
                  <a:schemeClr val="bg2"/>
                </a:solidFill>
              </a:rPr>
              <a:t>push o PR a main</a:t>
            </a:r>
            <a:endParaRPr lang="en-US" sz="1100" dirty="0"/>
          </a:p>
        </p:txBody>
      </p:sp>
      <p:sp>
        <p:nvSpPr>
          <p:cNvPr id="5" name="Shape 3"/>
          <p:cNvSpPr/>
          <p:nvPr/>
        </p:nvSpPr>
        <p:spPr>
          <a:xfrm>
            <a:off x="2468880" y="1463040"/>
            <a:ext cx="1600200" cy="1188720"/>
          </a:xfrm>
          <a:prstGeom prst="roundRect">
            <a:avLst>
              <a:gd name="adj" fmla="val 9231"/>
            </a:avLst>
          </a:prstGeom>
          <a:solidFill>
            <a:schemeClr val="tx2"/>
          </a:solidFill>
          <a:ln w="12700">
            <a:solidFill>
              <a:srgbClr val="A78BFA"/>
            </a:solidFill>
            <a:prstDash val="solid"/>
          </a:ln>
        </p:spPr>
      </p:sp>
      <p:pic>
        <p:nvPicPr>
          <p:cNvPr id="6" name="Image 0" descr="preencoded.png">    </p:cNvPr>
          <p:cNvPicPr>
            <a:picLocks noChangeAspect="1"/>
          </p:cNvPicPr>
          <p:nvPr/>
        </p:nvPicPr>
        <p:blipFill>
          <a:blip r:embed="rId1"/>
          <a:stretch>
            <a:fillRect/>
          </a:stretch>
        </p:blipFill>
        <p:spPr>
          <a:xfrm>
            <a:off x="2633472" y="1609344"/>
            <a:ext cx="292608" cy="292608"/>
          </a:xfrm>
          <a:prstGeom prst="rect">
            <a:avLst/>
          </a:prstGeom>
        </p:spPr>
      </p:pic>
      <p:sp>
        <p:nvSpPr>
          <p:cNvPr id="7" name="Text 4"/>
          <p:cNvSpPr txBox="1"/>
          <p:nvPr/>
        </p:nvSpPr>
        <p:spPr>
          <a:xfrm>
            <a:off x="2633472" y="1965960"/>
            <a:ext cx="1325880" cy="292608"/>
          </a:xfrm>
          <a:prstGeom prst="rect">
            <a:avLst/>
          </a:prstGeom>
          <a:noFill/>
          <a:ln/>
        </p:spPr>
        <p:txBody>
          <a:bodyPr wrap="square" lIns="0" tIns="0" rIns="0" bIns="0" rtlCol="0" anchor="ctr"/>
          <a:lstStyle/>
          <a:p>
            <a:pPr indent="0" marL="0">
              <a:buNone/>
            </a:pPr>
            <a:r>
              <a:rPr lang="en-US" sz="1300" b="1" dirty="0">
                <a:solidFill>
                  <a:schemeClr val="bg1"/>
                </a:solidFill>
              </a:rPr>
              <a:t>Pull Request</a:t>
            </a:r>
            <a:endParaRPr lang="en-US" sz="1300" dirty="0"/>
          </a:p>
        </p:txBody>
      </p:sp>
      <p:sp>
        <p:nvSpPr>
          <p:cNvPr id="8" name="Text 5"/>
          <p:cNvSpPr txBox="1"/>
          <p:nvPr/>
        </p:nvSpPr>
        <p:spPr>
          <a:xfrm>
            <a:off x="2633472" y="2249424"/>
            <a:ext cx="1371600" cy="32004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rama + revisión</a:t>
            </a:r>
            <a:endParaRPr lang="en-US" sz="1000" dirty="0"/>
          </a:p>
        </p:txBody>
      </p:sp>
      <p:sp>
        <p:nvSpPr>
          <p:cNvPr id="9" name="Shape 6"/>
          <p:cNvSpPr/>
          <p:nvPr/>
        </p:nvSpPr>
        <p:spPr>
          <a:xfrm>
            <a:off x="4105656" y="2057400"/>
            <a:ext cx="201168" cy="0"/>
          </a:xfrm>
          <a:prstGeom prst="line">
            <a:avLst/>
          </a:prstGeom>
          <a:noFill/>
          <a:ln w="22225">
            <a:solidFill>
              <a:schemeClr val="bg2"/>
            </a:solidFill>
            <a:prstDash val="solid"/>
            <a:tailEnd type="triangle"/>
          </a:ln>
        </p:spPr>
      </p:sp>
      <p:sp>
        <p:nvSpPr>
          <p:cNvPr id="10" name="Shape 7"/>
          <p:cNvSpPr/>
          <p:nvPr/>
        </p:nvSpPr>
        <p:spPr>
          <a:xfrm>
            <a:off x="4343400" y="1463040"/>
            <a:ext cx="1600200" cy="1188720"/>
          </a:xfrm>
          <a:prstGeom prst="roundRect">
            <a:avLst>
              <a:gd name="adj" fmla="val 9231"/>
            </a:avLst>
          </a:prstGeom>
          <a:solidFill>
            <a:schemeClr val="tx2"/>
          </a:solidFill>
          <a:ln w="12700">
            <a:solidFill>
              <a:srgbClr val="FBBF24"/>
            </a:solidFill>
            <a:prstDash val="solid"/>
          </a:ln>
        </p:spPr>
      </p:sp>
      <p:pic>
        <p:nvPicPr>
          <p:cNvPr id="11" name="Image 1" descr="preencoded.png">    </p:cNvPr>
          <p:cNvPicPr>
            <a:picLocks noChangeAspect="1"/>
          </p:cNvPicPr>
          <p:nvPr/>
        </p:nvPicPr>
        <p:blipFill>
          <a:blip r:embed="rId2"/>
          <a:stretch>
            <a:fillRect/>
          </a:stretch>
        </p:blipFill>
        <p:spPr>
          <a:xfrm>
            <a:off x="4507992" y="1609344"/>
            <a:ext cx="292608" cy="292608"/>
          </a:xfrm>
          <a:prstGeom prst="rect">
            <a:avLst/>
          </a:prstGeom>
        </p:spPr>
      </p:pic>
      <p:sp>
        <p:nvSpPr>
          <p:cNvPr id="12" name="Text 8"/>
          <p:cNvSpPr txBox="1"/>
          <p:nvPr/>
        </p:nvSpPr>
        <p:spPr>
          <a:xfrm>
            <a:off x="4507992" y="1965960"/>
            <a:ext cx="1325880" cy="292608"/>
          </a:xfrm>
          <a:prstGeom prst="rect">
            <a:avLst/>
          </a:prstGeom>
          <a:noFill/>
          <a:ln/>
        </p:spPr>
        <p:txBody>
          <a:bodyPr wrap="square" lIns="0" tIns="0" rIns="0" bIns="0" rtlCol="0" anchor="ctr"/>
          <a:lstStyle/>
          <a:p>
            <a:pPr indent="0" marL="0">
              <a:buNone/>
            </a:pPr>
            <a:r>
              <a:rPr lang="en-US" sz="1300" b="1" dirty="0">
                <a:solidFill>
                  <a:schemeClr val="bg1"/>
                </a:solidFill>
              </a:rPr>
              <a:t>Build + Test</a:t>
            </a:r>
            <a:endParaRPr lang="en-US" sz="1300" dirty="0"/>
          </a:p>
        </p:txBody>
      </p:sp>
      <p:sp>
        <p:nvSpPr>
          <p:cNvPr id="13" name="Text 9"/>
          <p:cNvSpPr txBox="1"/>
          <p:nvPr/>
        </p:nvSpPr>
        <p:spPr>
          <a:xfrm>
            <a:off x="4507992" y="2249424"/>
            <a:ext cx="1371600" cy="32004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ci.yml · 4 jobs</a:t>
            </a:r>
            <a:endParaRPr lang="en-US" sz="1000" dirty="0"/>
          </a:p>
        </p:txBody>
      </p:sp>
      <p:sp>
        <p:nvSpPr>
          <p:cNvPr id="14" name="Shape 10"/>
          <p:cNvSpPr/>
          <p:nvPr/>
        </p:nvSpPr>
        <p:spPr>
          <a:xfrm>
            <a:off x="5980176" y="2057400"/>
            <a:ext cx="201168" cy="0"/>
          </a:xfrm>
          <a:prstGeom prst="line">
            <a:avLst/>
          </a:prstGeom>
          <a:noFill/>
          <a:ln w="22225">
            <a:solidFill>
              <a:schemeClr val="bg2"/>
            </a:solidFill>
            <a:prstDash val="solid"/>
            <a:tailEnd type="triangle"/>
          </a:ln>
        </p:spPr>
      </p:sp>
      <p:sp>
        <p:nvSpPr>
          <p:cNvPr id="15" name="Shape 11"/>
          <p:cNvSpPr/>
          <p:nvPr/>
        </p:nvSpPr>
        <p:spPr>
          <a:xfrm>
            <a:off x="6217920" y="1463040"/>
            <a:ext cx="1600200" cy="1188720"/>
          </a:xfrm>
          <a:prstGeom prst="roundRect">
            <a:avLst>
              <a:gd name="adj" fmla="val 9231"/>
            </a:avLst>
          </a:prstGeom>
          <a:solidFill>
            <a:schemeClr val="tx2"/>
          </a:solidFill>
          <a:ln w="12700">
            <a:solidFill>
              <a:srgbClr val="A78BFA"/>
            </a:solidFill>
            <a:prstDash val="solid"/>
          </a:ln>
        </p:spPr>
      </p:sp>
      <p:pic>
        <p:nvPicPr>
          <p:cNvPr id="16" name="Image 2" descr="preencoded.png">    </p:cNvPr>
          <p:cNvPicPr>
            <a:picLocks noChangeAspect="1"/>
          </p:cNvPicPr>
          <p:nvPr/>
        </p:nvPicPr>
        <p:blipFill>
          <a:blip r:embed="rId3"/>
          <a:stretch>
            <a:fillRect/>
          </a:stretch>
        </p:blipFill>
        <p:spPr>
          <a:xfrm>
            <a:off x="6382512" y="1609344"/>
            <a:ext cx="292608" cy="292608"/>
          </a:xfrm>
          <a:prstGeom prst="rect">
            <a:avLst/>
          </a:prstGeom>
        </p:spPr>
      </p:pic>
      <p:sp>
        <p:nvSpPr>
          <p:cNvPr id="17" name="Text 12"/>
          <p:cNvSpPr txBox="1"/>
          <p:nvPr/>
        </p:nvSpPr>
        <p:spPr>
          <a:xfrm>
            <a:off x="6382512" y="1965960"/>
            <a:ext cx="1325880" cy="292608"/>
          </a:xfrm>
          <a:prstGeom prst="rect">
            <a:avLst/>
          </a:prstGeom>
          <a:noFill/>
          <a:ln/>
        </p:spPr>
        <p:txBody>
          <a:bodyPr wrap="square" lIns="0" tIns="0" rIns="0" bIns="0" rtlCol="0" anchor="ctr"/>
          <a:lstStyle/>
          <a:p>
            <a:pPr indent="0" marL="0">
              <a:buNone/>
            </a:pPr>
            <a:r>
              <a:rPr lang="en-US" sz="1300" b="1" dirty="0">
                <a:solidFill>
                  <a:schemeClr val="bg1"/>
                </a:solidFill>
              </a:rPr>
              <a:t>Merge a main</a:t>
            </a:r>
            <a:endParaRPr lang="en-US" sz="1300" dirty="0"/>
          </a:p>
        </p:txBody>
      </p:sp>
      <p:sp>
        <p:nvSpPr>
          <p:cNvPr id="18" name="Text 13"/>
          <p:cNvSpPr txBox="1"/>
          <p:nvPr/>
        </p:nvSpPr>
        <p:spPr>
          <a:xfrm>
            <a:off x="6382512" y="2249424"/>
            <a:ext cx="1371600" cy="32004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branch protection</a:t>
            </a:r>
            <a:endParaRPr lang="en-US" sz="1000" dirty="0"/>
          </a:p>
        </p:txBody>
      </p:sp>
      <p:sp>
        <p:nvSpPr>
          <p:cNvPr id="19" name="Shape 14"/>
          <p:cNvSpPr/>
          <p:nvPr/>
        </p:nvSpPr>
        <p:spPr>
          <a:xfrm>
            <a:off x="7854696" y="2057400"/>
            <a:ext cx="201168" cy="0"/>
          </a:xfrm>
          <a:prstGeom prst="line">
            <a:avLst/>
          </a:prstGeom>
          <a:noFill/>
          <a:ln w="22225">
            <a:solidFill>
              <a:schemeClr val="bg2"/>
            </a:solidFill>
            <a:prstDash val="solid"/>
            <a:tailEnd type="triangle"/>
          </a:ln>
        </p:spPr>
      </p:sp>
      <p:sp>
        <p:nvSpPr>
          <p:cNvPr id="20" name="Shape 15"/>
          <p:cNvSpPr/>
          <p:nvPr/>
        </p:nvSpPr>
        <p:spPr>
          <a:xfrm>
            <a:off x="8092440" y="1463040"/>
            <a:ext cx="1600200" cy="1188720"/>
          </a:xfrm>
          <a:prstGeom prst="roundRect">
            <a:avLst>
              <a:gd name="adj" fmla="val 9231"/>
            </a:avLst>
          </a:prstGeom>
          <a:solidFill>
            <a:schemeClr val="tx2"/>
          </a:solidFill>
          <a:ln w="12700">
            <a:solidFill>
              <a:srgbClr val="C8D400"/>
            </a:solidFill>
            <a:prstDash val="solid"/>
          </a:ln>
        </p:spPr>
      </p:sp>
      <p:pic>
        <p:nvPicPr>
          <p:cNvPr id="21" name="Image 3" descr="preencoded.png">    </p:cNvPr>
          <p:cNvPicPr>
            <a:picLocks noChangeAspect="1"/>
          </p:cNvPicPr>
          <p:nvPr/>
        </p:nvPicPr>
        <p:blipFill>
          <a:blip r:embed="rId4"/>
          <a:stretch>
            <a:fillRect/>
          </a:stretch>
        </p:blipFill>
        <p:spPr>
          <a:xfrm>
            <a:off x="8257032" y="1609344"/>
            <a:ext cx="292608" cy="292608"/>
          </a:xfrm>
          <a:prstGeom prst="rect">
            <a:avLst/>
          </a:prstGeom>
        </p:spPr>
      </p:pic>
      <p:sp>
        <p:nvSpPr>
          <p:cNvPr id="22" name="Text 16"/>
          <p:cNvSpPr txBox="1"/>
          <p:nvPr/>
        </p:nvSpPr>
        <p:spPr>
          <a:xfrm>
            <a:off x="8257032" y="1965960"/>
            <a:ext cx="1325880" cy="292608"/>
          </a:xfrm>
          <a:prstGeom prst="rect">
            <a:avLst/>
          </a:prstGeom>
          <a:noFill/>
          <a:ln/>
        </p:spPr>
        <p:txBody>
          <a:bodyPr wrap="square" lIns="0" tIns="0" rIns="0" bIns="0" rtlCol="0" anchor="ctr"/>
          <a:lstStyle/>
          <a:p>
            <a:pPr indent="0" marL="0">
              <a:buNone/>
            </a:pPr>
            <a:r>
              <a:rPr lang="en-US" sz="1300" b="1" dirty="0">
                <a:solidFill>
                  <a:schemeClr val="bg1"/>
                </a:solidFill>
              </a:rPr>
              <a:t>Render</a:t>
            </a:r>
            <a:endParaRPr lang="en-US" sz="1300" dirty="0"/>
          </a:p>
        </p:txBody>
      </p:sp>
      <p:sp>
        <p:nvSpPr>
          <p:cNvPr id="23" name="Text 17"/>
          <p:cNvSpPr txBox="1"/>
          <p:nvPr/>
        </p:nvSpPr>
        <p:spPr>
          <a:xfrm>
            <a:off x="8257032" y="2249424"/>
            <a:ext cx="1371600" cy="32004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checksPass</a:t>
            </a:r>
            <a:endParaRPr lang="en-US" sz="1000" dirty="0"/>
          </a:p>
        </p:txBody>
      </p:sp>
      <p:sp>
        <p:nvSpPr>
          <p:cNvPr id="24" name="Shape 18"/>
          <p:cNvSpPr/>
          <p:nvPr/>
        </p:nvSpPr>
        <p:spPr>
          <a:xfrm>
            <a:off x="9729216" y="2057400"/>
            <a:ext cx="201168" cy="0"/>
          </a:xfrm>
          <a:prstGeom prst="line">
            <a:avLst/>
          </a:prstGeom>
          <a:noFill/>
          <a:ln w="22225">
            <a:solidFill>
              <a:schemeClr val="bg2"/>
            </a:solidFill>
            <a:prstDash val="solid"/>
            <a:tailEnd type="triangle"/>
          </a:ln>
        </p:spPr>
      </p:sp>
      <p:sp>
        <p:nvSpPr>
          <p:cNvPr id="25" name="Shape 19"/>
          <p:cNvSpPr/>
          <p:nvPr/>
        </p:nvSpPr>
        <p:spPr>
          <a:xfrm>
            <a:off x="9966960" y="1463040"/>
            <a:ext cx="1600200" cy="1188720"/>
          </a:xfrm>
          <a:prstGeom prst="roundRect">
            <a:avLst>
              <a:gd name="adj" fmla="val 9231"/>
            </a:avLst>
          </a:prstGeom>
          <a:solidFill>
            <a:schemeClr val="tx2"/>
          </a:solidFill>
          <a:ln w="12700">
            <a:solidFill>
              <a:srgbClr val="C8D400"/>
            </a:solidFill>
            <a:prstDash val="solid"/>
          </a:ln>
        </p:spPr>
      </p:sp>
      <p:pic>
        <p:nvPicPr>
          <p:cNvPr id="26" name="Image 4" descr="preencoded.png">    </p:cNvPr>
          <p:cNvPicPr>
            <a:picLocks noChangeAspect="1"/>
          </p:cNvPicPr>
          <p:nvPr/>
        </p:nvPicPr>
        <p:blipFill>
          <a:blip r:embed="rId5"/>
          <a:stretch>
            <a:fillRect/>
          </a:stretch>
        </p:blipFill>
        <p:spPr>
          <a:xfrm>
            <a:off x="10131552" y="1609344"/>
            <a:ext cx="292608" cy="292608"/>
          </a:xfrm>
          <a:prstGeom prst="rect">
            <a:avLst/>
          </a:prstGeom>
        </p:spPr>
      </p:pic>
      <p:sp>
        <p:nvSpPr>
          <p:cNvPr id="27" name="Text 20"/>
          <p:cNvSpPr txBox="1"/>
          <p:nvPr/>
        </p:nvSpPr>
        <p:spPr>
          <a:xfrm>
            <a:off x="10131552" y="1965960"/>
            <a:ext cx="1325880" cy="292608"/>
          </a:xfrm>
          <a:prstGeom prst="rect">
            <a:avLst/>
          </a:prstGeom>
          <a:noFill/>
          <a:ln/>
        </p:spPr>
        <p:txBody>
          <a:bodyPr wrap="square" lIns="0" tIns="0" rIns="0" bIns="0" rtlCol="0" anchor="ctr"/>
          <a:lstStyle/>
          <a:p>
            <a:pPr indent="0" marL="0">
              <a:buNone/>
            </a:pPr>
            <a:r>
              <a:rPr lang="en-US" sz="1300" b="1" dirty="0">
                <a:solidFill>
                  <a:schemeClr val="bg1"/>
                </a:solidFill>
              </a:rPr>
              <a:t>Producción</a:t>
            </a:r>
            <a:endParaRPr lang="en-US" sz="1300" dirty="0"/>
          </a:p>
        </p:txBody>
      </p:sp>
      <p:sp>
        <p:nvSpPr>
          <p:cNvPr id="28" name="Text 21"/>
          <p:cNvSpPr txBox="1"/>
          <p:nvPr/>
        </p:nvSpPr>
        <p:spPr>
          <a:xfrm>
            <a:off x="10131552" y="2249424"/>
            <a:ext cx="1371600" cy="32004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/health = ok</a:t>
            </a:r>
            <a:endParaRPr lang="en-US" sz="1000" dirty="0"/>
          </a:p>
        </p:txBody>
      </p:sp>
      <p:sp>
        <p:nvSpPr>
          <p:cNvPr id="29" name="Text 22"/>
          <p:cNvSpPr txBox="1"/>
          <p:nvPr/>
        </p:nvSpPr>
        <p:spPr>
          <a:xfrm>
            <a:off x="548640" y="3337560"/>
            <a:ext cx="1737360" cy="365760"/>
          </a:xfrm>
          <a:prstGeom prst="rect">
            <a:avLst/>
          </a:prstGeom>
          <a:noFill/>
          <a:ln/>
        </p:spPr>
        <p:txBody>
          <a:bodyPr wrap="square" lIns="0" tIns="0" rIns="0" bIns="0" rtlCol="0" anchor="ctr"/>
          <a:lstStyle/>
          <a:p>
            <a:pPr indent="0" marL="0">
              <a:buNone/>
            </a:pPr>
            <a:r>
              <a:rPr lang="en-US" sz="1600" b="1" dirty="0">
                <a:solidFill>
                  <a:schemeClr val="bg1"/>
                </a:solidFill>
              </a:rPr>
              <a:t>Cada versión</a:t>
            </a:r>
            <a:endParaRPr lang="en-US" sz="1600" dirty="0"/>
          </a:p>
        </p:txBody>
      </p:sp>
      <p:sp>
        <p:nvSpPr>
          <p:cNvPr id="30" name="Text 23"/>
          <p:cNvSpPr txBox="1"/>
          <p:nvPr/>
        </p:nvSpPr>
        <p:spPr>
          <a:xfrm>
            <a:off x="548640" y="3703320"/>
            <a:ext cx="1737360" cy="457200"/>
          </a:xfrm>
          <a:prstGeom prst="rect">
            <a:avLst/>
          </a:prstGeom>
          <a:noFill/>
          <a:ln/>
        </p:spPr>
        <p:txBody>
          <a:bodyPr wrap="square" lIns="0" tIns="0" rIns="0" bIns="0" rtlCol="0" anchor="ctr"/>
          <a:lstStyle/>
          <a:p>
            <a:pPr indent="0" marL="0">
              <a:buNone/>
            </a:pPr>
            <a:r>
              <a:rPr lang="en-US" sz="1100" dirty="0">
                <a:solidFill>
                  <a:schemeClr val="bg2"/>
                </a:solidFill>
              </a:rPr>
              <a:t>tag vX.Y.Z</a:t>
            </a:r>
            <a:endParaRPr lang="en-US" sz="1100" dirty="0"/>
          </a:p>
        </p:txBody>
      </p:sp>
      <p:sp>
        <p:nvSpPr>
          <p:cNvPr id="31" name="Shape 24"/>
          <p:cNvSpPr/>
          <p:nvPr/>
        </p:nvSpPr>
        <p:spPr>
          <a:xfrm>
            <a:off x="2468880" y="3154680"/>
            <a:ext cx="1600200" cy="1188720"/>
          </a:xfrm>
          <a:prstGeom prst="roundRect">
            <a:avLst>
              <a:gd name="adj" fmla="val 9231"/>
            </a:avLst>
          </a:prstGeom>
          <a:solidFill>
            <a:schemeClr val="tx2"/>
          </a:solidFill>
          <a:ln w="12700">
            <a:solidFill>
              <a:srgbClr val="F472B6"/>
            </a:solidFill>
            <a:prstDash val="solid"/>
          </a:ln>
        </p:spPr>
      </p:sp>
      <p:pic>
        <p:nvPicPr>
          <p:cNvPr id="32" name="Image 5" descr="preencoded.png">    </p:cNvPr>
          <p:cNvPicPr>
            <a:picLocks noChangeAspect="1"/>
          </p:cNvPicPr>
          <p:nvPr/>
        </p:nvPicPr>
        <p:blipFill>
          <a:blip r:embed="rId6"/>
          <a:stretch>
            <a:fillRect/>
          </a:stretch>
        </p:blipFill>
        <p:spPr>
          <a:xfrm>
            <a:off x="2633472" y="3300984"/>
            <a:ext cx="292608" cy="292608"/>
          </a:xfrm>
          <a:prstGeom prst="rect">
            <a:avLst/>
          </a:prstGeom>
        </p:spPr>
      </p:pic>
      <p:sp>
        <p:nvSpPr>
          <p:cNvPr id="33" name="Text 25"/>
          <p:cNvSpPr txBox="1"/>
          <p:nvPr/>
        </p:nvSpPr>
        <p:spPr>
          <a:xfrm>
            <a:off x="2633472" y="3657600"/>
            <a:ext cx="1325880" cy="292608"/>
          </a:xfrm>
          <a:prstGeom prst="rect">
            <a:avLst/>
          </a:prstGeom>
          <a:noFill/>
          <a:ln/>
        </p:spPr>
        <p:txBody>
          <a:bodyPr wrap="square" lIns="0" tIns="0" rIns="0" bIns="0" rtlCol="0" anchor="ctr"/>
          <a:lstStyle/>
          <a:p>
            <a:pPr indent="0" marL="0">
              <a:buNone/>
            </a:pPr>
            <a:r>
              <a:rPr lang="en-US" sz="1300" b="1" dirty="0">
                <a:solidFill>
                  <a:schemeClr val="bg1"/>
                </a:solidFill>
              </a:rPr>
              <a:t>Tag v2.1.0</a:t>
            </a:r>
            <a:endParaRPr lang="en-US" sz="1300" dirty="0"/>
          </a:p>
        </p:txBody>
      </p:sp>
      <p:sp>
        <p:nvSpPr>
          <p:cNvPr id="34" name="Text 26"/>
          <p:cNvSpPr txBox="1"/>
          <p:nvPr/>
        </p:nvSpPr>
        <p:spPr>
          <a:xfrm>
            <a:off x="2633472" y="3941064"/>
            <a:ext cx="1371600" cy="32004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git push --tags</a:t>
            </a:r>
            <a:endParaRPr lang="en-US" sz="1000" dirty="0"/>
          </a:p>
        </p:txBody>
      </p:sp>
      <p:sp>
        <p:nvSpPr>
          <p:cNvPr id="35" name="Shape 27"/>
          <p:cNvSpPr/>
          <p:nvPr/>
        </p:nvSpPr>
        <p:spPr>
          <a:xfrm>
            <a:off x="4105656" y="3749040"/>
            <a:ext cx="201168" cy="0"/>
          </a:xfrm>
          <a:prstGeom prst="line">
            <a:avLst/>
          </a:prstGeom>
          <a:noFill/>
          <a:ln w="22225">
            <a:solidFill>
              <a:schemeClr val="bg2"/>
            </a:solidFill>
            <a:prstDash val="solid"/>
            <a:tailEnd type="triangle"/>
          </a:ln>
        </p:spPr>
      </p:sp>
      <p:sp>
        <p:nvSpPr>
          <p:cNvPr id="36" name="Shape 28"/>
          <p:cNvSpPr/>
          <p:nvPr/>
        </p:nvSpPr>
        <p:spPr>
          <a:xfrm>
            <a:off x="4343400" y="3154680"/>
            <a:ext cx="1600200" cy="1188720"/>
          </a:xfrm>
          <a:prstGeom prst="roundRect">
            <a:avLst>
              <a:gd name="adj" fmla="val 9231"/>
            </a:avLst>
          </a:prstGeom>
          <a:solidFill>
            <a:schemeClr val="tx2"/>
          </a:solidFill>
          <a:ln w="12700">
            <a:solidFill>
              <a:srgbClr val="FBBF24"/>
            </a:solidFill>
            <a:prstDash val="solid"/>
          </a:ln>
        </p:spPr>
      </p:sp>
      <p:pic>
        <p:nvPicPr>
          <p:cNvPr id="37" name="Image 6" descr="preencoded.png">    </p:cNvPr>
          <p:cNvPicPr>
            <a:picLocks noChangeAspect="1"/>
          </p:cNvPicPr>
          <p:nvPr/>
        </p:nvPicPr>
        <p:blipFill>
          <a:blip r:embed="rId7"/>
          <a:stretch>
            <a:fillRect/>
          </a:stretch>
        </p:blipFill>
        <p:spPr>
          <a:xfrm>
            <a:off x="4507992" y="3300984"/>
            <a:ext cx="292608" cy="292608"/>
          </a:xfrm>
          <a:prstGeom prst="rect">
            <a:avLst/>
          </a:prstGeom>
        </p:spPr>
      </p:pic>
      <p:sp>
        <p:nvSpPr>
          <p:cNvPr id="38" name="Text 29"/>
          <p:cNvSpPr txBox="1"/>
          <p:nvPr/>
        </p:nvSpPr>
        <p:spPr>
          <a:xfrm>
            <a:off x="4507992" y="3657600"/>
            <a:ext cx="1325880" cy="292608"/>
          </a:xfrm>
          <a:prstGeom prst="rect">
            <a:avLst/>
          </a:prstGeom>
          <a:noFill/>
          <a:ln/>
        </p:spPr>
        <p:txBody>
          <a:bodyPr wrap="square" lIns="0" tIns="0" rIns="0" bIns="0" rtlCol="0" anchor="ctr"/>
          <a:lstStyle/>
          <a:p>
            <a:pPr indent="0" marL="0">
              <a:buNone/>
            </a:pPr>
            <a:r>
              <a:rPr lang="en-US" sz="1300" b="1" dirty="0">
                <a:solidFill>
                  <a:schemeClr val="bg1"/>
                </a:solidFill>
              </a:rPr>
              <a:t>CI otra vez</a:t>
            </a:r>
            <a:endParaRPr lang="en-US" sz="1300" dirty="0"/>
          </a:p>
        </p:txBody>
      </p:sp>
      <p:sp>
        <p:nvSpPr>
          <p:cNvPr id="39" name="Text 30"/>
          <p:cNvSpPr txBox="1"/>
          <p:nvPr/>
        </p:nvSpPr>
        <p:spPr>
          <a:xfrm>
            <a:off x="4507992" y="3941064"/>
            <a:ext cx="1371600" cy="32004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release.yml</a:t>
            </a:r>
            <a:endParaRPr lang="en-US" sz="1000" dirty="0"/>
          </a:p>
        </p:txBody>
      </p:sp>
      <p:sp>
        <p:nvSpPr>
          <p:cNvPr id="40" name="Shape 31"/>
          <p:cNvSpPr/>
          <p:nvPr/>
        </p:nvSpPr>
        <p:spPr>
          <a:xfrm>
            <a:off x="5980176" y="3749040"/>
            <a:ext cx="201168" cy="0"/>
          </a:xfrm>
          <a:prstGeom prst="line">
            <a:avLst/>
          </a:prstGeom>
          <a:noFill/>
          <a:ln w="22225">
            <a:solidFill>
              <a:schemeClr val="bg2"/>
            </a:solidFill>
            <a:prstDash val="solid"/>
            <a:tailEnd type="triangle"/>
          </a:ln>
        </p:spPr>
      </p:sp>
      <p:sp>
        <p:nvSpPr>
          <p:cNvPr id="41" name="Shape 32"/>
          <p:cNvSpPr/>
          <p:nvPr/>
        </p:nvSpPr>
        <p:spPr>
          <a:xfrm>
            <a:off x="6217920" y="3154680"/>
            <a:ext cx="1600200" cy="1188720"/>
          </a:xfrm>
          <a:prstGeom prst="roundRect">
            <a:avLst>
              <a:gd name="adj" fmla="val 9231"/>
            </a:avLst>
          </a:prstGeom>
          <a:solidFill>
            <a:schemeClr val="tx2"/>
          </a:solidFill>
          <a:ln w="12700">
            <a:solidFill>
              <a:srgbClr val="F472B6"/>
            </a:solidFill>
            <a:prstDash val="solid"/>
          </a:ln>
        </p:spPr>
      </p:sp>
      <p:pic>
        <p:nvPicPr>
          <p:cNvPr id="42" name="Image 7" descr="preencoded.png">    </p:cNvPr>
          <p:cNvPicPr>
            <a:picLocks noChangeAspect="1"/>
          </p:cNvPicPr>
          <p:nvPr/>
        </p:nvPicPr>
        <p:blipFill>
          <a:blip r:embed="rId8"/>
          <a:stretch>
            <a:fillRect/>
          </a:stretch>
        </p:blipFill>
        <p:spPr>
          <a:xfrm>
            <a:off x="6382512" y="3300984"/>
            <a:ext cx="292608" cy="292608"/>
          </a:xfrm>
          <a:prstGeom prst="rect">
            <a:avLst/>
          </a:prstGeom>
        </p:spPr>
      </p:pic>
      <p:sp>
        <p:nvSpPr>
          <p:cNvPr id="43" name="Text 33"/>
          <p:cNvSpPr txBox="1"/>
          <p:nvPr/>
        </p:nvSpPr>
        <p:spPr>
          <a:xfrm>
            <a:off x="6382512" y="3657600"/>
            <a:ext cx="1325880" cy="292608"/>
          </a:xfrm>
          <a:prstGeom prst="rect">
            <a:avLst/>
          </a:prstGeom>
          <a:noFill/>
          <a:ln/>
        </p:spPr>
        <p:txBody>
          <a:bodyPr wrap="square" lIns="0" tIns="0" rIns="0" bIns="0" rtlCol="0" anchor="ctr"/>
          <a:lstStyle/>
          <a:p>
            <a:pPr indent="0" marL="0">
              <a:buNone/>
            </a:pPr>
            <a:r>
              <a:rPr lang="en-US" sz="1300" b="1" dirty="0">
                <a:solidFill>
                  <a:schemeClr val="bg1"/>
                </a:solidFill>
              </a:rPr>
              <a:t>Imagen GHCR</a:t>
            </a:r>
            <a:endParaRPr lang="en-US" sz="1300" dirty="0"/>
          </a:p>
        </p:txBody>
      </p:sp>
      <p:sp>
        <p:nvSpPr>
          <p:cNvPr id="44" name="Text 34"/>
          <p:cNvSpPr txBox="1"/>
          <p:nvPr/>
        </p:nvSpPr>
        <p:spPr>
          <a:xfrm>
            <a:off x="6382512" y="3941064"/>
            <a:ext cx="1371600" cy="32004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2.1.0 · latest</a:t>
            </a:r>
            <a:endParaRPr lang="en-US" sz="1000" dirty="0"/>
          </a:p>
        </p:txBody>
      </p:sp>
      <p:sp>
        <p:nvSpPr>
          <p:cNvPr id="45" name="Shape 35"/>
          <p:cNvSpPr/>
          <p:nvPr/>
        </p:nvSpPr>
        <p:spPr>
          <a:xfrm>
            <a:off x="7854696" y="3749040"/>
            <a:ext cx="201168" cy="0"/>
          </a:xfrm>
          <a:prstGeom prst="line">
            <a:avLst/>
          </a:prstGeom>
          <a:noFill/>
          <a:ln w="22225">
            <a:solidFill>
              <a:schemeClr val="bg2"/>
            </a:solidFill>
            <a:prstDash val="solid"/>
            <a:tailEnd type="triangle"/>
          </a:ln>
        </p:spPr>
      </p:sp>
      <p:sp>
        <p:nvSpPr>
          <p:cNvPr id="46" name="Shape 36"/>
          <p:cNvSpPr/>
          <p:nvPr/>
        </p:nvSpPr>
        <p:spPr>
          <a:xfrm>
            <a:off x="8092440" y="3154680"/>
            <a:ext cx="1600200" cy="1188720"/>
          </a:xfrm>
          <a:prstGeom prst="roundRect">
            <a:avLst>
              <a:gd name="adj" fmla="val 9231"/>
            </a:avLst>
          </a:prstGeom>
          <a:solidFill>
            <a:schemeClr val="tx2"/>
          </a:solidFill>
          <a:ln w="12700">
            <a:solidFill>
              <a:srgbClr val="F472B6"/>
            </a:solidFill>
            <a:prstDash val="solid"/>
          </a:ln>
        </p:spPr>
      </p:sp>
      <p:pic>
        <p:nvPicPr>
          <p:cNvPr id="47" name="Image 8" descr="preencoded.png">    </p:cNvPr>
          <p:cNvPicPr>
            <a:picLocks noChangeAspect="1"/>
          </p:cNvPicPr>
          <p:nvPr/>
        </p:nvPicPr>
        <p:blipFill>
          <a:blip r:embed="rId9"/>
          <a:stretch>
            <a:fillRect/>
          </a:stretch>
        </p:blipFill>
        <p:spPr>
          <a:xfrm>
            <a:off x="8257032" y="3300984"/>
            <a:ext cx="292608" cy="292608"/>
          </a:xfrm>
          <a:prstGeom prst="rect">
            <a:avLst/>
          </a:prstGeom>
        </p:spPr>
      </p:pic>
      <p:sp>
        <p:nvSpPr>
          <p:cNvPr id="48" name="Text 37"/>
          <p:cNvSpPr txBox="1"/>
          <p:nvPr/>
        </p:nvSpPr>
        <p:spPr>
          <a:xfrm>
            <a:off x="8257032" y="3657600"/>
            <a:ext cx="1325880" cy="292608"/>
          </a:xfrm>
          <a:prstGeom prst="rect">
            <a:avLst/>
          </a:prstGeom>
          <a:noFill/>
          <a:ln/>
        </p:spPr>
        <p:txBody>
          <a:bodyPr wrap="square" lIns="0" tIns="0" rIns="0" bIns="0" rtlCol="0" anchor="ctr"/>
          <a:lstStyle/>
          <a:p>
            <a:pPr indent="0" marL="0">
              <a:buNone/>
            </a:pPr>
            <a:r>
              <a:rPr lang="en-US" sz="1300" b="1" dirty="0">
                <a:solidFill>
                  <a:schemeClr val="bg1"/>
                </a:solidFill>
              </a:rPr>
              <a:t>GitHub Release</a:t>
            </a:r>
            <a:endParaRPr lang="en-US" sz="1300" dirty="0"/>
          </a:p>
        </p:txBody>
      </p:sp>
      <p:sp>
        <p:nvSpPr>
          <p:cNvPr id="49" name="Text 38"/>
          <p:cNvSpPr txBox="1"/>
          <p:nvPr/>
        </p:nvSpPr>
        <p:spPr>
          <a:xfrm>
            <a:off x="8257032" y="3941064"/>
            <a:ext cx="1371600" cy="32004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.zip + notas</a:t>
            </a:r>
            <a:endParaRPr lang="en-US" sz="1000" dirty="0"/>
          </a:p>
        </p:txBody>
      </p:sp>
      <p:sp>
        <p:nvSpPr>
          <p:cNvPr id="50" name="Shape 39"/>
          <p:cNvSpPr/>
          <p:nvPr/>
        </p:nvSpPr>
        <p:spPr>
          <a:xfrm>
            <a:off x="548640" y="4892040"/>
            <a:ext cx="11091672" cy="1143000"/>
          </a:xfrm>
          <a:prstGeom prst="roundRect">
            <a:avLst>
              <a:gd name="adj" fmla="val 9600"/>
            </a:avLst>
          </a:prstGeom>
          <a:solidFill>
            <a:schemeClr val="tx2"/>
          </a:solidFill>
          <a:ln/>
        </p:spPr>
      </p:sp>
      <p:sp>
        <p:nvSpPr>
          <p:cNvPr id="51" name="Shape 40"/>
          <p:cNvSpPr/>
          <p:nvPr/>
        </p:nvSpPr>
        <p:spPr>
          <a:xfrm>
            <a:off x="822960" y="5093208"/>
            <a:ext cx="731520" cy="731520"/>
          </a:xfrm>
          <a:prstGeom prst="ellipse">
            <a:avLst/>
          </a:prstGeom>
          <a:solidFill>
            <a:schemeClr val="tx1"/>
          </a:solidFill>
          <a:ln/>
        </p:spPr>
      </p:sp>
      <p:pic>
        <p:nvPicPr>
          <p:cNvPr id="52" name="Image 9" descr="preencoded.png">    </p:cNvPr>
          <p:cNvPicPr>
            <a:picLocks noChangeAspect="1"/>
          </p:cNvPicPr>
          <p:nvPr/>
        </p:nvPicPr>
        <p:blipFill>
          <a:blip r:embed="rId10"/>
          <a:stretch>
            <a:fillRect/>
          </a:stretch>
        </p:blipFill>
        <p:spPr>
          <a:xfrm>
            <a:off x="1013155" y="5283403"/>
            <a:ext cx="351130" cy="351130"/>
          </a:xfrm>
          <a:prstGeom prst="rect">
            <a:avLst/>
          </a:prstGeom>
        </p:spPr>
      </p:pic>
      <p:sp>
        <p:nvSpPr>
          <p:cNvPr id="53" name="Text 41"/>
          <p:cNvSpPr txBox="1"/>
          <p:nvPr/>
        </p:nvSpPr>
        <p:spPr>
          <a:xfrm>
            <a:off x="1783080" y="4983480"/>
            <a:ext cx="9601200" cy="960120"/>
          </a:xfrm>
          <a:prstGeom prst="rect">
            <a:avLst/>
          </a:prstGeom>
          <a:noFill/>
          <a:ln/>
        </p:spPr>
        <p:txBody>
          <a:bodyPr wrap="square" lIns="0" tIns="0" rIns="0" bIns="0" rtlCol="0" anchor="ctr"/>
          <a:lstStyle/>
          <a:p>
            <a:pPr indent="0" marL="0">
              <a:buNone/>
            </a:pPr>
            <a:r>
              <a:rPr lang="en-US" sz="1500" b="1" dirty="0">
                <a:solidFill>
                  <a:schemeClr val="accent4"/>
                </a:solidFill>
              </a:rPr>
              <a:t>Si un check falla, no pasa nada más: </a:t>
            </a:r>
            <a:pPr indent="0" marL="0">
              <a:buNone/>
            </a:pPr>
            <a:r>
              <a:rPr lang="en-US" sz="1500" dirty="0">
                <a:solidFill>
                  <a:srgbClr val="E4E4E7"/>
                </a:solidFill>
              </a:rPr>
              <a:t>el PR no se puede fusionar y Render no despliega. A producción solo llega código que compiló y pasó las 141 pruebas.</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594360"/>
          </a:xfrm>
          <a:prstGeom prst="rect">
            <a:avLst/>
          </a:prstGeom>
          <a:noFill/>
          <a:ln/>
        </p:spPr>
        <p:txBody>
          <a:bodyPr wrap="square" lIns="0" tIns="0" rIns="0" bIns="0" rtlCol="0" anchor="ctr"/>
          <a:lstStyle/>
          <a:p>
            <a:pPr algn="l" indent="0" marL="0">
              <a:buNone/>
            </a:pPr>
            <a:r>
              <a:rPr lang="en-US" sz="2600" b="1" dirty="0">
                <a:solidFill>
                  <a:schemeClr val="bg1"/>
                </a:solidFill>
              </a:rPr>
              <a:t>Plan: cada tarea es un issue en un tablero de GitHub</a:t>
            </a:r>
            <a:endParaRPr lang="en-US" sz="2600" dirty="0"/>
          </a:p>
        </p:txBody>
      </p:sp>
      <p:sp>
        <p:nvSpPr>
          <p:cNvPr id="3" name="Shape 1"/>
          <p:cNvSpPr/>
          <p:nvPr/>
        </p:nvSpPr>
        <p:spPr>
          <a:xfrm>
            <a:off x="548640" y="365760"/>
            <a:ext cx="2103120" cy="347472"/>
          </a:xfrm>
          <a:prstGeom prst="roundRect">
            <a:avLst>
              <a:gd name="adj" fmla="val 50000"/>
            </a:avLst>
          </a:prstGeom>
          <a:solidFill>
            <a:schemeClr val="accent5"/>
          </a:solidFill>
          <a:ln/>
        </p:spPr>
      </p:sp>
      <p:sp>
        <p:nvSpPr>
          <p:cNvPr id="4" name="Text 2"/>
          <p:cNvSpPr txBox="1"/>
          <p:nvPr/>
        </p:nvSpPr>
        <p:spPr>
          <a:xfrm>
            <a:off x="548640" y="365760"/>
            <a:ext cx="2103120" cy="347472"/>
          </a:xfrm>
          <a:prstGeom prst="rect">
            <a:avLst/>
          </a:prstGeom>
          <a:noFill/>
          <a:ln/>
        </p:spPr>
        <p:txBody>
          <a:bodyPr wrap="square" lIns="0" tIns="0" rIns="0" bIns="0" rtlCol="0" anchor="ctr"/>
          <a:lstStyle/>
          <a:p>
            <a:pPr algn="ctr" indent="0" marL="0">
              <a:buNone/>
            </a:pPr>
            <a:r>
              <a:rPr lang="en-US" sz="1200" b="1" spc="100" kern="0" dirty="0">
                <a:solidFill>
                  <a:schemeClr val="tx1"/>
                </a:solidFill>
              </a:rPr>
              <a:t>FASE 1 · PLAN</a:t>
            </a:r>
            <a:endParaRPr lang="en-US" sz="1200" dirty="0"/>
          </a:p>
        </p:txBody>
      </p:sp>
      <p:sp>
        <p:nvSpPr>
          <p:cNvPr id="5" name="Shape 3"/>
          <p:cNvSpPr/>
          <p:nvPr/>
        </p:nvSpPr>
        <p:spPr>
          <a:xfrm>
            <a:off x="10405872" y="274320"/>
            <a:ext cx="548640" cy="548640"/>
          </a:xfrm>
          <a:prstGeom prst="roundRect">
            <a:avLst>
              <a:gd name="adj" fmla="val 16667"/>
            </a:avLst>
          </a:prstGeom>
          <a:solidFill>
            <a:schemeClr val="tx2"/>
          </a:solidFill>
          <a:ln/>
        </p:spPr>
      </p:sp>
      <p:pic>
        <p:nvPicPr>
          <p:cNvPr id="6" name="Image 0" descr="preencoded.png">    </p:cNvPr>
          <p:cNvPicPr>
            <a:picLocks noChangeAspect="1"/>
          </p:cNvPicPr>
          <p:nvPr/>
        </p:nvPicPr>
        <p:blipFill>
          <a:blip r:embed="rId1"/>
          <a:stretch>
            <a:fillRect/>
          </a:stretch>
        </p:blipFill>
        <p:spPr>
          <a:xfrm>
            <a:off x="10526573" y="395021"/>
            <a:ext cx="307238" cy="307238"/>
          </a:xfrm>
          <a:prstGeom prst="rect">
            <a:avLst/>
          </a:prstGeom>
        </p:spPr>
      </p:pic>
      <p:sp>
        <p:nvSpPr>
          <p:cNvPr id="7" name="Shape 4"/>
          <p:cNvSpPr/>
          <p:nvPr/>
        </p:nvSpPr>
        <p:spPr>
          <a:xfrm>
            <a:off x="11091672" y="274320"/>
            <a:ext cx="548640" cy="548640"/>
          </a:xfrm>
          <a:prstGeom prst="roundRect">
            <a:avLst>
              <a:gd name="adj" fmla="val 16667"/>
            </a:avLst>
          </a:prstGeom>
          <a:solidFill>
            <a:schemeClr val="tx2"/>
          </a:solidFill>
          <a:ln/>
        </p:spPr>
      </p:sp>
      <p:pic>
        <p:nvPicPr>
          <p:cNvPr id="8" name="Image 1" descr="preencoded.png">    </p:cNvPr>
          <p:cNvPicPr>
            <a:picLocks noChangeAspect="1"/>
          </p:cNvPicPr>
          <p:nvPr/>
        </p:nvPicPr>
        <p:blipFill>
          <a:blip r:embed="rId2"/>
          <a:stretch>
            <a:fillRect/>
          </a:stretch>
        </p:blipFill>
        <p:spPr>
          <a:xfrm>
            <a:off x="11212373" y="395021"/>
            <a:ext cx="307238" cy="307238"/>
          </a:xfrm>
          <a:prstGeom prst="rect">
            <a:avLst/>
          </a:prstGeom>
        </p:spPr>
      </p:pic>
      <p:sp>
        <p:nvSpPr>
          <p:cNvPr id="9" name="Text 5"/>
          <p:cNvSpPr txBox="1"/>
          <p:nvPr/>
        </p:nvSpPr>
        <p:spPr>
          <a:xfrm>
            <a:off x="548640" y="1600200"/>
            <a:ext cx="6309360" cy="228600"/>
          </a:xfrm>
          <a:prstGeom prst="rect">
            <a:avLst/>
          </a:prstGeom>
          <a:noFill/>
          <a:ln/>
        </p:spPr>
        <p:txBody>
          <a:bodyPr wrap="square" lIns="0" tIns="0" rIns="0" bIns="0" rtlCol="0" anchor="ctr"/>
          <a:lstStyle/>
          <a:p>
            <a:pPr indent="0" marL="0">
              <a:buNone/>
            </a:pPr>
            <a:r>
              <a:rPr lang="en-US" sz="1100" b="1" spc="150" kern="0" dirty="0">
                <a:solidFill>
                  <a:schemeClr val="accent5"/>
                </a:solidFill>
              </a:rPr>
              <a:t>HERRAMIENTA</a:t>
            </a:r>
            <a:endParaRPr lang="en-US" sz="1100" dirty="0"/>
          </a:p>
        </p:txBody>
      </p:sp>
      <p:sp>
        <p:nvSpPr>
          <p:cNvPr id="10" name="Text 6"/>
          <p:cNvSpPr txBox="1"/>
          <p:nvPr/>
        </p:nvSpPr>
        <p:spPr>
          <a:xfrm>
            <a:off x="548640" y="1828800"/>
            <a:ext cx="6309360" cy="502920"/>
          </a:xfrm>
          <a:prstGeom prst="rect">
            <a:avLst/>
          </a:prstGeom>
          <a:noFill/>
          <a:ln/>
        </p:spPr>
        <p:txBody>
          <a:bodyPr wrap="square" lIns="0" tIns="0" rIns="0" bIns="0" rtlCol="0" anchor="t"/>
          <a:lstStyle/>
          <a:p>
            <a:pPr indent="0" marL="0">
              <a:buNone/>
            </a:pPr>
            <a:r>
              <a:rPr lang="en-US" sz="1500" b="1" dirty="0">
                <a:solidFill>
                  <a:schemeClr val="bg1"/>
                </a:solidFill>
              </a:rPr>
              <a:t>GitHub Projects (tablero Kanban) y GitHub Issues</a:t>
            </a:r>
            <a:endParaRPr lang="en-US" sz="1500" dirty="0"/>
          </a:p>
        </p:txBody>
      </p:sp>
      <p:sp>
        <p:nvSpPr>
          <p:cNvPr id="11" name="Text 7"/>
          <p:cNvSpPr txBox="1"/>
          <p:nvPr/>
        </p:nvSpPr>
        <p:spPr>
          <a:xfrm>
            <a:off x="548640" y="2514600"/>
            <a:ext cx="6309360" cy="228600"/>
          </a:xfrm>
          <a:prstGeom prst="rect">
            <a:avLst/>
          </a:prstGeom>
          <a:noFill/>
          <a:ln/>
        </p:spPr>
        <p:txBody>
          <a:bodyPr wrap="square" lIns="0" tIns="0" rIns="0" bIns="0" rtlCol="0" anchor="ctr"/>
          <a:lstStyle/>
          <a:p>
            <a:pPr indent="0" marL="0">
              <a:buNone/>
            </a:pPr>
            <a:r>
              <a:rPr lang="en-US" sz="1100" b="1" spc="150" kern="0" dirty="0">
                <a:solidFill>
                  <a:schemeClr val="accent5"/>
                </a:solidFill>
              </a:rPr>
              <a:t>INSTALACIÓN</a:t>
            </a:r>
            <a:endParaRPr lang="en-US" sz="1100" dirty="0"/>
          </a:p>
        </p:txBody>
      </p:sp>
      <p:sp>
        <p:nvSpPr>
          <p:cNvPr id="12" name="Text 8"/>
          <p:cNvSpPr txBox="1"/>
          <p:nvPr/>
        </p:nvSpPr>
        <p:spPr>
          <a:xfrm>
            <a:off x="548640" y="2743200"/>
            <a:ext cx="6309360" cy="685800"/>
          </a:xfrm>
          <a:prstGeom prst="rect">
            <a:avLst/>
          </a:prstGeom>
          <a:noFill/>
          <a:ln/>
        </p:spPr>
        <p:txBody>
          <a:bodyPr wrap="square" lIns="0" tIns="0" rIns="0" bIns="0" rtlCol="0" anchor="t"/>
          <a:lstStyle/>
          <a:p>
            <a:pPr indent="0" marL="0">
              <a:buNone/>
            </a:pPr>
            <a:r>
              <a:rPr lang="en-US" sz="1400" dirty="0">
                <a:solidFill>
                  <a:srgbClr val="E4E4E7"/>
                </a:solidFill>
              </a:rPr>
              <a:t>No se instala: viene con GitHub. Repositorio → Projects → New project → Board, con las columnas Por hacer, En progreso, En revisión y Hecho.</a:t>
            </a:r>
            <a:endParaRPr lang="en-US" sz="1400" dirty="0"/>
          </a:p>
        </p:txBody>
      </p:sp>
      <p:sp>
        <p:nvSpPr>
          <p:cNvPr id="13" name="Text 9"/>
          <p:cNvSpPr txBox="1"/>
          <p:nvPr/>
        </p:nvSpPr>
        <p:spPr>
          <a:xfrm>
            <a:off x="548640" y="3520440"/>
            <a:ext cx="6309360" cy="228600"/>
          </a:xfrm>
          <a:prstGeom prst="rect">
            <a:avLst/>
          </a:prstGeom>
          <a:noFill/>
          <a:ln/>
        </p:spPr>
        <p:txBody>
          <a:bodyPr wrap="square" lIns="0" tIns="0" rIns="0" bIns="0" rtlCol="0" anchor="ctr"/>
          <a:lstStyle/>
          <a:p>
            <a:pPr indent="0" marL="0">
              <a:buNone/>
            </a:pPr>
            <a:r>
              <a:rPr lang="en-US" sz="1100" b="1" spc="150" kern="0" dirty="0">
                <a:solidFill>
                  <a:schemeClr val="accent5"/>
                </a:solidFill>
              </a:rPr>
              <a:t>CONFIGURACIÓN</a:t>
            </a:r>
            <a:endParaRPr lang="en-US" sz="1100" dirty="0"/>
          </a:p>
        </p:txBody>
      </p:sp>
      <p:sp>
        <p:nvSpPr>
          <p:cNvPr id="14" name="editor"/>
          <p:cNvSpPr/>
          <p:nvPr/>
        </p:nvSpPr>
        <p:spPr>
          <a:xfrm>
            <a:off x="548640" y="3794760"/>
            <a:ext cx="6309360" cy="2423160"/>
          </a:xfrm>
          <a:prstGeom prst="roundRect">
            <a:avLst>
              <a:gd name="adj" fmla="val 3019"/>
            </a:avLst>
          </a:prstGeom>
          <a:solidFill>
            <a:srgbClr val="0D1117"/>
          </a:solidFill>
          <a:ln w="12700">
            <a:solidFill>
              <a:srgbClr val="30363D"/>
            </a:solidFill>
            <a:prstDash val="solid"/>
          </a:ln>
        </p:spPr>
      </p:sp>
      <p:sp>
        <p:nvSpPr>
          <p:cNvPr id="15" name="Shape 11"/>
          <p:cNvSpPr/>
          <p:nvPr/>
        </p:nvSpPr>
        <p:spPr>
          <a:xfrm>
            <a:off x="557784" y="3803904"/>
            <a:ext cx="6291072" cy="310896"/>
          </a:xfrm>
          <a:prstGeom prst="roundRect">
            <a:avLst>
              <a:gd name="adj" fmla="val 23529"/>
            </a:avLst>
          </a:prstGeom>
          <a:solidFill>
            <a:srgbClr val="161B22"/>
          </a:solidFill>
          <a:ln/>
        </p:spPr>
      </p:sp>
      <p:sp>
        <p:nvSpPr>
          <p:cNvPr id="16" name="Shape 12"/>
          <p:cNvSpPr/>
          <p:nvPr/>
        </p:nvSpPr>
        <p:spPr>
          <a:xfrm>
            <a:off x="557784" y="3950208"/>
            <a:ext cx="6291072" cy="164592"/>
          </a:xfrm>
          <a:prstGeom prst="rect">
            <a:avLst/>
          </a:prstGeom>
          <a:solidFill>
            <a:srgbClr val="161B22"/>
          </a:solidFill>
          <a:ln/>
        </p:spPr>
      </p:sp>
      <p:sp>
        <p:nvSpPr>
          <p:cNvPr id="17" name="Shape 13"/>
          <p:cNvSpPr/>
          <p:nvPr/>
        </p:nvSpPr>
        <p:spPr>
          <a:xfrm>
            <a:off x="548640" y="4114800"/>
            <a:ext cx="6309360" cy="0"/>
          </a:xfrm>
          <a:prstGeom prst="line">
            <a:avLst/>
          </a:prstGeom>
          <a:noFill/>
          <a:ln w="9525">
            <a:solidFill>
              <a:srgbClr val="30363D"/>
            </a:solidFill>
            <a:prstDash val="solid"/>
          </a:ln>
        </p:spPr>
      </p:sp>
      <p:sp>
        <p:nvSpPr>
          <p:cNvPr id="18" name="Shape 14"/>
          <p:cNvSpPr/>
          <p:nvPr/>
        </p:nvSpPr>
        <p:spPr>
          <a:xfrm>
            <a:off x="694944" y="3909060"/>
            <a:ext cx="100584" cy="100584"/>
          </a:xfrm>
          <a:prstGeom prst="ellipse">
            <a:avLst/>
          </a:prstGeom>
          <a:solidFill>
            <a:srgbClr val="FF5F56"/>
          </a:solidFill>
          <a:ln/>
        </p:spPr>
      </p:sp>
      <p:sp>
        <p:nvSpPr>
          <p:cNvPr id="19" name="Shape 15"/>
          <p:cNvSpPr/>
          <p:nvPr/>
        </p:nvSpPr>
        <p:spPr>
          <a:xfrm>
            <a:off x="850392" y="3909060"/>
            <a:ext cx="100584" cy="100584"/>
          </a:xfrm>
          <a:prstGeom prst="ellipse">
            <a:avLst/>
          </a:prstGeom>
          <a:solidFill>
            <a:srgbClr val="FFBD2E"/>
          </a:solidFill>
          <a:ln/>
        </p:spPr>
      </p:sp>
      <p:sp>
        <p:nvSpPr>
          <p:cNvPr id="20" name="Shape 16"/>
          <p:cNvSpPr/>
          <p:nvPr/>
        </p:nvSpPr>
        <p:spPr>
          <a:xfrm>
            <a:off x="1005840" y="3909060"/>
            <a:ext cx="100584" cy="100584"/>
          </a:xfrm>
          <a:prstGeom prst="ellipse">
            <a:avLst/>
          </a:prstGeom>
          <a:solidFill>
            <a:srgbClr val="27C93F"/>
          </a:solidFill>
          <a:ln/>
        </p:spPr>
      </p:sp>
      <p:sp>
        <p:nvSpPr>
          <p:cNvPr id="21" name="Text 17"/>
          <p:cNvSpPr txBox="1"/>
          <p:nvPr/>
        </p:nvSpPr>
        <p:spPr>
          <a:xfrm>
            <a:off x="1234440" y="3803904"/>
            <a:ext cx="5486400" cy="310896"/>
          </a:xfrm>
          <a:prstGeom prst="rect">
            <a:avLst/>
          </a:prstGeom>
          <a:noFill/>
          <a:ln/>
        </p:spPr>
        <p:txBody>
          <a:bodyPr wrap="square" lIns="0" tIns="0" rIns="0" bIns="0"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.github/ISSUE_TEMPLATE/feature.yml</a:t>
            </a:r>
            <a:endParaRPr lang="en-US" sz="1000" dirty="0"/>
          </a:p>
        </p:txBody>
      </p:sp>
      <p:sp>
        <p:nvSpPr>
          <p:cNvPr id="22" name="codigo"/>
          <p:cNvSpPr txBox="1"/>
          <p:nvPr/>
        </p:nvSpPr>
        <p:spPr>
          <a:xfrm>
            <a:off x="713232" y="4215384"/>
            <a:ext cx="6035040" cy="1929384"/>
          </a:xfrm>
          <a:prstGeom prst="rect">
            <a:avLst/>
          </a:prstGeom>
          <a:noFill/>
          <a:ln/>
        </p:spPr>
        <p:txBody>
          <a:bodyPr wrap="square" lIns="0" tIns="0" rIns="0" bIns="0" rtlCol="0" anchor="t"/>
          <a:lstStyle/>
          <a:p>
            <a:pPr indent="0" marL="0">
              <a:buNone/>
            </a:pPr>
            <a:r>
              <a:rPr lang="en-US" sz="1100" dirty="0">
                <a:solidFill>
                  <a:srgbClr val="6E7681"/>
                </a:solidFill>
                <a:latin typeface="Courier New" pitchFamily="34" charset="0"/>
                <a:ea typeface="Courier New" pitchFamily="34" charset="-122"/>
                <a:cs typeface="Courier New" pitchFamily="34" charset="-120"/>
              </a:rPr>
              <a:t> 1  </a:t>
            </a:r>
            <a:pPr indent="0" marL="0">
              <a:buNone/>
            </a:pPr>
            <a:r>
              <a:rPr lang="en-US" sz="1100" dirty="0">
                <a:solidFill>
                  <a:srgbClr val="7EE787"/>
                </a:solidFill>
                <a:latin typeface="Courier New" pitchFamily="34" charset="0"/>
                <a:ea typeface="Courier New" pitchFamily="34" charset="-122"/>
                <a:cs typeface="Courier New" pitchFamily="34" charset="-120"/>
              </a:rPr>
              <a:t>name</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Nueva</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función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o</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tarea</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2  </a:t>
            </a:r>
            <a:pPr indent="0" marL="0">
              <a:buNone/>
            </a:pPr>
            <a:r>
              <a:rPr lang="en-US" sz="1100" dirty="0">
                <a:solidFill>
                  <a:srgbClr val="7EE787"/>
                </a:solidFill>
                <a:latin typeface="Courier New" pitchFamily="34" charset="0"/>
                <a:ea typeface="Courier New" pitchFamily="34" charset="-122"/>
                <a:cs typeface="Courier New" pitchFamily="34" charset="-120"/>
              </a:rPr>
              <a:t>body</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3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type</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dropdown</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4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id</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fase</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5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attributes</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6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label</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Fase</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DevOps</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7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options</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Plan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Code</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Build</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Test</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8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Release</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Deploy</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Operate</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Monitor</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9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type</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textarea</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10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attributes</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11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label</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Criterios</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de</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aceptación</a:t>
            </a:r>
            <a:endParaRPr lang="en-US" sz="1100" dirty="0"/>
          </a:p>
        </p:txBody>
      </p:sp>
      <p:sp>
        <p:nvSpPr>
          <p:cNvPr id="23" name="Shape 19"/>
          <p:cNvSpPr/>
          <p:nvPr/>
        </p:nvSpPr>
        <p:spPr>
          <a:xfrm>
            <a:off x="7132320" y="1600200"/>
            <a:ext cx="4507992" cy="2606040"/>
          </a:xfrm>
          <a:prstGeom prst="roundRect">
            <a:avLst>
              <a:gd name="adj" fmla="val 4211"/>
            </a:avLst>
          </a:prstGeom>
          <a:solidFill>
            <a:schemeClr val="tx2"/>
          </a:solidFill>
          <a:ln/>
        </p:spPr>
      </p:sp>
      <p:pic>
        <p:nvPicPr>
          <p:cNvPr id="24" name="Image 2" descr="preencoded.png">    </p:cNvPr>
          <p:cNvPicPr>
            <a:picLocks noChangeAspect="1"/>
          </p:cNvPicPr>
          <p:nvPr/>
        </p:nvPicPr>
        <p:blipFill>
          <a:blip r:embed="rId3"/>
          <a:stretch>
            <a:fillRect/>
          </a:stretch>
        </p:blipFill>
        <p:spPr>
          <a:xfrm>
            <a:off x="7360920" y="1783080"/>
            <a:ext cx="256032" cy="256032"/>
          </a:xfrm>
          <a:prstGeom prst="rect">
            <a:avLst/>
          </a:prstGeom>
        </p:spPr>
      </p:pic>
      <p:sp>
        <p:nvSpPr>
          <p:cNvPr id="25" name="Text 20"/>
          <p:cNvSpPr txBox="1"/>
          <p:nvPr/>
        </p:nvSpPr>
        <p:spPr>
          <a:xfrm>
            <a:off x="7726680" y="1801368"/>
            <a:ext cx="3200400" cy="228600"/>
          </a:xfrm>
          <a:prstGeom prst="rect">
            <a:avLst/>
          </a:prstGeom>
          <a:noFill/>
          <a:ln/>
        </p:spPr>
        <p:txBody>
          <a:bodyPr wrap="square" lIns="0" tIns="0" rIns="0" bIns="0" rtlCol="0" anchor="ctr"/>
          <a:lstStyle/>
          <a:p>
            <a:pPr indent="0" marL="0">
              <a:buNone/>
            </a:pPr>
            <a:r>
              <a:rPr lang="en-US" sz="1100" b="1" spc="150" kern="0" dirty="0">
                <a:solidFill>
                  <a:schemeClr val="accent5"/>
                </a:solidFill>
              </a:rPr>
              <a:t>DEMO EN VIVO</a:t>
            </a:r>
            <a:endParaRPr lang="en-US" sz="1100" dirty="0"/>
          </a:p>
        </p:txBody>
      </p:sp>
      <p:sp>
        <p:nvSpPr>
          <p:cNvPr id="26" name="Shape 21"/>
          <p:cNvSpPr/>
          <p:nvPr/>
        </p:nvSpPr>
        <p:spPr>
          <a:xfrm>
            <a:off x="7360920" y="2240280"/>
            <a:ext cx="292608" cy="292608"/>
          </a:xfrm>
          <a:prstGeom prst="ellipse">
            <a:avLst/>
          </a:prstGeom>
          <a:solidFill>
            <a:schemeClr val="accent5"/>
          </a:solidFill>
          <a:ln/>
        </p:spPr>
      </p:sp>
      <p:sp>
        <p:nvSpPr>
          <p:cNvPr id="27" name="Text 22"/>
          <p:cNvSpPr txBox="1"/>
          <p:nvPr/>
        </p:nvSpPr>
        <p:spPr>
          <a:xfrm>
            <a:off x="7360920" y="2240280"/>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28" name="Text 23"/>
          <p:cNvSpPr txBox="1"/>
          <p:nvPr/>
        </p:nvSpPr>
        <p:spPr>
          <a:xfrm>
            <a:off x="7790688" y="2212848"/>
            <a:ext cx="3657600" cy="475488"/>
          </a:xfrm>
          <a:prstGeom prst="rect">
            <a:avLst/>
          </a:prstGeom>
          <a:noFill/>
          <a:ln/>
        </p:spPr>
        <p:txBody>
          <a:bodyPr wrap="square" lIns="0" tIns="0" rIns="0" bIns="0" rtlCol="0" anchor="t"/>
          <a:lstStyle/>
          <a:p>
            <a:pPr indent="0" marL="0">
              <a:buNone/>
            </a:pPr>
            <a:r>
              <a:rPr lang="en-US" sz="1300" dirty="0">
                <a:solidFill>
                  <a:schemeClr val="bg1"/>
                </a:solidFill>
              </a:rPr>
              <a:t>Abrimos el tablero del proyecto</a:t>
            </a:r>
            <a:endParaRPr lang="en-US" sz="1300" dirty="0"/>
          </a:p>
        </p:txBody>
      </p:sp>
      <p:sp>
        <p:nvSpPr>
          <p:cNvPr id="29" name="Shape 24"/>
          <p:cNvSpPr/>
          <p:nvPr/>
        </p:nvSpPr>
        <p:spPr>
          <a:xfrm>
            <a:off x="7360920" y="2724912"/>
            <a:ext cx="292608" cy="292608"/>
          </a:xfrm>
          <a:prstGeom prst="ellipse">
            <a:avLst/>
          </a:prstGeom>
          <a:solidFill>
            <a:schemeClr val="accent5"/>
          </a:solidFill>
          <a:ln/>
        </p:spPr>
      </p:sp>
      <p:sp>
        <p:nvSpPr>
          <p:cNvPr id="30" name="Text 25"/>
          <p:cNvSpPr txBox="1"/>
          <p:nvPr/>
        </p:nvSpPr>
        <p:spPr>
          <a:xfrm>
            <a:off x="7360920" y="2724912"/>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31" name="Text 26"/>
          <p:cNvSpPr txBox="1"/>
          <p:nvPr/>
        </p:nvSpPr>
        <p:spPr>
          <a:xfrm>
            <a:off x="7790688" y="2697480"/>
            <a:ext cx="3657600" cy="475488"/>
          </a:xfrm>
          <a:prstGeom prst="rect">
            <a:avLst/>
          </a:prstGeom>
          <a:noFill/>
          <a:ln/>
        </p:spPr>
        <p:txBody>
          <a:bodyPr wrap="square" lIns="0" tIns="0" rIns="0" bIns="0" rtlCol="0" anchor="t"/>
          <a:lstStyle/>
          <a:p>
            <a:pPr indent="0" marL="0">
              <a:buNone/>
            </a:pPr>
            <a:r>
              <a:rPr lang="en-US" sz="1300" dirty="0">
                <a:solidFill>
                  <a:schemeClr val="bg1"/>
                </a:solidFill>
              </a:rPr>
              <a:t>Creamos un issue con su fase DevOps</a:t>
            </a:r>
            <a:endParaRPr lang="en-US" sz="1300" dirty="0"/>
          </a:p>
        </p:txBody>
      </p:sp>
      <p:sp>
        <p:nvSpPr>
          <p:cNvPr id="32" name="Shape 27"/>
          <p:cNvSpPr/>
          <p:nvPr/>
        </p:nvSpPr>
        <p:spPr>
          <a:xfrm>
            <a:off x="7360920" y="3209544"/>
            <a:ext cx="292608" cy="292608"/>
          </a:xfrm>
          <a:prstGeom prst="ellipse">
            <a:avLst/>
          </a:prstGeom>
          <a:solidFill>
            <a:schemeClr val="accent5"/>
          </a:solidFill>
          <a:ln/>
        </p:spPr>
      </p:sp>
      <p:sp>
        <p:nvSpPr>
          <p:cNvPr id="33" name="Text 28"/>
          <p:cNvSpPr txBox="1"/>
          <p:nvPr/>
        </p:nvSpPr>
        <p:spPr>
          <a:xfrm>
            <a:off x="7360920" y="3209544"/>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34" name="Text 29"/>
          <p:cNvSpPr txBox="1"/>
          <p:nvPr/>
        </p:nvSpPr>
        <p:spPr>
          <a:xfrm>
            <a:off x="7790688" y="3182112"/>
            <a:ext cx="3657600" cy="475488"/>
          </a:xfrm>
          <a:prstGeom prst="rect">
            <a:avLst/>
          </a:prstGeom>
          <a:noFill/>
          <a:ln/>
        </p:spPr>
        <p:txBody>
          <a:bodyPr wrap="square" lIns="0" tIns="0" rIns="0" bIns="0" rtlCol="0" anchor="t"/>
          <a:lstStyle/>
          <a:p>
            <a:pPr indent="0" marL="0">
              <a:buNone/>
            </a:pPr>
            <a:r>
              <a:rPr lang="en-US" sz="1300" dirty="0">
                <a:solidFill>
                  <a:schemeClr val="bg1"/>
                </a:solidFill>
              </a:rPr>
              <a:t>El PR que lo resuelve dice “Closes #N”</a:t>
            </a:r>
            <a:endParaRPr lang="en-US" sz="1300" dirty="0"/>
          </a:p>
        </p:txBody>
      </p:sp>
      <p:sp>
        <p:nvSpPr>
          <p:cNvPr id="35" name="Shape 30"/>
          <p:cNvSpPr/>
          <p:nvPr/>
        </p:nvSpPr>
        <p:spPr>
          <a:xfrm>
            <a:off x="7360920" y="3694176"/>
            <a:ext cx="292608" cy="292608"/>
          </a:xfrm>
          <a:prstGeom prst="ellipse">
            <a:avLst/>
          </a:prstGeom>
          <a:solidFill>
            <a:schemeClr val="accent5"/>
          </a:solidFill>
          <a:ln/>
        </p:spPr>
      </p:sp>
      <p:sp>
        <p:nvSpPr>
          <p:cNvPr id="36" name="Text 31"/>
          <p:cNvSpPr txBox="1"/>
          <p:nvPr/>
        </p:nvSpPr>
        <p:spPr>
          <a:xfrm>
            <a:off x="7360920" y="3694176"/>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37" name="Text 32"/>
          <p:cNvSpPr txBox="1"/>
          <p:nvPr/>
        </p:nvSpPr>
        <p:spPr>
          <a:xfrm>
            <a:off x="7790688" y="3666744"/>
            <a:ext cx="3657600" cy="475488"/>
          </a:xfrm>
          <a:prstGeom prst="rect">
            <a:avLst/>
          </a:prstGeom>
          <a:noFill/>
          <a:ln/>
        </p:spPr>
        <p:txBody>
          <a:bodyPr wrap="square" lIns="0" tIns="0" rIns="0" bIns="0" rtlCol="0" anchor="t"/>
          <a:lstStyle/>
          <a:p>
            <a:pPr indent="0" marL="0">
              <a:buNone/>
            </a:pPr>
            <a:r>
              <a:rPr lang="en-US" sz="1300" dirty="0">
                <a:solidFill>
                  <a:schemeClr val="bg1"/>
                </a:solidFill>
              </a:rPr>
              <a:t>Al fusionarlo, la tarjeta pasa sola a Hecho</a:t>
            </a:r>
            <a:endParaRPr lang="en-US" sz="1300" dirty="0"/>
          </a:p>
        </p:txBody>
      </p:sp>
      <p:sp>
        <p:nvSpPr>
          <p:cNvPr id="38" name="captura"/>
          <p:cNvSpPr/>
          <p:nvPr/>
        </p:nvSpPr>
        <p:spPr>
          <a:xfrm>
            <a:off x="7132320" y="4389120"/>
            <a:ext cx="4507992" cy="1828800"/>
          </a:xfrm>
          <a:prstGeom prst="roundRect">
            <a:avLst>
              <a:gd name="adj" fmla="val 6000"/>
            </a:avLst>
          </a:prstGeom>
          <a:solidFill>
            <a:schemeClr val="tx1"/>
          </a:solidFill>
          <a:ln w="15875">
            <a:solidFill>
              <a:srgbClr val="7DD3FC"/>
            </a:solidFill>
            <a:prstDash val="dash"/>
          </a:ln>
        </p:spPr>
      </p:sp>
      <p:pic>
        <p:nvPicPr>
          <p:cNvPr id="39" name="Image 3" descr="preencoded.png">    </p:cNvPr>
          <p:cNvPicPr>
            <a:picLocks noChangeAspect="1"/>
          </p:cNvPicPr>
          <p:nvPr/>
        </p:nvPicPr>
        <p:blipFill>
          <a:blip r:embed="rId4"/>
          <a:stretch>
            <a:fillRect/>
          </a:stretch>
        </p:blipFill>
        <p:spPr>
          <a:xfrm>
            <a:off x="9180576" y="4754880"/>
            <a:ext cx="411480" cy="411480"/>
          </a:xfrm>
          <a:prstGeom prst="rect">
            <a:avLst/>
          </a:prstGeom>
        </p:spPr>
      </p:pic>
      <p:sp>
        <p:nvSpPr>
          <p:cNvPr id="40" name="Text 34"/>
          <p:cNvSpPr txBox="1"/>
          <p:nvPr/>
        </p:nvSpPr>
        <p:spPr>
          <a:xfrm>
            <a:off x="7315200" y="5257800"/>
            <a:ext cx="4142232" cy="731520"/>
          </a:xfrm>
          <a:prstGeom prst="rect">
            <a:avLst/>
          </a:prstGeom>
          <a:noFill/>
          <a:ln/>
        </p:spPr>
        <p:txBody>
          <a:bodyPr wrap="square" lIns="0" tIns="0" rIns="0" bIns="0" rtlCol="0" anchor="t"/>
          <a:lstStyle/>
          <a:p>
            <a:pPr algn="ctr" indent="0" marL="0">
              <a:buNone/>
            </a:pPr>
            <a:r>
              <a:rPr lang="en-US" sz="1200" dirty="0">
                <a:solidFill>
                  <a:schemeClr val="bg2"/>
                </a:solidFill>
              </a:rPr>
              <a:t>[CAPTURA: tablero de GitHub Projects con tarjetas en cada columna]</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594360"/>
          </a:xfrm>
          <a:prstGeom prst="rect">
            <a:avLst/>
          </a:prstGeom>
          <a:noFill/>
          <a:ln/>
        </p:spPr>
        <p:txBody>
          <a:bodyPr wrap="square" lIns="0" tIns="0" rIns="0" bIns="0" rtlCol="0" anchor="ctr"/>
          <a:lstStyle/>
          <a:p>
            <a:pPr algn="l" indent="0" marL="0">
              <a:buNone/>
            </a:pPr>
            <a:r>
              <a:rPr lang="en-US" sz="2600" b="1" dirty="0">
                <a:solidFill>
                  <a:schemeClr val="bg1"/>
                </a:solidFill>
              </a:rPr>
              <a:t>Code: nada llega a main sin PR, revisión y CI en verde</a:t>
            </a:r>
            <a:endParaRPr lang="en-US" sz="2600" dirty="0"/>
          </a:p>
        </p:txBody>
      </p:sp>
      <p:sp>
        <p:nvSpPr>
          <p:cNvPr id="3" name="Shape 1"/>
          <p:cNvSpPr/>
          <p:nvPr/>
        </p:nvSpPr>
        <p:spPr>
          <a:xfrm>
            <a:off x="548640" y="365760"/>
            <a:ext cx="2103120" cy="347472"/>
          </a:xfrm>
          <a:prstGeom prst="roundRect">
            <a:avLst>
              <a:gd name="adj" fmla="val 50000"/>
            </a:avLst>
          </a:prstGeom>
          <a:solidFill>
            <a:schemeClr val="accent6"/>
          </a:solidFill>
          <a:ln/>
        </p:spPr>
      </p:sp>
      <p:sp>
        <p:nvSpPr>
          <p:cNvPr id="4" name="Text 2"/>
          <p:cNvSpPr txBox="1"/>
          <p:nvPr/>
        </p:nvSpPr>
        <p:spPr>
          <a:xfrm>
            <a:off x="548640" y="365760"/>
            <a:ext cx="2103120" cy="347472"/>
          </a:xfrm>
          <a:prstGeom prst="rect">
            <a:avLst/>
          </a:prstGeom>
          <a:noFill/>
          <a:ln/>
        </p:spPr>
        <p:txBody>
          <a:bodyPr wrap="square" lIns="0" tIns="0" rIns="0" bIns="0" rtlCol="0" anchor="ctr"/>
          <a:lstStyle/>
          <a:p>
            <a:pPr algn="ctr" indent="0" marL="0">
              <a:buNone/>
            </a:pPr>
            <a:r>
              <a:rPr lang="en-US" sz="1200" b="1" spc="100" kern="0" dirty="0">
                <a:solidFill>
                  <a:schemeClr val="tx1"/>
                </a:solidFill>
              </a:rPr>
              <a:t>FASE 2 · CODE</a:t>
            </a:r>
            <a:endParaRPr lang="en-US" sz="1200" dirty="0"/>
          </a:p>
        </p:txBody>
      </p:sp>
      <p:sp>
        <p:nvSpPr>
          <p:cNvPr id="5" name="Shape 3"/>
          <p:cNvSpPr/>
          <p:nvPr/>
        </p:nvSpPr>
        <p:spPr>
          <a:xfrm>
            <a:off x="9034272" y="274320"/>
            <a:ext cx="548640" cy="548640"/>
          </a:xfrm>
          <a:prstGeom prst="roundRect">
            <a:avLst>
              <a:gd name="adj" fmla="val 16667"/>
            </a:avLst>
          </a:prstGeom>
          <a:solidFill>
            <a:schemeClr val="tx2"/>
          </a:solidFill>
          <a:ln/>
        </p:spPr>
      </p:sp>
      <p:pic>
        <p:nvPicPr>
          <p:cNvPr id="6" name="Image 0" descr="preencoded.png">    </p:cNvPr>
          <p:cNvPicPr>
            <a:picLocks noChangeAspect="1"/>
          </p:cNvPicPr>
          <p:nvPr/>
        </p:nvPicPr>
        <p:blipFill>
          <a:blip r:embed="rId1"/>
          <a:stretch>
            <a:fillRect/>
          </a:stretch>
        </p:blipFill>
        <p:spPr>
          <a:xfrm>
            <a:off x="9154973" y="395021"/>
            <a:ext cx="307238" cy="307238"/>
          </a:xfrm>
          <a:prstGeom prst="rect">
            <a:avLst/>
          </a:prstGeom>
        </p:spPr>
      </p:pic>
      <p:sp>
        <p:nvSpPr>
          <p:cNvPr id="7" name="Shape 4"/>
          <p:cNvSpPr/>
          <p:nvPr/>
        </p:nvSpPr>
        <p:spPr>
          <a:xfrm>
            <a:off x="9720072" y="274320"/>
            <a:ext cx="548640" cy="548640"/>
          </a:xfrm>
          <a:prstGeom prst="roundRect">
            <a:avLst>
              <a:gd name="adj" fmla="val 16667"/>
            </a:avLst>
          </a:prstGeom>
          <a:solidFill>
            <a:schemeClr val="tx2"/>
          </a:solidFill>
          <a:ln/>
        </p:spPr>
      </p:sp>
      <p:pic>
        <p:nvPicPr>
          <p:cNvPr id="8" name="Image 1" descr="preencoded.png">    </p:cNvPr>
          <p:cNvPicPr>
            <a:picLocks noChangeAspect="1"/>
          </p:cNvPicPr>
          <p:nvPr/>
        </p:nvPicPr>
        <p:blipFill>
          <a:blip r:embed="rId2"/>
          <a:stretch>
            <a:fillRect/>
          </a:stretch>
        </p:blipFill>
        <p:spPr>
          <a:xfrm>
            <a:off x="9840773" y="395021"/>
            <a:ext cx="307238" cy="307238"/>
          </a:xfrm>
          <a:prstGeom prst="rect">
            <a:avLst/>
          </a:prstGeom>
        </p:spPr>
      </p:pic>
      <p:sp>
        <p:nvSpPr>
          <p:cNvPr id="9" name="Shape 5"/>
          <p:cNvSpPr/>
          <p:nvPr/>
        </p:nvSpPr>
        <p:spPr>
          <a:xfrm>
            <a:off x="10405872" y="274320"/>
            <a:ext cx="548640" cy="548640"/>
          </a:xfrm>
          <a:prstGeom prst="roundRect">
            <a:avLst>
              <a:gd name="adj" fmla="val 16667"/>
            </a:avLst>
          </a:prstGeom>
          <a:solidFill>
            <a:schemeClr val="tx2"/>
          </a:solidFill>
          <a:ln/>
        </p:spPr>
      </p:sp>
      <p:pic>
        <p:nvPicPr>
          <p:cNvPr id="10" name="Image 2" descr="preencoded.png">    </p:cNvPr>
          <p:cNvPicPr>
            <a:picLocks noChangeAspect="1"/>
          </p:cNvPicPr>
          <p:nvPr/>
        </p:nvPicPr>
        <p:blipFill>
          <a:blip r:embed="rId3"/>
          <a:stretch>
            <a:fillRect/>
          </a:stretch>
        </p:blipFill>
        <p:spPr>
          <a:xfrm>
            <a:off x="10526573" y="395021"/>
            <a:ext cx="307238" cy="307238"/>
          </a:xfrm>
          <a:prstGeom prst="rect">
            <a:avLst/>
          </a:prstGeom>
        </p:spPr>
      </p:pic>
      <p:sp>
        <p:nvSpPr>
          <p:cNvPr id="11" name="Shape 6"/>
          <p:cNvSpPr/>
          <p:nvPr/>
        </p:nvSpPr>
        <p:spPr>
          <a:xfrm>
            <a:off x="11091672" y="274320"/>
            <a:ext cx="548640" cy="548640"/>
          </a:xfrm>
          <a:prstGeom prst="roundRect">
            <a:avLst>
              <a:gd name="adj" fmla="val 16667"/>
            </a:avLst>
          </a:prstGeom>
          <a:solidFill>
            <a:schemeClr val="tx2"/>
          </a:solidFill>
          <a:ln/>
        </p:spPr>
      </p:sp>
      <p:pic>
        <p:nvPicPr>
          <p:cNvPr id="12" name="Image 3" descr="preencoded.png">    </p:cNvPr>
          <p:cNvPicPr>
            <a:picLocks noChangeAspect="1"/>
          </p:cNvPicPr>
          <p:nvPr/>
        </p:nvPicPr>
        <p:blipFill>
          <a:blip r:embed="rId4"/>
          <a:stretch>
            <a:fillRect/>
          </a:stretch>
        </p:blipFill>
        <p:spPr>
          <a:xfrm>
            <a:off x="11212373" y="395021"/>
            <a:ext cx="307238" cy="307238"/>
          </a:xfrm>
          <a:prstGeom prst="rect">
            <a:avLst/>
          </a:prstGeom>
        </p:spPr>
      </p:pic>
      <p:sp>
        <p:nvSpPr>
          <p:cNvPr id="13" name="Text 7"/>
          <p:cNvSpPr txBox="1"/>
          <p:nvPr/>
        </p:nvSpPr>
        <p:spPr>
          <a:xfrm>
            <a:off x="548640" y="1600200"/>
            <a:ext cx="6309360" cy="228600"/>
          </a:xfrm>
          <a:prstGeom prst="rect">
            <a:avLst/>
          </a:prstGeom>
          <a:noFill/>
          <a:ln/>
        </p:spPr>
        <p:txBody>
          <a:bodyPr wrap="square" lIns="0" tIns="0" rIns="0" bIns="0" rtlCol="0" anchor="ctr"/>
          <a:lstStyle/>
          <a:p>
            <a:pPr indent="0" marL="0">
              <a:buNone/>
            </a:pPr>
            <a:r>
              <a:rPr lang="en-US" sz="1100" b="1" spc="150" kern="0" dirty="0">
                <a:solidFill>
                  <a:schemeClr val="accent6"/>
                </a:solidFill>
              </a:rPr>
              <a:t>HERRAMIENTA</a:t>
            </a:r>
            <a:endParaRPr lang="en-US" sz="1100" dirty="0"/>
          </a:p>
        </p:txBody>
      </p:sp>
      <p:sp>
        <p:nvSpPr>
          <p:cNvPr id="14" name="Text 8"/>
          <p:cNvSpPr txBox="1"/>
          <p:nvPr/>
        </p:nvSpPr>
        <p:spPr>
          <a:xfrm>
            <a:off x="548640" y="1828800"/>
            <a:ext cx="6309360" cy="502920"/>
          </a:xfrm>
          <a:prstGeom prst="rect">
            <a:avLst/>
          </a:prstGeom>
          <a:noFill/>
          <a:ln/>
        </p:spPr>
        <p:txBody>
          <a:bodyPr wrap="square" lIns="0" tIns="0" rIns="0" bIns="0" rtlCol="0" anchor="t"/>
          <a:lstStyle/>
          <a:p>
            <a:pPr indent="0" marL="0">
              <a:buNone/>
            </a:pPr>
            <a:r>
              <a:rPr lang="en-US" sz="1500" b="1" dirty="0">
                <a:solidFill>
                  <a:schemeClr val="bg1"/>
                </a:solidFill>
              </a:rPr>
              <a:t>Git y GitHub (ramas, Pull Requests, branch protection), ESLint, Prettier y TypeScript</a:t>
            </a:r>
            <a:endParaRPr lang="en-US" sz="1500" dirty="0"/>
          </a:p>
        </p:txBody>
      </p:sp>
      <p:sp>
        <p:nvSpPr>
          <p:cNvPr id="15" name="Text 9"/>
          <p:cNvSpPr txBox="1"/>
          <p:nvPr/>
        </p:nvSpPr>
        <p:spPr>
          <a:xfrm>
            <a:off x="548640" y="2514600"/>
            <a:ext cx="6309360" cy="228600"/>
          </a:xfrm>
          <a:prstGeom prst="rect">
            <a:avLst/>
          </a:prstGeom>
          <a:noFill/>
          <a:ln/>
        </p:spPr>
        <p:txBody>
          <a:bodyPr wrap="square" lIns="0" tIns="0" rIns="0" bIns="0" rtlCol="0" anchor="ctr"/>
          <a:lstStyle/>
          <a:p>
            <a:pPr indent="0" marL="0">
              <a:buNone/>
            </a:pPr>
            <a:r>
              <a:rPr lang="en-US" sz="1100" b="1" spc="150" kern="0" dirty="0">
                <a:solidFill>
                  <a:schemeClr val="accent6"/>
                </a:solidFill>
              </a:rPr>
              <a:t>INSTALACIÓN</a:t>
            </a:r>
            <a:endParaRPr lang="en-US" sz="1100" dirty="0"/>
          </a:p>
        </p:txBody>
      </p:sp>
      <p:sp>
        <p:nvSpPr>
          <p:cNvPr id="16" name="Text 10"/>
          <p:cNvSpPr txBox="1"/>
          <p:nvPr/>
        </p:nvSpPr>
        <p:spPr>
          <a:xfrm>
            <a:off x="548640" y="2743200"/>
            <a:ext cx="6309360" cy="685800"/>
          </a:xfrm>
          <a:prstGeom prst="rect">
            <a:avLst/>
          </a:prstGeom>
          <a:noFill/>
          <a:ln/>
        </p:spPr>
        <p:txBody>
          <a:bodyPr wrap="square" lIns="0" tIns="0" rIns="0" bIns="0" rtlCol="0" anchor="t"/>
          <a:lstStyle/>
          <a:p>
            <a:pPr indent="0" marL="0">
              <a:buNone/>
            </a:pPr>
            <a:r>
              <a:rPr lang="en-US" sz="1400" dirty="0">
                <a:solidFill>
                  <a:srgbClr val="E4E4E7"/>
                </a:solidFill>
              </a:rPr>
              <a:t>git clone del repositorio y bun install, que trae ESLint, Prettier, TypeScript y Turborepo para todo el monorepo.</a:t>
            </a:r>
            <a:endParaRPr lang="en-US" sz="1400" dirty="0"/>
          </a:p>
        </p:txBody>
      </p:sp>
      <p:sp>
        <p:nvSpPr>
          <p:cNvPr id="17" name="Text 11"/>
          <p:cNvSpPr txBox="1"/>
          <p:nvPr/>
        </p:nvSpPr>
        <p:spPr>
          <a:xfrm>
            <a:off x="548640" y="3520440"/>
            <a:ext cx="6309360" cy="228600"/>
          </a:xfrm>
          <a:prstGeom prst="rect">
            <a:avLst/>
          </a:prstGeom>
          <a:noFill/>
          <a:ln/>
        </p:spPr>
        <p:txBody>
          <a:bodyPr wrap="square" lIns="0" tIns="0" rIns="0" bIns="0" rtlCol="0" anchor="ctr"/>
          <a:lstStyle/>
          <a:p>
            <a:pPr indent="0" marL="0">
              <a:buNone/>
            </a:pPr>
            <a:r>
              <a:rPr lang="en-US" sz="1100" b="1" spc="150" kern="0" dirty="0">
                <a:solidFill>
                  <a:schemeClr val="accent6"/>
                </a:solidFill>
              </a:rPr>
              <a:t>CONFIGURACIÓN</a:t>
            </a:r>
            <a:endParaRPr lang="en-US" sz="1100" dirty="0"/>
          </a:p>
        </p:txBody>
      </p:sp>
      <p:sp>
        <p:nvSpPr>
          <p:cNvPr id="18" name="editor"/>
          <p:cNvSpPr/>
          <p:nvPr/>
        </p:nvSpPr>
        <p:spPr>
          <a:xfrm>
            <a:off x="548640" y="3794760"/>
            <a:ext cx="6309360" cy="1143000"/>
          </a:xfrm>
          <a:prstGeom prst="roundRect">
            <a:avLst>
              <a:gd name="adj" fmla="val 6400"/>
            </a:avLst>
          </a:prstGeom>
          <a:solidFill>
            <a:srgbClr val="0D1117"/>
          </a:solidFill>
          <a:ln w="12700">
            <a:solidFill>
              <a:srgbClr val="30363D"/>
            </a:solidFill>
            <a:prstDash val="solid"/>
          </a:ln>
        </p:spPr>
      </p:sp>
      <p:sp>
        <p:nvSpPr>
          <p:cNvPr id="19" name="Shape 13"/>
          <p:cNvSpPr/>
          <p:nvPr/>
        </p:nvSpPr>
        <p:spPr>
          <a:xfrm>
            <a:off x="557784" y="3803904"/>
            <a:ext cx="6291072" cy="310896"/>
          </a:xfrm>
          <a:prstGeom prst="roundRect">
            <a:avLst>
              <a:gd name="adj" fmla="val 23529"/>
            </a:avLst>
          </a:prstGeom>
          <a:solidFill>
            <a:srgbClr val="161B22"/>
          </a:solidFill>
          <a:ln/>
        </p:spPr>
      </p:sp>
      <p:sp>
        <p:nvSpPr>
          <p:cNvPr id="20" name="Shape 14"/>
          <p:cNvSpPr/>
          <p:nvPr/>
        </p:nvSpPr>
        <p:spPr>
          <a:xfrm>
            <a:off x="557784" y="3950208"/>
            <a:ext cx="6291072" cy="164592"/>
          </a:xfrm>
          <a:prstGeom prst="rect">
            <a:avLst/>
          </a:prstGeom>
          <a:solidFill>
            <a:srgbClr val="161B22"/>
          </a:solidFill>
          <a:ln/>
        </p:spPr>
      </p:sp>
      <p:sp>
        <p:nvSpPr>
          <p:cNvPr id="21" name="Shape 15"/>
          <p:cNvSpPr/>
          <p:nvPr/>
        </p:nvSpPr>
        <p:spPr>
          <a:xfrm>
            <a:off x="548640" y="4114800"/>
            <a:ext cx="6309360" cy="0"/>
          </a:xfrm>
          <a:prstGeom prst="line">
            <a:avLst/>
          </a:prstGeom>
          <a:noFill/>
          <a:ln w="9525">
            <a:solidFill>
              <a:srgbClr val="30363D"/>
            </a:solidFill>
            <a:prstDash val="solid"/>
          </a:ln>
        </p:spPr>
      </p:sp>
      <p:sp>
        <p:nvSpPr>
          <p:cNvPr id="22" name="Shape 16"/>
          <p:cNvSpPr/>
          <p:nvPr/>
        </p:nvSpPr>
        <p:spPr>
          <a:xfrm>
            <a:off x="694944" y="3909060"/>
            <a:ext cx="100584" cy="100584"/>
          </a:xfrm>
          <a:prstGeom prst="ellipse">
            <a:avLst/>
          </a:prstGeom>
          <a:solidFill>
            <a:srgbClr val="FF5F56"/>
          </a:solidFill>
          <a:ln/>
        </p:spPr>
      </p:sp>
      <p:sp>
        <p:nvSpPr>
          <p:cNvPr id="23" name="Shape 17"/>
          <p:cNvSpPr/>
          <p:nvPr/>
        </p:nvSpPr>
        <p:spPr>
          <a:xfrm>
            <a:off x="850392" y="3909060"/>
            <a:ext cx="100584" cy="100584"/>
          </a:xfrm>
          <a:prstGeom prst="ellipse">
            <a:avLst/>
          </a:prstGeom>
          <a:solidFill>
            <a:srgbClr val="FFBD2E"/>
          </a:solidFill>
          <a:ln/>
        </p:spPr>
      </p:sp>
      <p:sp>
        <p:nvSpPr>
          <p:cNvPr id="24" name="Shape 18"/>
          <p:cNvSpPr/>
          <p:nvPr/>
        </p:nvSpPr>
        <p:spPr>
          <a:xfrm>
            <a:off x="1005840" y="3909060"/>
            <a:ext cx="100584" cy="100584"/>
          </a:xfrm>
          <a:prstGeom prst="ellipse">
            <a:avLst/>
          </a:prstGeom>
          <a:solidFill>
            <a:srgbClr val="27C93F"/>
          </a:solidFill>
          <a:ln/>
        </p:spPr>
      </p:sp>
      <p:sp>
        <p:nvSpPr>
          <p:cNvPr id="25" name="Text 19"/>
          <p:cNvSpPr txBox="1"/>
          <p:nvPr/>
        </p:nvSpPr>
        <p:spPr>
          <a:xfrm>
            <a:off x="1234440" y="3803904"/>
            <a:ext cx="5486400" cy="310896"/>
          </a:xfrm>
          <a:prstGeom prst="rect">
            <a:avLst/>
          </a:prstGeom>
          <a:noFill/>
          <a:ln/>
        </p:spPr>
        <p:txBody>
          <a:bodyPr wrap="square" lIns="0" tIns="0" rIns="0" bIns="0"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Settings → Branches → main</a:t>
            </a:r>
            <a:endParaRPr lang="en-US" sz="1000" dirty="0"/>
          </a:p>
        </p:txBody>
      </p:sp>
      <p:sp>
        <p:nvSpPr>
          <p:cNvPr id="26" name="codigo"/>
          <p:cNvSpPr txBox="1"/>
          <p:nvPr/>
        </p:nvSpPr>
        <p:spPr>
          <a:xfrm>
            <a:off x="713232" y="4215384"/>
            <a:ext cx="6035040" cy="649224"/>
          </a:xfrm>
          <a:prstGeom prst="rect">
            <a:avLst/>
          </a:prstGeom>
          <a:noFill/>
          <a:ln/>
        </p:spPr>
        <p:txBody>
          <a:bodyPr wrap="square" lIns="0" tIns="0" rIns="0" bIns="0" rtlCol="0" anchor="t"/>
          <a:lstStyle/>
          <a:p>
            <a:pPr indent="0" marL="0">
              <a:buNone/>
            </a:pPr>
            <a:r>
              <a:rPr lang="en-US" sz="1100" dirty="0">
                <a:solidFill>
                  <a:srgbClr val="3FB950"/>
                </a:solidFill>
                <a:latin typeface="Courier New" pitchFamily="34" charset="0"/>
                <a:ea typeface="Courier New" pitchFamily="34" charset="-122"/>
                <a:cs typeface="Courier New" pitchFamily="34" charset="-120"/>
              </a:rPr>
              <a:t>[x]</a:t>
            </a:r>
            <a:pPr indent="0" marL="0">
              <a:buNone/>
            </a:pPr>
            <a:r>
              <a:rPr lang="en-US" sz="1100" dirty="0">
                <a:solidFill>
                  <a:srgbClr val="E6EDF3"/>
                </a:solidFill>
                <a:latin typeface="Courier New" pitchFamily="34" charset="0"/>
                <a:ea typeface="Courier New" pitchFamily="34" charset="-122"/>
                <a:cs typeface="Courier New" pitchFamily="34" charset="-120"/>
              </a:rPr>
              <a:t> Require a pull request before merging</a:t>
            </a:r>
            <a:endParaRPr lang="en-US" sz="1100" dirty="0"/>
          </a:p>
          <a:p>
            <a:pPr indent="0" marL="0">
              <a:buNone/>
            </a:pPr>
            <a:r>
              <a:rPr lang="en-US" sz="1100" dirty="0">
                <a:solidFill>
                  <a:srgbClr val="3FB950"/>
                </a:solidFill>
                <a:latin typeface="Courier New" pitchFamily="34" charset="0"/>
                <a:ea typeface="Courier New" pitchFamily="34" charset="-122"/>
                <a:cs typeface="Courier New" pitchFamily="34" charset="-120"/>
              </a:rPr>
              <a:t>[x]</a:t>
            </a:r>
            <a:pPr indent="0" marL="0">
              <a:buNone/>
            </a:pPr>
            <a:r>
              <a:rPr lang="en-US" sz="1100" dirty="0">
                <a:solidFill>
                  <a:srgbClr val="E6EDF3"/>
                </a:solidFill>
                <a:latin typeface="Courier New" pitchFamily="34" charset="0"/>
                <a:ea typeface="Courier New" pitchFamily="34" charset="-122"/>
                <a:cs typeface="Courier New" pitchFamily="34" charset="-120"/>
              </a:rPr>
              <a:t> Require approvals: 1</a:t>
            </a:r>
            <a:endParaRPr lang="en-US" sz="1100" dirty="0"/>
          </a:p>
          <a:p>
            <a:pPr indent="0" marL="0">
              <a:buNone/>
            </a:pPr>
            <a:r>
              <a:rPr lang="en-US" sz="1100" dirty="0">
                <a:solidFill>
                  <a:srgbClr val="3FB950"/>
                </a:solidFill>
                <a:latin typeface="Courier New" pitchFamily="34" charset="0"/>
                <a:ea typeface="Courier New" pitchFamily="34" charset="-122"/>
                <a:cs typeface="Courier New" pitchFamily="34" charset="-120"/>
              </a:rPr>
              <a:t>[x]</a:t>
            </a:r>
            <a:pPr indent="0" marL="0">
              <a:buNone/>
            </a:pPr>
            <a:r>
              <a:rPr lang="en-US" sz="1100" dirty="0">
                <a:solidFill>
                  <a:srgbClr val="E6EDF3"/>
                </a:solidFill>
                <a:latin typeface="Courier New" pitchFamily="34" charset="0"/>
                <a:ea typeface="Courier New" pitchFamily="34" charset="-122"/>
                <a:cs typeface="Courier New" pitchFamily="34" charset="-120"/>
              </a:rPr>
              <a:t> Require status checks to pass: CI</a:t>
            </a:r>
            <a:endParaRPr lang="en-US" sz="1100" dirty="0"/>
          </a:p>
        </p:txBody>
      </p:sp>
      <p:sp>
        <p:nvSpPr>
          <p:cNvPr id="27" name="terminal"/>
          <p:cNvSpPr/>
          <p:nvPr/>
        </p:nvSpPr>
        <p:spPr>
          <a:xfrm>
            <a:off x="548640" y="5074920"/>
            <a:ext cx="6309360" cy="1143000"/>
          </a:xfrm>
          <a:prstGeom prst="roundRect">
            <a:avLst>
              <a:gd name="adj" fmla="val 6400"/>
            </a:avLst>
          </a:prstGeom>
          <a:solidFill>
            <a:srgbClr val="0D1117"/>
          </a:solidFill>
          <a:ln w="12700">
            <a:solidFill>
              <a:srgbClr val="30363D"/>
            </a:solidFill>
            <a:prstDash val="solid"/>
          </a:ln>
        </p:spPr>
      </p:sp>
      <p:sp>
        <p:nvSpPr>
          <p:cNvPr id="28" name="Shape 22"/>
          <p:cNvSpPr/>
          <p:nvPr/>
        </p:nvSpPr>
        <p:spPr>
          <a:xfrm>
            <a:off x="557784" y="5084064"/>
            <a:ext cx="6291072" cy="310896"/>
          </a:xfrm>
          <a:prstGeom prst="roundRect">
            <a:avLst>
              <a:gd name="adj" fmla="val 23529"/>
            </a:avLst>
          </a:prstGeom>
          <a:solidFill>
            <a:srgbClr val="161B22"/>
          </a:solidFill>
          <a:ln/>
        </p:spPr>
      </p:sp>
      <p:sp>
        <p:nvSpPr>
          <p:cNvPr id="29" name="Shape 23"/>
          <p:cNvSpPr/>
          <p:nvPr/>
        </p:nvSpPr>
        <p:spPr>
          <a:xfrm>
            <a:off x="557784" y="5230368"/>
            <a:ext cx="6291072" cy="164592"/>
          </a:xfrm>
          <a:prstGeom prst="rect">
            <a:avLst/>
          </a:prstGeom>
          <a:solidFill>
            <a:srgbClr val="161B22"/>
          </a:solidFill>
          <a:ln/>
        </p:spPr>
      </p:sp>
      <p:sp>
        <p:nvSpPr>
          <p:cNvPr id="30" name="Shape 24"/>
          <p:cNvSpPr/>
          <p:nvPr/>
        </p:nvSpPr>
        <p:spPr>
          <a:xfrm>
            <a:off x="548640" y="5394960"/>
            <a:ext cx="6309360" cy="0"/>
          </a:xfrm>
          <a:prstGeom prst="line">
            <a:avLst/>
          </a:prstGeom>
          <a:noFill/>
          <a:ln w="9525">
            <a:solidFill>
              <a:srgbClr val="30363D"/>
            </a:solidFill>
            <a:prstDash val="solid"/>
          </a:ln>
        </p:spPr>
      </p:sp>
      <p:sp>
        <p:nvSpPr>
          <p:cNvPr id="31" name="Shape 25"/>
          <p:cNvSpPr/>
          <p:nvPr/>
        </p:nvSpPr>
        <p:spPr>
          <a:xfrm>
            <a:off x="694944" y="5189220"/>
            <a:ext cx="100584" cy="100584"/>
          </a:xfrm>
          <a:prstGeom prst="ellipse">
            <a:avLst/>
          </a:prstGeom>
          <a:solidFill>
            <a:srgbClr val="FF5F56"/>
          </a:solidFill>
          <a:ln/>
        </p:spPr>
      </p:sp>
      <p:sp>
        <p:nvSpPr>
          <p:cNvPr id="32" name="Shape 26"/>
          <p:cNvSpPr/>
          <p:nvPr/>
        </p:nvSpPr>
        <p:spPr>
          <a:xfrm>
            <a:off x="850392" y="5189220"/>
            <a:ext cx="100584" cy="100584"/>
          </a:xfrm>
          <a:prstGeom prst="ellipse">
            <a:avLst/>
          </a:prstGeom>
          <a:solidFill>
            <a:srgbClr val="FFBD2E"/>
          </a:solidFill>
          <a:ln/>
        </p:spPr>
      </p:sp>
      <p:sp>
        <p:nvSpPr>
          <p:cNvPr id="33" name="Shape 27"/>
          <p:cNvSpPr/>
          <p:nvPr/>
        </p:nvSpPr>
        <p:spPr>
          <a:xfrm>
            <a:off x="1005840" y="5189220"/>
            <a:ext cx="100584" cy="100584"/>
          </a:xfrm>
          <a:prstGeom prst="ellipse">
            <a:avLst/>
          </a:prstGeom>
          <a:solidFill>
            <a:srgbClr val="27C93F"/>
          </a:solidFill>
          <a:ln/>
        </p:spPr>
      </p:sp>
      <p:sp>
        <p:nvSpPr>
          <p:cNvPr id="34" name="Text 28"/>
          <p:cNvSpPr txBox="1"/>
          <p:nvPr/>
        </p:nvSpPr>
        <p:spPr>
          <a:xfrm>
            <a:off x="1234440" y="5084064"/>
            <a:ext cx="5486400" cy="310896"/>
          </a:xfrm>
          <a:prstGeom prst="rect">
            <a:avLst/>
          </a:prstGeom>
          <a:noFill/>
          <a:ln/>
        </p:spPr>
        <p:txBody>
          <a:bodyPr wrap="square" lIns="0" tIns="0" rIns="0" bIns="0"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bash — terminal</a:t>
            </a:r>
            <a:endParaRPr lang="en-US" sz="1000" dirty="0"/>
          </a:p>
        </p:txBody>
      </p:sp>
      <p:sp>
        <p:nvSpPr>
          <p:cNvPr id="35" name="codigo"/>
          <p:cNvSpPr txBox="1"/>
          <p:nvPr/>
        </p:nvSpPr>
        <p:spPr>
          <a:xfrm>
            <a:off x="713232" y="5495544"/>
            <a:ext cx="6035040" cy="649224"/>
          </a:xfrm>
          <a:prstGeom prst="rect">
            <a:avLst/>
          </a:prstGeom>
          <a:noFill/>
          <a:ln/>
        </p:spPr>
        <p:txBody>
          <a:bodyPr wrap="square" lIns="0" tIns="0" rIns="0" bIns="0" rtlCol="0" anchor="t"/>
          <a:lstStyle/>
          <a:p>
            <a:pPr indent="0" marL="0">
              <a:buNone/>
            </a:pPr>
            <a:r>
              <a:rPr lang="en-US" sz="1100" dirty="0">
                <a:solidFill>
                  <a:srgbClr val="3FB950"/>
                </a:solidFill>
                <a:latin typeface="Courier New" pitchFamily="34" charset="0"/>
                <a:ea typeface="Courier New" pitchFamily="34" charset="-122"/>
                <a:cs typeface="Courier New" pitchFamily="34" charset="-120"/>
              </a:rPr>
              <a:t>$ </a:t>
            </a:r>
            <a:pPr indent="0" marL="0">
              <a:buNone/>
            </a:pPr>
            <a:r>
              <a:rPr lang="en-US" sz="1100" dirty="0">
                <a:solidFill>
                  <a:srgbClr val="D2A8FF"/>
                </a:solidFill>
                <a:latin typeface="Courier New" pitchFamily="34" charset="0"/>
                <a:ea typeface="Courier New" pitchFamily="34" charset="-122"/>
                <a:cs typeface="Courier New" pitchFamily="34" charset="-120"/>
              </a:rPr>
              <a:t>git</a:t>
            </a:r>
            <a:pPr indent="0" marL="0">
              <a:buNone/>
            </a:pPr>
            <a:r>
              <a:rPr lang="en-US" sz="1100" dirty="0">
                <a:solidFill>
                  <a:srgbClr val="E6EDF3"/>
                </a:solidFill>
                <a:latin typeface="Courier New" pitchFamily="34" charset="0"/>
                <a:ea typeface="Courier New" pitchFamily="34" charset="-122"/>
                <a:cs typeface="Courier New" pitchFamily="34" charset="-120"/>
              </a:rPr>
              <a:t> switch </a:t>
            </a:r>
            <a:pPr indent="0" marL="0">
              <a:buNone/>
            </a:pPr>
            <a:r>
              <a:rPr lang="en-US" sz="1100" dirty="0">
                <a:solidFill>
                  <a:srgbClr val="79C0FF"/>
                </a:solidFill>
                <a:latin typeface="Courier New" pitchFamily="34" charset="0"/>
                <a:ea typeface="Courier New" pitchFamily="34" charset="-122"/>
                <a:cs typeface="Courier New" pitchFamily="34" charset="-120"/>
              </a:rPr>
              <a:t>-c</a:t>
            </a:r>
            <a:pPr indent="0" marL="0">
              <a:buNone/>
            </a:pPr>
            <a:r>
              <a:rPr lang="en-US" sz="1100" dirty="0">
                <a:solidFill>
                  <a:srgbClr val="E6EDF3"/>
                </a:solidFill>
                <a:latin typeface="Courier New" pitchFamily="34" charset="0"/>
                <a:ea typeface="Courier New" pitchFamily="34" charset="-122"/>
                <a:cs typeface="Courier New" pitchFamily="34" charset="-120"/>
              </a:rPr>
              <a:t> feat/monitoring</a:t>
            </a:r>
            <a:endParaRPr lang="en-US" sz="1100" dirty="0"/>
          </a:p>
          <a:p>
            <a:pPr indent="0" marL="0">
              <a:buNone/>
            </a:pPr>
            <a:r>
              <a:rPr lang="en-US" sz="1100" dirty="0">
                <a:solidFill>
                  <a:srgbClr val="3FB950"/>
                </a:solidFill>
                <a:latin typeface="Courier New" pitchFamily="34" charset="0"/>
                <a:ea typeface="Courier New" pitchFamily="34" charset="-122"/>
                <a:cs typeface="Courier New" pitchFamily="34" charset="-120"/>
              </a:rPr>
              <a:t>$ </a:t>
            </a:r>
            <a:pPr indent="0" marL="0">
              <a:buNone/>
            </a:pPr>
            <a:r>
              <a:rPr lang="en-US" sz="1100" dirty="0">
                <a:solidFill>
                  <a:srgbClr val="D2A8FF"/>
                </a:solidFill>
                <a:latin typeface="Courier New" pitchFamily="34" charset="0"/>
                <a:ea typeface="Courier New" pitchFamily="34" charset="-122"/>
                <a:cs typeface="Courier New" pitchFamily="34" charset="-120"/>
              </a:rPr>
              <a:t>git</a:t>
            </a:r>
            <a:pPr indent="0" marL="0">
              <a:buNone/>
            </a:pPr>
            <a:r>
              <a:rPr lang="en-US" sz="1100" dirty="0">
                <a:solidFill>
                  <a:srgbClr val="E6EDF3"/>
                </a:solidFill>
                <a:latin typeface="Courier New" pitchFamily="34" charset="0"/>
                <a:ea typeface="Courier New" pitchFamily="34" charset="-122"/>
                <a:cs typeface="Courier New" pitchFamily="34" charset="-120"/>
              </a:rPr>
              <a:t> commit </a:t>
            </a:r>
            <a:pPr indent="0" marL="0">
              <a:buNone/>
            </a:pPr>
            <a:r>
              <a:rPr lang="en-US" sz="1100" dirty="0">
                <a:solidFill>
                  <a:srgbClr val="79C0FF"/>
                </a:solidFill>
                <a:latin typeface="Courier New" pitchFamily="34" charset="0"/>
                <a:ea typeface="Courier New" pitchFamily="34" charset="-122"/>
                <a:cs typeface="Courier New" pitchFamily="34" charset="-120"/>
              </a:rPr>
              <a:t>-m</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"feat: métricas Prometheus"</a:t>
            </a:r>
            <a:endParaRPr lang="en-US" sz="1100" dirty="0"/>
          </a:p>
          <a:p>
            <a:pPr indent="0" marL="0">
              <a:buNone/>
            </a:pPr>
            <a:r>
              <a:rPr lang="en-US" sz="1100" dirty="0">
                <a:solidFill>
                  <a:srgbClr val="3FB950"/>
                </a:solidFill>
                <a:latin typeface="Courier New" pitchFamily="34" charset="0"/>
                <a:ea typeface="Courier New" pitchFamily="34" charset="-122"/>
                <a:cs typeface="Courier New" pitchFamily="34" charset="-120"/>
              </a:rPr>
              <a:t>$ </a:t>
            </a:r>
            <a:pPr indent="0" marL="0">
              <a:buNone/>
            </a:pPr>
            <a:r>
              <a:rPr lang="en-US" sz="1100" dirty="0">
                <a:solidFill>
                  <a:srgbClr val="D2A8FF"/>
                </a:solidFill>
                <a:latin typeface="Courier New" pitchFamily="34" charset="0"/>
                <a:ea typeface="Courier New" pitchFamily="34" charset="-122"/>
                <a:cs typeface="Courier New" pitchFamily="34" charset="-120"/>
              </a:rPr>
              <a:t>git</a:t>
            </a:r>
            <a:pPr indent="0" marL="0">
              <a:buNone/>
            </a:pPr>
            <a:r>
              <a:rPr lang="en-US" sz="1100" dirty="0">
                <a:solidFill>
                  <a:srgbClr val="E6EDF3"/>
                </a:solidFill>
                <a:latin typeface="Courier New" pitchFamily="34" charset="0"/>
                <a:ea typeface="Courier New" pitchFamily="34" charset="-122"/>
                <a:cs typeface="Courier New" pitchFamily="34" charset="-120"/>
              </a:rPr>
              <a:t> push </a:t>
            </a:r>
            <a:pPr indent="0" marL="0">
              <a:buNone/>
            </a:pPr>
            <a:r>
              <a:rPr lang="en-US" sz="1100" dirty="0">
                <a:solidFill>
                  <a:srgbClr val="79C0FF"/>
                </a:solidFill>
                <a:latin typeface="Courier New" pitchFamily="34" charset="0"/>
                <a:ea typeface="Courier New" pitchFamily="34" charset="-122"/>
                <a:cs typeface="Courier New" pitchFamily="34" charset="-120"/>
              </a:rPr>
              <a:t>-u</a:t>
            </a:r>
            <a:pPr indent="0" marL="0">
              <a:buNone/>
            </a:pPr>
            <a:r>
              <a:rPr lang="en-US" sz="1100" dirty="0">
                <a:solidFill>
                  <a:srgbClr val="E6EDF3"/>
                </a:solidFill>
                <a:latin typeface="Courier New" pitchFamily="34" charset="0"/>
                <a:ea typeface="Courier New" pitchFamily="34" charset="-122"/>
                <a:cs typeface="Courier New" pitchFamily="34" charset="-120"/>
              </a:rPr>
              <a:t> origin feat/monitoring</a:t>
            </a:r>
            <a:endParaRPr lang="en-US" sz="1100" dirty="0"/>
          </a:p>
        </p:txBody>
      </p:sp>
      <p:sp>
        <p:nvSpPr>
          <p:cNvPr id="36" name="Shape 30"/>
          <p:cNvSpPr/>
          <p:nvPr/>
        </p:nvSpPr>
        <p:spPr>
          <a:xfrm>
            <a:off x="7132320" y="1600200"/>
            <a:ext cx="4507992" cy="2606040"/>
          </a:xfrm>
          <a:prstGeom prst="roundRect">
            <a:avLst>
              <a:gd name="adj" fmla="val 4211"/>
            </a:avLst>
          </a:prstGeom>
          <a:solidFill>
            <a:schemeClr val="tx2"/>
          </a:solidFill>
          <a:ln/>
        </p:spPr>
      </p:sp>
      <p:pic>
        <p:nvPicPr>
          <p:cNvPr id="37" name="Image 4" descr="preencoded.png">    </p:cNvPr>
          <p:cNvPicPr>
            <a:picLocks noChangeAspect="1"/>
          </p:cNvPicPr>
          <p:nvPr/>
        </p:nvPicPr>
        <p:blipFill>
          <a:blip r:embed="rId5"/>
          <a:stretch>
            <a:fillRect/>
          </a:stretch>
        </p:blipFill>
        <p:spPr>
          <a:xfrm>
            <a:off x="7360920" y="1783080"/>
            <a:ext cx="256032" cy="256032"/>
          </a:xfrm>
          <a:prstGeom prst="rect">
            <a:avLst/>
          </a:prstGeom>
        </p:spPr>
      </p:pic>
      <p:sp>
        <p:nvSpPr>
          <p:cNvPr id="38" name="Text 31"/>
          <p:cNvSpPr txBox="1"/>
          <p:nvPr/>
        </p:nvSpPr>
        <p:spPr>
          <a:xfrm>
            <a:off x="7726680" y="1801368"/>
            <a:ext cx="3200400" cy="228600"/>
          </a:xfrm>
          <a:prstGeom prst="rect">
            <a:avLst/>
          </a:prstGeom>
          <a:noFill/>
          <a:ln/>
        </p:spPr>
        <p:txBody>
          <a:bodyPr wrap="square" lIns="0" tIns="0" rIns="0" bIns="0" rtlCol="0" anchor="ctr"/>
          <a:lstStyle/>
          <a:p>
            <a:pPr indent="0" marL="0">
              <a:buNone/>
            </a:pPr>
            <a:r>
              <a:rPr lang="en-US" sz="1100" b="1" spc="150" kern="0" dirty="0">
                <a:solidFill>
                  <a:schemeClr val="accent6"/>
                </a:solidFill>
              </a:rPr>
              <a:t>DEMO EN VIVO</a:t>
            </a:r>
            <a:endParaRPr lang="en-US" sz="1100" dirty="0"/>
          </a:p>
        </p:txBody>
      </p:sp>
      <p:sp>
        <p:nvSpPr>
          <p:cNvPr id="39" name="Shape 32"/>
          <p:cNvSpPr/>
          <p:nvPr/>
        </p:nvSpPr>
        <p:spPr>
          <a:xfrm>
            <a:off x="7360920" y="2240280"/>
            <a:ext cx="292608" cy="292608"/>
          </a:xfrm>
          <a:prstGeom prst="ellipse">
            <a:avLst/>
          </a:prstGeom>
          <a:solidFill>
            <a:schemeClr val="accent6"/>
          </a:solidFill>
          <a:ln/>
        </p:spPr>
      </p:sp>
      <p:sp>
        <p:nvSpPr>
          <p:cNvPr id="40" name="Text 33"/>
          <p:cNvSpPr txBox="1"/>
          <p:nvPr/>
        </p:nvSpPr>
        <p:spPr>
          <a:xfrm>
            <a:off x="7360920" y="2240280"/>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41" name="Text 34"/>
          <p:cNvSpPr txBox="1"/>
          <p:nvPr/>
        </p:nvSpPr>
        <p:spPr>
          <a:xfrm>
            <a:off x="7790688" y="2212848"/>
            <a:ext cx="3657600" cy="475488"/>
          </a:xfrm>
          <a:prstGeom prst="rect">
            <a:avLst/>
          </a:prstGeom>
          <a:noFill/>
          <a:ln/>
        </p:spPr>
        <p:txBody>
          <a:bodyPr wrap="square" lIns="0" tIns="0" rIns="0" bIns="0" rtlCol="0" anchor="t"/>
          <a:lstStyle/>
          <a:p>
            <a:pPr indent="0" marL="0">
              <a:buNone/>
            </a:pPr>
            <a:r>
              <a:rPr lang="en-US" sz="1300" dirty="0">
                <a:solidFill>
                  <a:schemeClr val="bg1"/>
                </a:solidFill>
              </a:rPr>
              <a:t>Creamos una rama y subimos el cambio</a:t>
            </a:r>
            <a:endParaRPr lang="en-US" sz="1300" dirty="0"/>
          </a:p>
        </p:txBody>
      </p:sp>
      <p:sp>
        <p:nvSpPr>
          <p:cNvPr id="42" name="Shape 35"/>
          <p:cNvSpPr/>
          <p:nvPr/>
        </p:nvSpPr>
        <p:spPr>
          <a:xfrm>
            <a:off x="7360920" y="2724912"/>
            <a:ext cx="292608" cy="292608"/>
          </a:xfrm>
          <a:prstGeom prst="ellipse">
            <a:avLst/>
          </a:prstGeom>
          <a:solidFill>
            <a:schemeClr val="accent6"/>
          </a:solidFill>
          <a:ln/>
        </p:spPr>
      </p:sp>
      <p:sp>
        <p:nvSpPr>
          <p:cNvPr id="43" name="Text 36"/>
          <p:cNvSpPr txBox="1"/>
          <p:nvPr/>
        </p:nvSpPr>
        <p:spPr>
          <a:xfrm>
            <a:off x="7360920" y="2724912"/>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44" name="Text 37"/>
          <p:cNvSpPr txBox="1"/>
          <p:nvPr/>
        </p:nvSpPr>
        <p:spPr>
          <a:xfrm>
            <a:off x="7790688" y="2697480"/>
            <a:ext cx="3657600" cy="475488"/>
          </a:xfrm>
          <a:prstGeom prst="rect">
            <a:avLst/>
          </a:prstGeom>
          <a:noFill/>
          <a:ln/>
        </p:spPr>
        <p:txBody>
          <a:bodyPr wrap="square" lIns="0" tIns="0" rIns="0" bIns="0" rtlCol="0" anchor="t"/>
          <a:lstStyle/>
          <a:p>
            <a:pPr indent="0" marL="0">
              <a:buNone/>
            </a:pPr>
            <a:r>
              <a:rPr lang="en-US" sz="1300" dirty="0">
                <a:solidFill>
                  <a:schemeClr val="bg1"/>
                </a:solidFill>
              </a:rPr>
              <a:t>Abrimos el PR con la plantilla</a:t>
            </a:r>
            <a:endParaRPr lang="en-US" sz="1300" dirty="0"/>
          </a:p>
        </p:txBody>
      </p:sp>
      <p:sp>
        <p:nvSpPr>
          <p:cNvPr id="45" name="Shape 38"/>
          <p:cNvSpPr/>
          <p:nvPr/>
        </p:nvSpPr>
        <p:spPr>
          <a:xfrm>
            <a:off x="7360920" y="3209544"/>
            <a:ext cx="292608" cy="292608"/>
          </a:xfrm>
          <a:prstGeom prst="ellipse">
            <a:avLst/>
          </a:prstGeom>
          <a:solidFill>
            <a:schemeClr val="accent6"/>
          </a:solidFill>
          <a:ln/>
        </p:spPr>
      </p:sp>
      <p:sp>
        <p:nvSpPr>
          <p:cNvPr id="46" name="Text 39"/>
          <p:cNvSpPr txBox="1"/>
          <p:nvPr/>
        </p:nvSpPr>
        <p:spPr>
          <a:xfrm>
            <a:off x="7360920" y="3209544"/>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47" name="Text 40"/>
          <p:cNvSpPr txBox="1"/>
          <p:nvPr/>
        </p:nvSpPr>
        <p:spPr>
          <a:xfrm>
            <a:off x="7790688" y="3182112"/>
            <a:ext cx="3657600" cy="475488"/>
          </a:xfrm>
          <a:prstGeom prst="rect">
            <a:avLst/>
          </a:prstGeom>
          <a:noFill/>
          <a:ln/>
        </p:spPr>
        <p:txBody>
          <a:bodyPr wrap="square" lIns="0" tIns="0" rIns="0" bIns="0" rtlCol="0" anchor="t"/>
          <a:lstStyle/>
          <a:p>
            <a:pPr indent="0" marL="0">
              <a:buNone/>
            </a:pPr>
            <a:r>
              <a:rPr lang="en-US" sz="1300" dirty="0">
                <a:solidFill>
                  <a:schemeClr val="bg1"/>
                </a:solidFill>
              </a:rPr>
              <a:t>El compañero lo revisa y lo aprueba</a:t>
            </a:r>
            <a:endParaRPr lang="en-US" sz="1300" dirty="0"/>
          </a:p>
        </p:txBody>
      </p:sp>
      <p:sp>
        <p:nvSpPr>
          <p:cNvPr id="48" name="Shape 41"/>
          <p:cNvSpPr/>
          <p:nvPr/>
        </p:nvSpPr>
        <p:spPr>
          <a:xfrm>
            <a:off x="7360920" y="3694176"/>
            <a:ext cx="292608" cy="292608"/>
          </a:xfrm>
          <a:prstGeom prst="ellipse">
            <a:avLst/>
          </a:prstGeom>
          <a:solidFill>
            <a:schemeClr val="accent6"/>
          </a:solidFill>
          <a:ln/>
        </p:spPr>
      </p:sp>
      <p:sp>
        <p:nvSpPr>
          <p:cNvPr id="49" name="Text 42"/>
          <p:cNvSpPr txBox="1"/>
          <p:nvPr/>
        </p:nvSpPr>
        <p:spPr>
          <a:xfrm>
            <a:off x="7360920" y="3694176"/>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50" name="Text 43"/>
          <p:cNvSpPr txBox="1"/>
          <p:nvPr/>
        </p:nvSpPr>
        <p:spPr>
          <a:xfrm>
            <a:off x="7790688" y="3666744"/>
            <a:ext cx="3657600" cy="475488"/>
          </a:xfrm>
          <a:prstGeom prst="rect">
            <a:avLst/>
          </a:prstGeom>
          <a:noFill/>
          <a:ln/>
        </p:spPr>
        <p:txBody>
          <a:bodyPr wrap="square" lIns="0" tIns="0" rIns="0" bIns="0" rtlCol="0" anchor="t"/>
          <a:lstStyle/>
          <a:p>
            <a:pPr indent="0" marL="0">
              <a:buNone/>
            </a:pPr>
            <a:r>
              <a:rPr lang="en-US" sz="1300" dirty="0">
                <a:solidFill>
                  <a:schemeClr val="bg1"/>
                </a:solidFill>
              </a:rPr>
              <a:t>Con el CI en verde, se fusiona a main</a:t>
            </a:r>
            <a:endParaRPr lang="en-US" sz="1300" dirty="0"/>
          </a:p>
        </p:txBody>
      </p:sp>
      <p:sp>
        <p:nvSpPr>
          <p:cNvPr id="51" name="captura"/>
          <p:cNvSpPr/>
          <p:nvPr/>
        </p:nvSpPr>
        <p:spPr>
          <a:xfrm>
            <a:off x="7132320" y="4389120"/>
            <a:ext cx="4507992" cy="1828800"/>
          </a:xfrm>
          <a:prstGeom prst="roundRect">
            <a:avLst>
              <a:gd name="adj" fmla="val 6000"/>
            </a:avLst>
          </a:prstGeom>
          <a:solidFill>
            <a:schemeClr val="tx1"/>
          </a:solidFill>
          <a:ln w="15875">
            <a:solidFill>
              <a:srgbClr val="A78BFA"/>
            </a:solidFill>
            <a:prstDash val="dash"/>
          </a:ln>
        </p:spPr>
      </p:sp>
      <p:pic>
        <p:nvPicPr>
          <p:cNvPr id="52" name="Image 5" descr="preencoded.png">    </p:cNvPr>
          <p:cNvPicPr>
            <a:picLocks noChangeAspect="1"/>
          </p:cNvPicPr>
          <p:nvPr/>
        </p:nvPicPr>
        <p:blipFill>
          <a:blip r:embed="rId6"/>
          <a:stretch>
            <a:fillRect/>
          </a:stretch>
        </p:blipFill>
        <p:spPr>
          <a:xfrm>
            <a:off x="9180576" y="4754880"/>
            <a:ext cx="411480" cy="411480"/>
          </a:xfrm>
          <a:prstGeom prst="rect">
            <a:avLst/>
          </a:prstGeom>
        </p:spPr>
      </p:pic>
      <p:sp>
        <p:nvSpPr>
          <p:cNvPr id="53" name="Text 45"/>
          <p:cNvSpPr txBox="1"/>
          <p:nvPr/>
        </p:nvSpPr>
        <p:spPr>
          <a:xfrm>
            <a:off x="7315200" y="5257800"/>
            <a:ext cx="4142232" cy="731520"/>
          </a:xfrm>
          <a:prstGeom prst="rect">
            <a:avLst/>
          </a:prstGeom>
          <a:noFill/>
          <a:ln/>
        </p:spPr>
        <p:txBody>
          <a:bodyPr wrap="square" lIns="0" tIns="0" rIns="0" bIns="0" rtlCol="0" anchor="t"/>
          <a:lstStyle/>
          <a:p>
            <a:pPr algn="ctr" indent="0" marL="0">
              <a:buNone/>
            </a:pPr>
            <a:r>
              <a:rPr lang="en-US" sz="1200" dirty="0">
                <a:solidFill>
                  <a:schemeClr val="bg2"/>
                </a:solidFill>
              </a:rPr>
              <a:t>[CAPTURA: PR aprobado con todos los checks en verde]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594360"/>
          </a:xfrm>
          <a:prstGeom prst="rect">
            <a:avLst/>
          </a:prstGeom>
          <a:noFill/>
          <a:ln/>
        </p:spPr>
        <p:txBody>
          <a:bodyPr wrap="square" lIns="0" tIns="0" rIns="0" bIns="0" rtlCol="0" anchor="ctr"/>
          <a:lstStyle/>
          <a:p>
            <a:pPr algn="l" indent="0" marL="0">
              <a:buNone/>
            </a:pPr>
            <a:r>
              <a:rPr lang="en-US" sz="2600" b="1" dirty="0">
                <a:solidFill>
                  <a:schemeClr val="bg1"/>
                </a:solidFill>
              </a:rPr>
              <a:t>Build: GitHub Actions compila todo en cada push</a:t>
            </a:r>
            <a:endParaRPr lang="en-US" sz="2600" dirty="0"/>
          </a:p>
        </p:txBody>
      </p:sp>
      <p:sp>
        <p:nvSpPr>
          <p:cNvPr id="3" name="Shape 1"/>
          <p:cNvSpPr/>
          <p:nvPr/>
        </p:nvSpPr>
        <p:spPr>
          <a:xfrm>
            <a:off x="548640" y="365760"/>
            <a:ext cx="2103120" cy="347472"/>
          </a:xfrm>
          <a:prstGeom prst="roundRect">
            <a:avLst>
              <a:gd name="adj" fmla="val 50000"/>
            </a:avLst>
          </a:prstGeom>
          <a:solidFill>
            <a:schemeClr val="accent3"/>
          </a:solidFill>
          <a:ln/>
        </p:spPr>
      </p:sp>
      <p:sp>
        <p:nvSpPr>
          <p:cNvPr id="4" name="Text 2"/>
          <p:cNvSpPr txBox="1"/>
          <p:nvPr/>
        </p:nvSpPr>
        <p:spPr>
          <a:xfrm>
            <a:off x="548640" y="365760"/>
            <a:ext cx="2103120" cy="347472"/>
          </a:xfrm>
          <a:prstGeom prst="rect">
            <a:avLst/>
          </a:prstGeom>
          <a:noFill/>
          <a:ln/>
        </p:spPr>
        <p:txBody>
          <a:bodyPr wrap="square" lIns="0" tIns="0" rIns="0" bIns="0" rtlCol="0" anchor="ctr"/>
          <a:lstStyle/>
          <a:p>
            <a:pPr algn="ctr" indent="0" marL="0">
              <a:buNone/>
            </a:pPr>
            <a:r>
              <a:rPr lang="en-US" sz="1200" b="1" spc="100" kern="0" dirty="0">
                <a:solidFill>
                  <a:schemeClr val="tx1"/>
                </a:solidFill>
              </a:rPr>
              <a:t>FASE 3 · BUILD</a:t>
            </a:r>
            <a:endParaRPr lang="en-US" sz="1200" dirty="0"/>
          </a:p>
        </p:txBody>
      </p:sp>
      <p:sp>
        <p:nvSpPr>
          <p:cNvPr id="5" name="Shape 3"/>
          <p:cNvSpPr/>
          <p:nvPr/>
        </p:nvSpPr>
        <p:spPr>
          <a:xfrm>
            <a:off x="9720072" y="274320"/>
            <a:ext cx="548640" cy="548640"/>
          </a:xfrm>
          <a:prstGeom prst="roundRect">
            <a:avLst>
              <a:gd name="adj" fmla="val 16667"/>
            </a:avLst>
          </a:prstGeom>
          <a:solidFill>
            <a:schemeClr val="tx2"/>
          </a:solidFill>
          <a:ln/>
        </p:spPr>
      </p:sp>
      <p:pic>
        <p:nvPicPr>
          <p:cNvPr id="6" name="Image 0" descr="preencoded.png">    </p:cNvPr>
          <p:cNvPicPr>
            <a:picLocks noChangeAspect="1"/>
          </p:cNvPicPr>
          <p:nvPr/>
        </p:nvPicPr>
        <p:blipFill>
          <a:blip r:embed="rId1"/>
          <a:stretch>
            <a:fillRect/>
          </a:stretch>
        </p:blipFill>
        <p:spPr>
          <a:xfrm>
            <a:off x="9840773" y="395021"/>
            <a:ext cx="307238" cy="307238"/>
          </a:xfrm>
          <a:prstGeom prst="rect">
            <a:avLst/>
          </a:prstGeom>
        </p:spPr>
      </p:pic>
      <p:sp>
        <p:nvSpPr>
          <p:cNvPr id="7" name="Shape 4"/>
          <p:cNvSpPr/>
          <p:nvPr/>
        </p:nvSpPr>
        <p:spPr>
          <a:xfrm>
            <a:off x="10405872" y="274320"/>
            <a:ext cx="548640" cy="548640"/>
          </a:xfrm>
          <a:prstGeom prst="roundRect">
            <a:avLst>
              <a:gd name="adj" fmla="val 16667"/>
            </a:avLst>
          </a:prstGeom>
          <a:solidFill>
            <a:schemeClr val="tx2"/>
          </a:solidFill>
          <a:ln/>
        </p:spPr>
      </p:sp>
      <p:pic>
        <p:nvPicPr>
          <p:cNvPr id="8" name="Image 1" descr="preencoded.png">    </p:cNvPr>
          <p:cNvPicPr>
            <a:picLocks noChangeAspect="1"/>
          </p:cNvPicPr>
          <p:nvPr/>
        </p:nvPicPr>
        <p:blipFill>
          <a:blip r:embed="rId2"/>
          <a:stretch>
            <a:fillRect/>
          </a:stretch>
        </p:blipFill>
        <p:spPr>
          <a:xfrm>
            <a:off x="10526573" y="395021"/>
            <a:ext cx="307238" cy="307238"/>
          </a:xfrm>
          <a:prstGeom prst="rect">
            <a:avLst/>
          </a:prstGeom>
        </p:spPr>
      </p:pic>
      <p:sp>
        <p:nvSpPr>
          <p:cNvPr id="9" name="Shape 5"/>
          <p:cNvSpPr/>
          <p:nvPr/>
        </p:nvSpPr>
        <p:spPr>
          <a:xfrm>
            <a:off x="11091672" y="274320"/>
            <a:ext cx="548640" cy="548640"/>
          </a:xfrm>
          <a:prstGeom prst="roundRect">
            <a:avLst>
              <a:gd name="adj" fmla="val 16667"/>
            </a:avLst>
          </a:prstGeom>
          <a:solidFill>
            <a:schemeClr val="tx2"/>
          </a:solidFill>
          <a:ln/>
        </p:spPr>
      </p:sp>
      <p:pic>
        <p:nvPicPr>
          <p:cNvPr id="10" name="Image 2" descr="preencoded.png">    </p:cNvPr>
          <p:cNvPicPr>
            <a:picLocks noChangeAspect="1"/>
          </p:cNvPicPr>
          <p:nvPr/>
        </p:nvPicPr>
        <p:blipFill>
          <a:blip r:embed="rId3"/>
          <a:stretch>
            <a:fillRect/>
          </a:stretch>
        </p:blipFill>
        <p:spPr>
          <a:xfrm>
            <a:off x="11212373" y="395021"/>
            <a:ext cx="307238" cy="307238"/>
          </a:xfrm>
          <a:prstGeom prst="rect">
            <a:avLst/>
          </a:prstGeom>
        </p:spPr>
      </p:pic>
      <p:sp>
        <p:nvSpPr>
          <p:cNvPr id="11" name="Text 6"/>
          <p:cNvSpPr txBox="1"/>
          <p:nvPr/>
        </p:nvSpPr>
        <p:spPr>
          <a:xfrm>
            <a:off x="548640" y="1600200"/>
            <a:ext cx="6309360"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HERRAMIENTA</a:t>
            </a:r>
            <a:endParaRPr lang="en-US" sz="1100" dirty="0"/>
          </a:p>
        </p:txBody>
      </p:sp>
      <p:sp>
        <p:nvSpPr>
          <p:cNvPr id="12" name="Text 7"/>
          <p:cNvSpPr txBox="1"/>
          <p:nvPr/>
        </p:nvSpPr>
        <p:spPr>
          <a:xfrm>
            <a:off x="548640" y="1828800"/>
            <a:ext cx="6309360" cy="502920"/>
          </a:xfrm>
          <a:prstGeom prst="rect">
            <a:avLst/>
          </a:prstGeom>
          <a:noFill/>
          <a:ln/>
        </p:spPr>
        <p:txBody>
          <a:bodyPr wrap="square" lIns="0" tIns="0" rIns="0" bIns="0" rtlCol="0" anchor="t"/>
          <a:lstStyle/>
          <a:p>
            <a:pPr indent="0" marL="0">
              <a:buNone/>
            </a:pPr>
            <a:r>
              <a:rPr lang="en-US" sz="1500" b="1" dirty="0">
                <a:solidFill>
                  <a:schemeClr val="bg1"/>
                </a:solidFill>
              </a:rPr>
              <a:t>GitHub Actions (CI), Turborepo (orquesta los 12 paquetes) y Docker</a:t>
            </a:r>
            <a:endParaRPr lang="en-US" sz="1500" dirty="0"/>
          </a:p>
        </p:txBody>
      </p:sp>
      <p:sp>
        <p:nvSpPr>
          <p:cNvPr id="13" name="Text 8"/>
          <p:cNvSpPr txBox="1"/>
          <p:nvPr/>
        </p:nvSpPr>
        <p:spPr>
          <a:xfrm>
            <a:off x="548640" y="2514600"/>
            <a:ext cx="6309360"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INSTALACIÓN</a:t>
            </a:r>
            <a:endParaRPr lang="en-US" sz="1100" dirty="0"/>
          </a:p>
        </p:txBody>
      </p:sp>
      <p:sp>
        <p:nvSpPr>
          <p:cNvPr id="14" name="Text 9"/>
          <p:cNvSpPr txBox="1"/>
          <p:nvPr/>
        </p:nvSpPr>
        <p:spPr>
          <a:xfrm>
            <a:off x="548640" y="2743200"/>
            <a:ext cx="6309360" cy="685800"/>
          </a:xfrm>
          <a:prstGeom prst="rect">
            <a:avLst/>
          </a:prstGeom>
          <a:noFill/>
          <a:ln/>
        </p:spPr>
        <p:txBody>
          <a:bodyPr wrap="square" lIns="0" tIns="0" rIns="0" bIns="0" rtlCol="0" anchor="t"/>
          <a:lstStyle/>
          <a:p>
            <a:pPr indent="0" marL="0">
              <a:buNone/>
            </a:pPr>
            <a:r>
              <a:rPr lang="en-US" sz="1400" dirty="0">
                <a:solidFill>
                  <a:srgbClr val="E4E4E7"/>
                </a:solidFill>
              </a:rPr>
              <a:t>Actions no se instala: basta con crear .github/workflows/ci.yml. Turborepo llega con bun install y Docker ya viene en el runner de GitHub.</a:t>
            </a:r>
            <a:endParaRPr lang="en-US" sz="1400" dirty="0"/>
          </a:p>
        </p:txBody>
      </p:sp>
      <p:sp>
        <p:nvSpPr>
          <p:cNvPr id="15" name="Text 10"/>
          <p:cNvSpPr txBox="1"/>
          <p:nvPr/>
        </p:nvSpPr>
        <p:spPr>
          <a:xfrm>
            <a:off x="548640" y="3520440"/>
            <a:ext cx="6309360"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CONFIGURACIÓN</a:t>
            </a:r>
            <a:endParaRPr lang="en-US" sz="1100" dirty="0"/>
          </a:p>
        </p:txBody>
      </p:sp>
      <p:sp>
        <p:nvSpPr>
          <p:cNvPr id="16" name="editor"/>
          <p:cNvSpPr/>
          <p:nvPr/>
        </p:nvSpPr>
        <p:spPr>
          <a:xfrm>
            <a:off x="548640" y="3794760"/>
            <a:ext cx="6309360" cy="2423160"/>
          </a:xfrm>
          <a:prstGeom prst="roundRect">
            <a:avLst>
              <a:gd name="adj" fmla="val 3019"/>
            </a:avLst>
          </a:prstGeom>
          <a:solidFill>
            <a:srgbClr val="0D1117"/>
          </a:solidFill>
          <a:ln w="12700">
            <a:solidFill>
              <a:srgbClr val="30363D"/>
            </a:solidFill>
            <a:prstDash val="solid"/>
          </a:ln>
        </p:spPr>
      </p:sp>
      <p:sp>
        <p:nvSpPr>
          <p:cNvPr id="17" name="Shape 12"/>
          <p:cNvSpPr/>
          <p:nvPr/>
        </p:nvSpPr>
        <p:spPr>
          <a:xfrm>
            <a:off x="557784" y="3803904"/>
            <a:ext cx="6291072" cy="310896"/>
          </a:xfrm>
          <a:prstGeom prst="roundRect">
            <a:avLst>
              <a:gd name="adj" fmla="val 23529"/>
            </a:avLst>
          </a:prstGeom>
          <a:solidFill>
            <a:srgbClr val="161B22"/>
          </a:solidFill>
          <a:ln/>
        </p:spPr>
      </p:sp>
      <p:sp>
        <p:nvSpPr>
          <p:cNvPr id="18" name="Shape 13"/>
          <p:cNvSpPr/>
          <p:nvPr/>
        </p:nvSpPr>
        <p:spPr>
          <a:xfrm>
            <a:off x="557784" y="3950208"/>
            <a:ext cx="6291072" cy="164592"/>
          </a:xfrm>
          <a:prstGeom prst="rect">
            <a:avLst/>
          </a:prstGeom>
          <a:solidFill>
            <a:srgbClr val="161B22"/>
          </a:solidFill>
          <a:ln/>
        </p:spPr>
      </p:sp>
      <p:sp>
        <p:nvSpPr>
          <p:cNvPr id="19" name="Shape 14"/>
          <p:cNvSpPr/>
          <p:nvPr/>
        </p:nvSpPr>
        <p:spPr>
          <a:xfrm>
            <a:off x="548640" y="4114800"/>
            <a:ext cx="6309360" cy="0"/>
          </a:xfrm>
          <a:prstGeom prst="line">
            <a:avLst/>
          </a:prstGeom>
          <a:noFill/>
          <a:ln w="9525">
            <a:solidFill>
              <a:srgbClr val="30363D"/>
            </a:solidFill>
            <a:prstDash val="solid"/>
          </a:ln>
        </p:spPr>
      </p:sp>
      <p:sp>
        <p:nvSpPr>
          <p:cNvPr id="20" name="Shape 15"/>
          <p:cNvSpPr/>
          <p:nvPr/>
        </p:nvSpPr>
        <p:spPr>
          <a:xfrm>
            <a:off x="694944" y="3909060"/>
            <a:ext cx="100584" cy="100584"/>
          </a:xfrm>
          <a:prstGeom prst="ellipse">
            <a:avLst/>
          </a:prstGeom>
          <a:solidFill>
            <a:srgbClr val="FF5F56"/>
          </a:solidFill>
          <a:ln/>
        </p:spPr>
      </p:sp>
      <p:sp>
        <p:nvSpPr>
          <p:cNvPr id="21" name="Shape 16"/>
          <p:cNvSpPr/>
          <p:nvPr/>
        </p:nvSpPr>
        <p:spPr>
          <a:xfrm>
            <a:off x="850392" y="3909060"/>
            <a:ext cx="100584" cy="100584"/>
          </a:xfrm>
          <a:prstGeom prst="ellipse">
            <a:avLst/>
          </a:prstGeom>
          <a:solidFill>
            <a:srgbClr val="FFBD2E"/>
          </a:solidFill>
          <a:ln/>
        </p:spPr>
      </p:sp>
      <p:sp>
        <p:nvSpPr>
          <p:cNvPr id="22" name="Shape 17"/>
          <p:cNvSpPr/>
          <p:nvPr/>
        </p:nvSpPr>
        <p:spPr>
          <a:xfrm>
            <a:off x="1005840" y="3909060"/>
            <a:ext cx="100584" cy="100584"/>
          </a:xfrm>
          <a:prstGeom prst="ellipse">
            <a:avLst/>
          </a:prstGeom>
          <a:solidFill>
            <a:srgbClr val="27C93F"/>
          </a:solidFill>
          <a:ln/>
        </p:spPr>
      </p:sp>
      <p:sp>
        <p:nvSpPr>
          <p:cNvPr id="23" name="Text 18"/>
          <p:cNvSpPr txBox="1"/>
          <p:nvPr/>
        </p:nvSpPr>
        <p:spPr>
          <a:xfrm>
            <a:off x="1234440" y="3803904"/>
            <a:ext cx="5486400" cy="310896"/>
          </a:xfrm>
          <a:prstGeom prst="rect">
            <a:avLst/>
          </a:prstGeom>
          <a:noFill/>
          <a:ln/>
        </p:spPr>
        <p:txBody>
          <a:bodyPr wrap="square" lIns="0" tIns="0" rIns="0" bIns="0"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.github/workflows/ci.yml</a:t>
            </a:r>
            <a:endParaRPr lang="en-US" sz="1000" dirty="0"/>
          </a:p>
        </p:txBody>
      </p:sp>
      <p:sp>
        <p:nvSpPr>
          <p:cNvPr id="24" name="codigo"/>
          <p:cNvSpPr txBox="1"/>
          <p:nvPr/>
        </p:nvSpPr>
        <p:spPr>
          <a:xfrm>
            <a:off x="713232" y="4215384"/>
            <a:ext cx="6035040" cy="1929384"/>
          </a:xfrm>
          <a:prstGeom prst="rect">
            <a:avLst/>
          </a:prstGeom>
          <a:noFill/>
          <a:ln/>
        </p:spPr>
        <p:txBody>
          <a:bodyPr wrap="square" lIns="0" tIns="0" rIns="0" bIns="0" rtlCol="0" anchor="t"/>
          <a:lstStyle/>
          <a:p>
            <a:pPr indent="0" marL="0">
              <a:buNone/>
            </a:pPr>
            <a:r>
              <a:rPr lang="en-US" sz="1100" dirty="0">
                <a:solidFill>
                  <a:srgbClr val="6E7681"/>
                </a:solidFill>
                <a:latin typeface="Courier New" pitchFamily="34" charset="0"/>
                <a:ea typeface="Courier New" pitchFamily="34" charset="-122"/>
                <a:cs typeface="Courier New" pitchFamily="34" charset="-120"/>
              </a:rPr>
              <a:t> 1  </a:t>
            </a:r>
            <a:pPr indent="0" marL="0">
              <a:buNone/>
            </a:pPr>
            <a:r>
              <a:rPr lang="en-US" sz="1100" dirty="0">
                <a:solidFill>
                  <a:srgbClr val="7EE787"/>
                </a:solidFill>
                <a:latin typeface="Courier New" pitchFamily="34" charset="0"/>
                <a:ea typeface="Courier New" pitchFamily="34" charset="-122"/>
                <a:cs typeface="Courier New" pitchFamily="34" charset="-120"/>
              </a:rPr>
              <a:t>on</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2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push</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branches</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main</a:t>
            </a:r>
            <a:pPr indent="0" marL="0">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3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pull_request</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branches</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main</a:t>
            </a:r>
            <a:pPr indent="0" marL="0">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4  </a:t>
            </a:r>
            <a:pPr indent="0" marL="0">
              <a:buNone/>
            </a:pPr>
            <a:r>
              <a:rPr lang="en-US" sz="1100" dirty="0">
                <a:solidFill>
                  <a:srgbClr val="7EE787"/>
                </a:solidFill>
                <a:latin typeface="Courier New" pitchFamily="34" charset="0"/>
                <a:ea typeface="Courier New" pitchFamily="34" charset="-122"/>
                <a:cs typeface="Courier New" pitchFamily="34" charset="-120"/>
              </a:rPr>
              <a:t>jobs</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5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build</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6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runs-on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ubuntu-latest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7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steps</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8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uses</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oven-sh/setup-bun@v2</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9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run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bun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install</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--frozen-lockfile</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10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uses</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actions/cache@v4</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8B949E"/>
                </a:solidFill>
                <a:latin typeface="Courier New" pitchFamily="34" charset="0"/>
                <a:ea typeface="Courier New" pitchFamily="34" charset="-122"/>
                <a:cs typeface="Courier New" pitchFamily="34" charset="-120"/>
              </a:rPr>
              <a:t># caché de Turbo</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11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run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bunx</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turbo</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run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check-types</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lint</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build</a:t>
            </a:r>
            <a:endParaRPr lang="en-US" sz="1100" dirty="0"/>
          </a:p>
        </p:txBody>
      </p:sp>
      <p:sp>
        <p:nvSpPr>
          <p:cNvPr id="25" name="Shape 20"/>
          <p:cNvSpPr/>
          <p:nvPr/>
        </p:nvSpPr>
        <p:spPr>
          <a:xfrm>
            <a:off x="7132320" y="1600200"/>
            <a:ext cx="4507992" cy="2606040"/>
          </a:xfrm>
          <a:prstGeom prst="roundRect">
            <a:avLst>
              <a:gd name="adj" fmla="val 4211"/>
            </a:avLst>
          </a:prstGeom>
          <a:solidFill>
            <a:schemeClr val="tx2"/>
          </a:solidFill>
          <a:ln/>
        </p:spPr>
      </p:sp>
      <p:pic>
        <p:nvPicPr>
          <p:cNvPr id="26" name="Image 3" descr="preencoded.png">    </p:cNvPr>
          <p:cNvPicPr>
            <a:picLocks noChangeAspect="1"/>
          </p:cNvPicPr>
          <p:nvPr/>
        </p:nvPicPr>
        <p:blipFill>
          <a:blip r:embed="rId4"/>
          <a:stretch>
            <a:fillRect/>
          </a:stretch>
        </p:blipFill>
        <p:spPr>
          <a:xfrm>
            <a:off x="7360920" y="1783080"/>
            <a:ext cx="256032" cy="256032"/>
          </a:xfrm>
          <a:prstGeom prst="rect">
            <a:avLst/>
          </a:prstGeom>
        </p:spPr>
      </p:pic>
      <p:sp>
        <p:nvSpPr>
          <p:cNvPr id="27" name="Text 21"/>
          <p:cNvSpPr txBox="1"/>
          <p:nvPr/>
        </p:nvSpPr>
        <p:spPr>
          <a:xfrm>
            <a:off x="7726680" y="1801368"/>
            <a:ext cx="3200400" cy="228600"/>
          </a:xfrm>
          <a:prstGeom prst="rect">
            <a:avLst/>
          </a:prstGeom>
          <a:noFill/>
          <a:ln/>
        </p:spPr>
        <p:txBody>
          <a:bodyPr wrap="square" lIns="0" tIns="0" rIns="0" bIns="0" rtlCol="0" anchor="ctr"/>
          <a:lstStyle/>
          <a:p>
            <a:pPr indent="0" marL="0">
              <a:buNone/>
            </a:pPr>
            <a:r>
              <a:rPr lang="en-US" sz="1100" b="1" spc="150" kern="0" dirty="0">
                <a:solidFill>
                  <a:schemeClr val="accent3"/>
                </a:solidFill>
              </a:rPr>
              <a:t>DEMO EN VIVO</a:t>
            </a:r>
            <a:endParaRPr lang="en-US" sz="1100" dirty="0"/>
          </a:p>
        </p:txBody>
      </p:sp>
      <p:sp>
        <p:nvSpPr>
          <p:cNvPr id="28" name="Shape 22"/>
          <p:cNvSpPr/>
          <p:nvPr/>
        </p:nvSpPr>
        <p:spPr>
          <a:xfrm>
            <a:off x="7360920" y="2240280"/>
            <a:ext cx="292608" cy="292608"/>
          </a:xfrm>
          <a:prstGeom prst="ellipse">
            <a:avLst/>
          </a:prstGeom>
          <a:solidFill>
            <a:schemeClr val="accent3"/>
          </a:solidFill>
          <a:ln/>
        </p:spPr>
      </p:sp>
      <p:sp>
        <p:nvSpPr>
          <p:cNvPr id="29" name="Text 23"/>
          <p:cNvSpPr txBox="1"/>
          <p:nvPr/>
        </p:nvSpPr>
        <p:spPr>
          <a:xfrm>
            <a:off x="7360920" y="2240280"/>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30" name="Text 24"/>
          <p:cNvSpPr txBox="1"/>
          <p:nvPr/>
        </p:nvSpPr>
        <p:spPr>
          <a:xfrm>
            <a:off x="7790688" y="2212848"/>
            <a:ext cx="3657600" cy="475488"/>
          </a:xfrm>
          <a:prstGeom prst="rect">
            <a:avLst/>
          </a:prstGeom>
          <a:noFill/>
          <a:ln/>
        </p:spPr>
        <p:txBody>
          <a:bodyPr wrap="square" lIns="0" tIns="0" rIns="0" bIns="0" rtlCol="0" anchor="t"/>
          <a:lstStyle/>
          <a:p>
            <a:pPr indent="0" marL="0">
              <a:buNone/>
            </a:pPr>
            <a:r>
              <a:rPr lang="en-US" sz="1300" dirty="0">
                <a:solidFill>
                  <a:schemeClr val="bg1"/>
                </a:solidFill>
              </a:rPr>
              <a:t>Pestaña Actions → último run de CI</a:t>
            </a:r>
            <a:endParaRPr lang="en-US" sz="1300" dirty="0"/>
          </a:p>
        </p:txBody>
      </p:sp>
      <p:sp>
        <p:nvSpPr>
          <p:cNvPr id="31" name="Shape 25"/>
          <p:cNvSpPr/>
          <p:nvPr/>
        </p:nvSpPr>
        <p:spPr>
          <a:xfrm>
            <a:off x="7360920" y="2724912"/>
            <a:ext cx="292608" cy="292608"/>
          </a:xfrm>
          <a:prstGeom prst="ellipse">
            <a:avLst/>
          </a:prstGeom>
          <a:solidFill>
            <a:schemeClr val="accent3"/>
          </a:solidFill>
          <a:ln/>
        </p:spPr>
      </p:sp>
      <p:sp>
        <p:nvSpPr>
          <p:cNvPr id="32" name="Text 26"/>
          <p:cNvSpPr txBox="1"/>
          <p:nvPr/>
        </p:nvSpPr>
        <p:spPr>
          <a:xfrm>
            <a:off x="7360920" y="2724912"/>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33" name="Text 27"/>
          <p:cNvSpPr txBox="1"/>
          <p:nvPr/>
        </p:nvSpPr>
        <p:spPr>
          <a:xfrm>
            <a:off x="7790688" y="2697480"/>
            <a:ext cx="3657600" cy="475488"/>
          </a:xfrm>
          <a:prstGeom prst="rect">
            <a:avLst/>
          </a:prstGeom>
          <a:noFill/>
          <a:ln/>
        </p:spPr>
        <p:txBody>
          <a:bodyPr wrap="square" lIns="0" tIns="0" rIns="0" bIns="0" rtlCol="0" anchor="t"/>
          <a:lstStyle/>
          <a:p>
            <a:pPr indent="0" marL="0">
              <a:buNone/>
            </a:pPr>
            <a:r>
              <a:rPr lang="en-US" sz="1300" dirty="0">
                <a:solidFill>
                  <a:schemeClr val="bg1"/>
                </a:solidFill>
              </a:rPr>
              <a:t>Job Build: tipos, lint y compilación</a:t>
            </a:r>
            <a:endParaRPr lang="en-US" sz="1300" dirty="0"/>
          </a:p>
        </p:txBody>
      </p:sp>
      <p:sp>
        <p:nvSpPr>
          <p:cNvPr id="34" name="Shape 28"/>
          <p:cNvSpPr/>
          <p:nvPr/>
        </p:nvSpPr>
        <p:spPr>
          <a:xfrm>
            <a:off x="7360920" y="3209544"/>
            <a:ext cx="292608" cy="292608"/>
          </a:xfrm>
          <a:prstGeom prst="ellipse">
            <a:avLst/>
          </a:prstGeom>
          <a:solidFill>
            <a:schemeClr val="accent3"/>
          </a:solidFill>
          <a:ln/>
        </p:spPr>
      </p:sp>
      <p:sp>
        <p:nvSpPr>
          <p:cNvPr id="35" name="Text 29"/>
          <p:cNvSpPr txBox="1"/>
          <p:nvPr/>
        </p:nvSpPr>
        <p:spPr>
          <a:xfrm>
            <a:off x="7360920" y="3209544"/>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36" name="Text 30"/>
          <p:cNvSpPr txBox="1"/>
          <p:nvPr/>
        </p:nvSpPr>
        <p:spPr>
          <a:xfrm>
            <a:off x="7790688" y="3182112"/>
            <a:ext cx="3657600" cy="475488"/>
          </a:xfrm>
          <a:prstGeom prst="rect">
            <a:avLst/>
          </a:prstGeom>
          <a:noFill/>
          <a:ln/>
        </p:spPr>
        <p:txBody>
          <a:bodyPr wrap="square" lIns="0" tIns="0" rIns="0" bIns="0" rtlCol="0" anchor="t"/>
          <a:lstStyle/>
          <a:p>
            <a:pPr indent="0" marL="0">
              <a:buNone/>
            </a:pPr>
            <a:r>
              <a:rPr lang="en-US" sz="1300" dirty="0">
                <a:solidFill>
                  <a:schemeClr val="bg1"/>
                </a:solidFill>
              </a:rPr>
              <a:t>Turbo salta lo que no cambió (caché)</a:t>
            </a:r>
            <a:endParaRPr lang="en-US" sz="1300" dirty="0"/>
          </a:p>
        </p:txBody>
      </p:sp>
      <p:sp>
        <p:nvSpPr>
          <p:cNvPr id="37" name="Shape 31"/>
          <p:cNvSpPr/>
          <p:nvPr/>
        </p:nvSpPr>
        <p:spPr>
          <a:xfrm>
            <a:off x="7360920" y="3694176"/>
            <a:ext cx="292608" cy="292608"/>
          </a:xfrm>
          <a:prstGeom prst="ellipse">
            <a:avLst/>
          </a:prstGeom>
          <a:solidFill>
            <a:schemeClr val="accent3"/>
          </a:solidFill>
          <a:ln/>
        </p:spPr>
      </p:sp>
      <p:sp>
        <p:nvSpPr>
          <p:cNvPr id="38" name="Text 32"/>
          <p:cNvSpPr txBox="1"/>
          <p:nvPr/>
        </p:nvSpPr>
        <p:spPr>
          <a:xfrm>
            <a:off x="7360920" y="3694176"/>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39" name="Text 33"/>
          <p:cNvSpPr txBox="1"/>
          <p:nvPr/>
        </p:nvSpPr>
        <p:spPr>
          <a:xfrm>
            <a:off x="7790688" y="3666744"/>
            <a:ext cx="3657600" cy="475488"/>
          </a:xfrm>
          <a:prstGeom prst="rect">
            <a:avLst/>
          </a:prstGeom>
          <a:noFill/>
          <a:ln/>
        </p:spPr>
        <p:txBody>
          <a:bodyPr wrap="square" lIns="0" tIns="0" rIns="0" bIns="0" rtlCol="0" anchor="t"/>
          <a:lstStyle/>
          <a:p>
            <a:pPr indent="0" marL="0">
              <a:buNone/>
            </a:pPr>
            <a:r>
              <a:rPr lang="en-US" sz="1300" dirty="0">
                <a:solidFill>
                  <a:schemeClr val="bg1"/>
                </a:solidFill>
              </a:rPr>
              <a:t>Descargamos el .zip de la extensión</a:t>
            </a:r>
            <a:endParaRPr lang="en-US" sz="1300" dirty="0"/>
          </a:p>
        </p:txBody>
      </p:sp>
      <p:sp>
        <p:nvSpPr>
          <p:cNvPr id="40" name="captura"/>
          <p:cNvSpPr/>
          <p:nvPr/>
        </p:nvSpPr>
        <p:spPr>
          <a:xfrm>
            <a:off x="7132320" y="4389120"/>
            <a:ext cx="4507992" cy="1828800"/>
          </a:xfrm>
          <a:prstGeom prst="roundRect">
            <a:avLst>
              <a:gd name="adj" fmla="val 6000"/>
            </a:avLst>
          </a:prstGeom>
          <a:solidFill>
            <a:schemeClr val="tx1"/>
          </a:solidFill>
          <a:ln w="15875">
            <a:solidFill>
              <a:srgbClr val="FBBF24"/>
            </a:solidFill>
            <a:prstDash val="dash"/>
          </a:ln>
        </p:spPr>
      </p:sp>
      <p:pic>
        <p:nvPicPr>
          <p:cNvPr id="41" name="Image 4" descr="preencoded.png">    </p:cNvPr>
          <p:cNvPicPr>
            <a:picLocks noChangeAspect="1"/>
          </p:cNvPicPr>
          <p:nvPr/>
        </p:nvPicPr>
        <p:blipFill>
          <a:blip r:embed="rId5"/>
          <a:stretch>
            <a:fillRect/>
          </a:stretch>
        </p:blipFill>
        <p:spPr>
          <a:xfrm>
            <a:off x="9180576" y="4754880"/>
            <a:ext cx="411480" cy="411480"/>
          </a:xfrm>
          <a:prstGeom prst="rect">
            <a:avLst/>
          </a:prstGeom>
        </p:spPr>
      </p:pic>
      <p:sp>
        <p:nvSpPr>
          <p:cNvPr id="42" name="Text 35"/>
          <p:cNvSpPr txBox="1"/>
          <p:nvPr/>
        </p:nvSpPr>
        <p:spPr>
          <a:xfrm>
            <a:off x="7315200" y="5257800"/>
            <a:ext cx="4142232" cy="731520"/>
          </a:xfrm>
          <a:prstGeom prst="rect">
            <a:avLst/>
          </a:prstGeom>
          <a:noFill/>
          <a:ln/>
        </p:spPr>
        <p:txBody>
          <a:bodyPr wrap="square" lIns="0" tIns="0" rIns="0" bIns="0" rtlCol="0" anchor="t"/>
          <a:lstStyle/>
          <a:p>
            <a:pPr algn="ctr" indent="0" marL="0">
              <a:buNone/>
            </a:pPr>
            <a:r>
              <a:rPr lang="en-US" sz="1200" dirty="0">
                <a:solidFill>
                  <a:schemeClr val="bg2"/>
                </a:solidFill>
              </a:rPr>
              <a:t>[CAPTURA: run de CI en Actions con los jobs en verde]</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594360"/>
          </a:xfrm>
          <a:prstGeom prst="rect">
            <a:avLst/>
          </a:prstGeom>
          <a:noFill/>
          <a:ln/>
        </p:spPr>
        <p:txBody>
          <a:bodyPr wrap="square" lIns="0" tIns="0" rIns="0" bIns="0" rtlCol="0" anchor="ctr"/>
          <a:lstStyle/>
          <a:p>
            <a:pPr algn="l" indent="0" marL="0">
              <a:buNone/>
            </a:pPr>
            <a:r>
              <a:rPr lang="en-US" sz="2600" b="1" dirty="0">
                <a:solidFill>
                  <a:schemeClr val="bg1"/>
                </a:solidFill>
              </a:rPr>
              <a:t>Test: el CI prueba cada cambio antes de fusionarlo</a:t>
            </a:r>
            <a:endParaRPr lang="en-US" sz="2600" dirty="0"/>
          </a:p>
        </p:txBody>
      </p:sp>
      <p:sp>
        <p:nvSpPr>
          <p:cNvPr id="3" name="Shape 1"/>
          <p:cNvSpPr/>
          <p:nvPr/>
        </p:nvSpPr>
        <p:spPr>
          <a:xfrm>
            <a:off x="548640" y="365760"/>
            <a:ext cx="2103120" cy="347472"/>
          </a:xfrm>
          <a:prstGeom prst="roundRect">
            <a:avLst>
              <a:gd name="adj" fmla="val 50000"/>
            </a:avLst>
          </a:prstGeom>
          <a:solidFill>
            <a:schemeClr val="accent2"/>
          </a:solidFill>
          <a:ln/>
        </p:spPr>
      </p:sp>
      <p:sp>
        <p:nvSpPr>
          <p:cNvPr id="4" name="Text 2"/>
          <p:cNvSpPr txBox="1"/>
          <p:nvPr/>
        </p:nvSpPr>
        <p:spPr>
          <a:xfrm>
            <a:off x="548640" y="365760"/>
            <a:ext cx="2103120" cy="347472"/>
          </a:xfrm>
          <a:prstGeom prst="rect">
            <a:avLst/>
          </a:prstGeom>
          <a:noFill/>
          <a:ln/>
        </p:spPr>
        <p:txBody>
          <a:bodyPr wrap="square" lIns="0" tIns="0" rIns="0" bIns="0" rtlCol="0" anchor="ctr"/>
          <a:lstStyle/>
          <a:p>
            <a:pPr algn="ctr" indent="0" marL="0">
              <a:buNone/>
            </a:pPr>
            <a:r>
              <a:rPr lang="en-US" sz="1200" b="1" spc="100" kern="0" dirty="0">
                <a:solidFill>
                  <a:schemeClr val="tx1"/>
                </a:solidFill>
              </a:rPr>
              <a:t>FASE 4 · TEST</a:t>
            </a:r>
            <a:endParaRPr lang="en-US" sz="1200" dirty="0"/>
          </a:p>
        </p:txBody>
      </p:sp>
      <p:sp>
        <p:nvSpPr>
          <p:cNvPr id="5" name="Shape 3"/>
          <p:cNvSpPr/>
          <p:nvPr/>
        </p:nvSpPr>
        <p:spPr>
          <a:xfrm>
            <a:off x="9720072" y="274320"/>
            <a:ext cx="548640" cy="548640"/>
          </a:xfrm>
          <a:prstGeom prst="roundRect">
            <a:avLst>
              <a:gd name="adj" fmla="val 16667"/>
            </a:avLst>
          </a:prstGeom>
          <a:solidFill>
            <a:schemeClr val="tx2"/>
          </a:solidFill>
          <a:ln/>
        </p:spPr>
      </p:sp>
      <p:pic>
        <p:nvPicPr>
          <p:cNvPr id="6" name="Image 0" descr="preencoded.png">    </p:cNvPr>
          <p:cNvPicPr>
            <a:picLocks noChangeAspect="1"/>
          </p:cNvPicPr>
          <p:nvPr/>
        </p:nvPicPr>
        <p:blipFill>
          <a:blip r:embed="rId1"/>
          <a:stretch>
            <a:fillRect/>
          </a:stretch>
        </p:blipFill>
        <p:spPr>
          <a:xfrm>
            <a:off x="9840773" y="395021"/>
            <a:ext cx="307238" cy="307238"/>
          </a:xfrm>
          <a:prstGeom prst="rect">
            <a:avLst/>
          </a:prstGeom>
        </p:spPr>
      </p:pic>
      <p:sp>
        <p:nvSpPr>
          <p:cNvPr id="7" name="Shape 4"/>
          <p:cNvSpPr/>
          <p:nvPr/>
        </p:nvSpPr>
        <p:spPr>
          <a:xfrm>
            <a:off x="10405872" y="274320"/>
            <a:ext cx="548640" cy="548640"/>
          </a:xfrm>
          <a:prstGeom prst="roundRect">
            <a:avLst>
              <a:gd name="adj" fmla="val 16667"/>
            </a:avLst>
          </a:prstGeom>
          <a:solidFill>
            <a:schemeClr val="tx2"/>
          </a:solidFill>
          <a:ln/>
        </p:spPr>
      </p:sp>
      <p:pic>
        <p:nvPicPr>
          <p:cNvPr id="8" name="Image 1" descr="preencoded.png">    </p:cNvPr>
          <p:cNvPicPr>
            <a:picLocks noChangeAspect="1"/>
          </p:cNvPicPr>
          <p:nvPr/>
        </p:nvPicPr>
        <p:blipFill>
          <a:blip r:embed="rId2"/>
          <a:stretch>
            <a:fillRect/>
          </a:stretch>
        </p:blipFill>
        <p:spPr>
          <a:xfrm>
            <a:off x="10526573" y="395021"/>
            <a:ext cx="307238" cy="307238"/>
          </a:xfrm>
          <a:prstGeom prst="rect">
            <a:avLst/>
          </a:prstGeom>
        </p:spPr>
      </p:pic>
      <p:sp>
        <p:nvSpPr>
          <p:cNvPr id="9" name="Shape 5"/>
          <p:cNvSpPr/>
          <p:nvPr/>
        </p:nvSpPr>
        <p:spPr>
          <a:xfrm>
            <a:off x="11091672" y="274320"/>
            <a:ext cx="548640" cy="548640"/>
          </a:xfrm>
          <a:prstGeom prst="roundRect">
            <a:avLst>
              <a:gd name="adj" fmla="val 16667"/>
            </a:avLst>
          </a:prstGeom>
          <a:solidFill>
            <a:schemeClr val="tx2"/>
          </a:solidFill>
          <a:ln/>
        </p:spPr>
      </p:sp>
      <p:pic>
        <p:nvPicPr>
          <p:cNvPr id="10" name="Image 2" descr="preencoded.png">    </p:cNvPr>
          <p:cNvPicPr>
            <a:picLocks noChangeAspect="1"/>
          </p:cNvPicPr>
          <p:nvPr/>
        </p:nvPicPr>
        <p:blipFill>
          <a:blip r:embed="rId3"/>
          <a:stretch>
            <a:fillRect/>
          </a:stretch>
        </p:blipFill>
        <p:spPr>
          <a:xfrm>
            <a:off x="11212373" y="395021"/>
            <a:ext cx="307238" cy="307238"/>
          </a:xfrm>
          <a:prstGeom prst="rect">
            <a:avLst/>
          </a:prstGeom>
        </p:spPr>
      </p:pic>
      <p:sp>
        <p:nvSpPr>
          <p:cNvPr id="11" name="Text 6"/>
          <p:cNvSpPr txBox="1"/>
          <p:nvPr/>
        </p:nvSpPr>
        <p:spPr>
          <a:xfrm>
            <a:off x="548640" y="1600200"/>
            <a:ext cx="6309360" cy="228600"/>
          </a:xfrm>
          <a:prstGeom prst="rect">
            <a:avLst/>
          </a:prstGeom>
          <a:noFill/>
          <a:ln/>
        </p:spPr>
        <p:txBody>
          <a:bodyPr wrap="square" lIns="0" tIns="0" rIns="0" bIns="0" rtlCol="0" anchor="ctr"/>
          <a:lstStyle/>
          <a:p>
            <a:pPr indent="0" marL="0">
              <a:buNone/>
            </a:pPr>
            <a:r>
              <a:rPr lang="en-US" sz="1100" b="1" spc="150" kern="0" dirty="0">
                <a:solidFill>
                  <a:schemeClr val="accent2"/>
                </a:solidFill>
              </a:rPr>
              <a:t>HERRAMIENTA</a:t>
            </a:r>
            <a:endParaRPr lang="en-US" sz="1100" dirty="0"/>
          </a:p>
        </p:txBody>
      </p:sp>
      <p:sp>
        <p:nvSpPr>
          <p:cNvPr id="12" name="Text 7"/>
          <p:cNvSpPr txBox="1"/>
          <p:nvPr/>
        </p:nvSpPr>
        <p:spPr>
          <a:xfrm>
            <a:off x="548640" y="1828800"/>
            <a:ext cx="6309360" cy="502920"/>
          </a:xfrm>
          <a:prstGeom prst="rect">
            <a:avLst/>
          </a:prstGeom>
          <a:noFill/>
          <a:ln/>
        </p:spPr>
        <p:txBody>
          <a:bodyPr wrap="square" lIns="0" tIns="0" rIns="0" bIns="0" rtlCol="0" anchor="t"/>
          <a:lstStyle/>
          <a:p>
            <a:pPr indent="0" marL="0">
              <a:buNone/>
            </a:pPr>
            <a:r>
              <a:rPr lang="en-US" sz="1500" b="1" dirty="0">
                <a:solidFill>
                  <a:schemeClr val="bg1"/>
                </a:solidFill>
              </a:rPr>
              <a:t>bun test (unitarias, API, seguridad y aceptación con Gherkin) y Postman + Newman</a:t>
            </a:r>
            <a:endParaRPr lang="en-US" sz="1500" dirty="0"/>
          </a:p>
        </p:txBody>
      </p:sp>
      <p:sp>
        <p:nvSpPr>
          <p:cNvPr id="13" name="Text 8"/>
          <p:cNvSpPr txBox="1"/>
          <p:nvPr/>
        </p:nvSpPr>
        <p:spPr>
          <a:xfrm>
            <a:off x="548640" y="2514600"/>
            <a:ext cx="6309360" cy="228600"/>
          </a:xfrm>
          <a:prstGeom prst="rect">
            <a:avLst/>
          </a:prstGeom>
          <a:noFill/>
          <a:ln/>
        </p:spPr>
        <p:txBody>
          <a:bodyPr wrap="square" lIns="0" tIns="0" rIns="0" bIns="0" rtlCol="0" anchor="ctr"/>
          <a:lstStyle/>
          <a:p>
            <a:pPr indent="0" marL="0">
              <a:buNone/>
            </a:pPr>
            <a:r>
              <a:rPr lang="en-US" sz="1100" b="1" spc="150" kern="0" dirty="0">
                <a:solidFill>
                  <a:schemeClr val="accent2"/>
                </a:solidFill>
              </a:rPr>
              <a:t>INSTALACIÓN</a:t>
            </a:r>
            <a:endParaRPr lang="en-US" sz="1100" dirty="0"/>
          </a:p>
        </p:txBody>
      </p:sp>
      <p:sp>
        <p:nvSpPr>
          <p:cNvPr id="14" name="Text 9"/>
          <p:cNvSpPr txBox="1"/>
          <p:nvPr/>
        </p:nvSpPr>
        <p:spPr>
          <a:xfrm>
            <a:off x="548640" y="2743200"/>
            <a:ext cx="6309360" cy="685800"/>
          </a:xfrm>
          <a:prstGeom prst="rect">
            <a:avLst/>
          </a:prstGeom>
          <a:noFill/>
          <a:ln/>
        </p:spPr>
        <p:txBody>
          <a:bodyPr wrap="square" lIns="0" tIns="0" rIns="0" bIns="0" rtlCol="0" anchor="t"/>
          <a:lstStyle/>
          <a:p>
            <a:pPr indent="0" marL="0">
              <a:buNone/>
            </a:pPr>
            <a:r>
              <a:rPr lang="en-US" sz="1400" dirty="0">
                <a:solidFill>
                  <a:srgbClr val="E4E4E7"/>
                </a:solidFill>
              </a:rPr>
              <a:t>bun test viene con Bun. Newman corre sin instalar con bunx newman@6.2.1; Postman solo se usa para editar la colección.</a:t>
            </a:r>
            <a:endParaRPr lang="en-US" sz="1400" dirty="0"/>
          </a:p>
        </p:txBody>
      </p:sp>
      <p:sp>
        <p:nvSpPr>
          <p:cNvPr id="15" name="Text 10"/>
          <p:cNvSpPr txBox="1"/>
          <p:nvPr/>
        </p:nvSpPr>
        <p:spPr>
          <a:xfrm>
            <a:off x="548640" y="3520440"/>
            <a:ext cx="6309360" cy="228600"/>
          </a:xfrm>
          <a:prstGeom prst="rect">
            <a:avLst/>
          </a:prstGeom>
          <a:noFill/>
          <a:ln/>
        </p:spPr>
        <p:txBody>
          <a:bodyPr wrap="square" lIns="0" tIns="0" rIns="0" bIns="0" rtlCol="0" anchor="ctr"/>
          <a:lstStyle/>
          <a:p>
            <a:pPr indent="0" marL="0">
              <a:buNone/>
            </a:pPr>
            <a:r>
              <a:rPr lang="en-US" sz="1100" b="1" spc="150" kern="0" dirty="0">
                <a:solidFill>
                  <a:schemeClr val="accent2"/>
                </a:solidFill>
              </a:rPr>
              <a:t>CONFIGURACIÓN</a:t>
            </a:r>
            <a:endParaRPr lang="en-US" sz="1100" dirty="0"/>
          </a:p>
        </p:txBody>
      </p:sp>
      <p:sp>
        <p:nvSpPr>
          <p:cNvPr id="16" name="editor"/>
          <p:cNvSpPr/>
          <p:nvPr/>
        </p:nvSpPr>
        <p:spPr>
          <a:xfrm>
            <a:off x="548640" y="3794760"/>
            <a:ext cx="6309360" cy="2423160"/>
          </a:xfrm>
          <a:prstGeom prst="roundRect">
            <a:avLst>
              <a:gd name="adj" fmla="val 3019"/>
            </a:avLst>
          </a:prstGeom>
          <a:solidFill>
            <a:srgbClr val="0D1117"/>
          </a:solidFill>
          <a:ln w="12700">
            <a:solidFill>
              <a:srgbClr val="30363D"/>
            </a:solidFill>
            <a:prstDash val="solid"/>
          </a:ln>
        </p:spPr>
      </p:sp>
      <p:sp>
        <p:nvSpPr>
          <p:cNvPr id="17" name="Shape 12"/>
          <p:cNvSpPr/>
          <p:nvPr/>
        </p:nvSpPr>
        <p:spPr>
          <a:xfrm>
            <a:off x="557784" y="3803904"/>
            <a:ext cx="6291072" cy="310896"/>
          </a:xfrm>
          <a:prstGeom prst="roundRect">
            <a:avLst>
              <a:gd name="adj" fmla="val 23529"/>
            </a:avLst>
          </a:prstGeom>
          <a:solidFill>
            <a:srgbClr val="161B22"/>
          </a:solidFill>
          <a:ln/>
        </p:spPr>
      </p:sp>
      <p:sp>
        <p:nvSpPr>
          <p:cNvPr id="18" name="Shape 13"/>
          <p:cNvSpPr/>
          <p:nvPr/>
        </p:nvSpPr>
        <p:spPr>
          <a:xfrm>
            <a:off x="557784" y="3950208"/>
            <a:ext cx="6291072" cy="164592"/>
          </a:xfrm>
          <a:prstGeom prst="rect">
            <a:avLst/>
          </a:prstGeom>
          <a:solidFill>
            <a:srgbClr val="161B22"/>
          </a:solidFill>
          <a:ln/>
        </p:spPr>
      </p:sp>
      <p:sp>
        <p:nvSpPr>
          <p:cNvPr id="19" name="Shape 14"/>
          <p:cNvSpPr/>
          <p:nvPr/>
        </p:nvSpPr>
        <p:spPr>
          <a:xfrm>
            <a:off x="548640" y="4114800"/>
            <a:ext cx="6309360" cy="0"/>
          </a:xfrm>
          <a:prstGeom prst="line">
            <a:avLst/>
          </a:prstGeom>
          <a:noFill/>
          <a:ln w="9525">
            <a:solidFill>
              <a:srgbClr val="30363D"/>
            </a:solidFill>
            <a:prstDash val="solid"/>
          </a:ln>
        </p:spPr>
      </p:sp>
      <p:sp>
        <p:nvSpPr>
          <p:cNvPr id="20" name="Shape 15"/>
          <p:cNvSpPr/>
          <p:nvPr/>
        </p:nvSpPr>
        <p:spPr>
          <a:xfrm>
            <a:off x="694944" y="3909060"/>
            <a:ext cx="100584" cy="100584"/>
          </a:xfrm>
          <a:prstGeom prst="ellipse">
            <a:avLst/>
          </a:prstGeom>
          <a:solidFill>
            <a:srgbClr val="FF5F56"/>
          </a:solidFill>
          <a:ln/>
        </p:spPr>
      </p:sp>
      <p:sp>
        <p:nvSpPr>
          <p:cNvPr id="21" name="Shape 16"/>
          <p:cNvSpPr/>
          <p:nvPr/>
        </p:nvSpPr>
        <p:spPr>
          <a:xfrm>
            <a:off x="850392" y="3909060"/>
            <a:ext cx="100584" cy="100584"/>
          </a:xfrm>
          <a:prstGeom prst="ellipse">
            <a:avLst/>
          </a:prstGeom>
          <a:solidFill>
            <a:srgbClr val="FFBD2E"/>
          </a:solidFill>
          <a:ln/>
        </p:spPr>
      </p:sp>
      <p:sp>
        <p:nvSpPr>
          <p:cNvPr id="22" name="Shape 17"/>
          <p:cNvSpPr/>
          <p:nvPr/>
        </p:nvSpPr>
        <p:spPr>
          <a:xfrm>
            <a:off x="1005840" y="3909060"/>
            <a:ext cx="100584" cy="100584"/>
          </a:xfrm>
          <a:prstGeom prst="ellipse">
            <a:avLst/>
          </a:prstGeom>
          <a:solidFill>
            <a:srgbClr val="27C93F"/>
          </a:solidFill>
          <a:ln/>
        </p:spPr>
      </p:sp>
      <p:sp>
        <p:nvSpPr>
          <p:cNvPr id="23" name="Text 18"/>
          <p:cNvSpPr txBox="1"/>
          <p:nvPr/>
        </p:nvSpPr>
        <p:spPr>
          <a:xfrm>
            <a:off x="1234440" y="3803904"/>
            <a:ext cx="5486400" cy="310896"/>
          </a:xfrm>
          <a:prstGeom prst="rect">
            <a:avLst/>
          </a:prstGeom>
          <a:noFill/>
          <a:ln/>
        </p:spPr>
        <p:txBody>
          <a:bodyPr wrap="square" lIns="0" tIns="0" rIns="0" bIns="0"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.github/workflows/ci.yml</a:t>
            </a:r>
            <a:endParaRPr lang="en-US" sz="1000" dirty="0"/>
          </a:p>
        </p:txBody>
      </p:sp>
      <p:sp>
        <p:nvSpPr>
          <p:cNvPr id="24" name="codigo"/>
          <p:cNvSpPr txBox="1"/>
          <p:nvPr/>
        </p:nvSpPr>
        <p:spPr>
          <a:xfrm>
            <a:off x="713232" y="4215384"/>
            <a:ext cx="6035040" cy="1929384"/>
          </a:xfrm>
          <a:prstGeom prst="rect">
            <a:avLst/>
          </a:prstGeom>
          <a:noFill/>
          <a:ln/>
        </p:spPr>
        <p:txBody>
          <a:bodyPr wrap="square" lIns="0" tIns="0" rIns="0" bIns="0" rtlCol="0" anchor="t"/>
          <a:lstStyle/>
          <a:p>
            <a:pPr indent="0" marL="0">
              <a:buNone/>
            </a:pPr>
            <a:r>
              <a:rPr lang="en-US" sz="1100" dirty="0">
                <a:solidFill>
                  <a:srgbClr val="6E7681"/>
                </a:solidFill>
                <a:latin typeface="Courier New" pitchFamily="34" charset="0"/>
                <a:ea typeface="Courier New" pitchFamily="34" charset="-122"/>
                <a:cs typeface="Courier New" pitchFamily="34" charset="-120"/>
              </a:rPr>
              <a:t> 1  </a:t>
            </a:r>
            <a:pPr indent="0" marL="0">
              <a:buNone/>
            </a:pPr>
            <a:r>
              <a:rPr lang="en-US" sz="1100" dirty="0">
                <a:solidFill>
                  <a:srgbClr val="7EE787"/>
                </a:solidFill>
                <a:latin typeface="Courier New" pitchFamily="34" charset="0"/>
                <a:ea typeface="Courier New" pitchFamily="34" charset="-122"/>
                <a:cs typeface="Courier New" pitchFamily="34" charset="-120"/>
              </a:rPr>
              <a:t>test</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2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steps</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3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run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bunx</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turbo</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run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test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4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run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bun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test</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microservicios-demo</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5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run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bun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run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tests:report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6  </a:t>
            </a:r>
            <a:pPr indent="0" marL="0">
              <a:buNone/>
            </a:pPr>
            <a:r>
              <a:rPr lang="en-US" sz="1100" dirty="0">
                <a:solidFill>
                  <a:srgbClr val="7EE787"/>
                </a:solidFill>
                <a:latin typeface="Courier New" pitchFamily="34" charset="0"/>
                <a:ea typeface="Courier New" pitchFamily="34" charset="-122"/>
                <a:cs typeface="Courier New" pitchFamily="34" charset="-120"/>
              </a:rPr>
              <a:t>api</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7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steps</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8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8B949E"/>
                </a:solidFill>
                <a:latin typeface="Courier New" pitchFamily="34" charset="0"/>
                <a:ea typeface="Courier New" pitchFamily="34" charset="-122"/>
                <a:cs typeface="Courier New" pitchFamily="34" charset="-120"/>
              </a:rPr>
              <a:t># levanta los 3 microservicios reales</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9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run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(cd</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services/gateway</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&amp;&amp;</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bun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src/index.ts</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&amp;)</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10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run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bunx</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newman@6.2.1</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run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docs/postman/…</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11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--env-var</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baseUrl=http://localhost:4000</a:t>
            </a:r>
            <a:endParaRPr lang="en-US" sz="1100" dirty="0"/>
          </a:p>
        </p:txBody>
      </p:sp>
      <p:sp>
        <p:nvSpPr>
          <p:cNvPr id="25" name="Shape 20"/>
          <p:cNvSpPr/>
          <p:nvPr/>
        </p:nvSpPr>
        <p:spPr>
          <a:xfrm>
            <a:off x="7132320" y="1600200"/>
            <a:ext cx="4507992" cy="2606040"/>
          </a:xfrm>
          <a:prstGeom prst="roundRect">
            <a:avLst>
              <a:gd name="adj" fmla="val 4211"/>
            </a:avLst>
          </a:prstGeom>
          <a:solidFill>
            <a:schemeClr val="tx2"/>
          </a:solidFill>
          <a:ln/>
        </p:spPr>
      </p:sp>
      <p:pic>
        <p:nvPicPr>
          <p:cNvPr id="26" name="Image 3" descr="preencoded.png">    </p:cNvPr>
          <p:cNvPicPr>
            <a:picLocks noChangeAspect="1"/>
          </p:cNvPicPr>
          <p:nvPr/>
        </p:nvPicPr>
        <p:blipFill>
          <a:blip r:embed="rId4"/>
          <a:stretch>
            <a:fillRect/>
          </a:stretch>
        </p:blipFill>
        <p:spPr>
          <a:xfrm>
            <a:off x="7360920" y="1783080"/>
            <a:ext cx="256032" cy="256032"/>
          </a:xfrm>
          <a:prstGeom prst="rect">
            <a:avLst/>
          </a:prstGeom>
        </p:spPr>
      </p:pic>
      <p:sp>
        <p:nvSpPr>
          <p:cNvPr id="27" name="Text 21"/>
          <p:cNvSpPr txBox="1"/>
          <p:nvPr/>
        </p:nvSpPr>
        <p:spPr>
          <a:xfrm>
            <a:off x="7726680" y="1801368"/>
            <a:ext cx="3200400" cy="228600"/>
          </a:xfrm>
          <a:prstGeom prst="rect">
            <a:avLst/>
          </a:prstGeom>
          <a:noFill/>
          <a:ln/>
        </p:spPr>
        <p:txBody>
          <a:bodyPr wrap="square" lIns="0" tIns="0" rIns="0" bIns="0" rtlCol="0" anchor="ctr"/>
          <a:lstStyle/>
          <a:p>
            <a:pPr indent="0" marL="0">
              <a:buNone/>
            </a:pPr>
            <a:r>
              <a:rPr lang="en-US" sz="1100" b="1" spc="150" kern="0" dirty="0">
                <a:solidFill>
                  <a:schemeClr val="accent2"/>
                </a:solidFill>
              </a:rPr>
              <a:t>DEMO EN VIVO</a:t>
            </a:r>
            <a:endParaRPr lang="en-US" sz="1100" dirty="0"/>
          </a:p>
        </p:txBody>
      </p:sp>
      <p:sp>
        <p:nvSpPr>
          <p:cNvPr id="28" name="Shape 22"/>
          <p:cNvSpPr/>
          <p:nvPr/>
        </p:nvSpPr>
        <p:spPr>
          <a:xfrm>
            <a:off x="7360920" y="2240280"/>
            <a:ext cx="292608" cy="292608"/>
          </a:xfrm>
          <a:prstGeom prst="ellipse">
            <a:avLst/>
          </a:prstGeom>
          <a:solidFill>
            <a:schemeClr val="accent2"/>
          </a:solidFill>
          <a:ln/>
        </p:spPr>
      </p:sp>
      <p:sp>
        <p:nvSpPr>
          <p:cNvPr id="29" name="Text 23"/>
          <p:cNvSpPr txBox="1"/>
          <p:nvPr/>
        </p:nvSpPr>
        <p:spPr>
          <a:xfrm>
            <a:off x="7360920" y="2240280"/>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30" name="Text 24"/>
          <p:cNvSpPr txBox="1"/>
          <p:nvPr/>
        </p:nvSpPr>
        <p:spPr>
          <a:xfrm>
            <a:off x="7790688" y="2212848"/>
            <a:ext cx="3657600" cy="475488"/>
          </a:xfrm>
          <a:prstGeom prst="rect">
            <a:avLst/>
          </a:prstGeom>
          <a:noFill/>
          <a:ln/>
        </p:spPr>
        <p:txBody>
          <a:bodyPr wrap="square" lIns="0" tIns="0" rIns="0" bIns="0" rtlCol="0" anchor="t"/>
          <a:lstStyle/>
          <a:p>
            <a:pPr indent="0" marL="0">
              <a:buNone/>
            </a:pPr>
            <a:r>
              <a:rPr lang="en-US" sz="1300" dirty="0">
                <a:solidFill>
                  <a:schemeClr val="bg1"/>
                </a:solidFill>
              </a:rPr>
              <a:t>Abrimos un PR con una prueba rota</a:t>
            </a:r>
            <a:endParaRPr lang="en-US" sz="1300" dirty="0"/>
          </a:p>
        </p:txBody>
      </p:sp>
      <p:sp>
        <p:nvSpPr>
          <p:cNvPr id="31" name="Shape 25"/>
          <p:cNvSpPr/>
          <p:nvPr/>
        </p:nvSpPr>
        <p:spPr>
          <a:xfrm>
            <a:off x="7360920" y="2724912"/>
            <a:ext cx="292608" cy="292608"/>
          </a:xfrm>
          <a:prstGeom prst="ellipse">
            <a:avLst/>
          </a:prstGeom>
          <a:solidFill>
            <a:schemeClr val="accent2"/>
          </a:solidFill>
          <a:ln/>
        </p:spPr>
      </p:sp>
      <p:sp>
        <p:nvSpPr>
          <p:cNvPr id="32" name="Text 26"/>
          <p:cNvSpPr txBox="1"/>
          <p:nvPr/>
        </p:nvSpPr>
        <p:spPr>
          <a:xfrm>
            <a:off x="7360920" y="2724912"/>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33" name="Text 27"/>
          <p:cNvSpPr txBox="1"/>
          <p:nvPr/>
        </p:nvSpPr>
        <p:spPr>
          <a:xfrm>
            <a:off x="7790688" y="2697480"/>
            <a:ext cx="3657600" cy="475488"/>
          </a:xfrm>
          <a:prstGeom prst="rect">
            <a:avLst/>
          </a:prstGeom>
          <a:noFill/>
          <a:ln/>
        </p:spPr>
        <p:txBody>
          <a:bodyPr wrap="square" lIns="0" tIns="0" rIns="0" bIns="0" rtlCol="0" anchor="t"/>
          <a:lstStyle/>
          <a:p>
            <a:pPr indent="0" marL="0">
              <a:buNone/>
            </a:pPr>
            <a:r>
              <a:rPr lang="en-US" sz="1300" dirty="0">
                <a:solidFill>
                  <a:schemeClr val="bg1"/>
                </a:solidFill>
              </a:rPr>
              <a:t>El check de Test queda en rojo</a:t>
            </a:r>
            <a:endParaRPr lang="en-US" sz="1300" dirty="0"/>
          </a:p>
        </p:txBody>
      </p:sp>
      <p:sp>
        <p:nvSpPr>
          <p:cNvPr id="34" name="Shape 28"/>
          <p:cNvSpPr/>
          <p:nvPr/>
        </p:nvSpPr>
        <p:spPr>
          <a:xfrm>
            <a:off x="7360920" y="3209544"/>
            <a:ext cx="292608" cy="292608"/>
          </a:xfrm>
          <a:prstGeom prst="ellipse">
            <a:avLst/>
          </a:prstGeom>
          <a:solidFill>
            <a:schemeClr val="accent2"/>
          </a:solidFill>
          <a:ln/>
        </p:spPr>
      </p:sp>
      <p:sp>
        <p:nvSpPr>
          <p:cNvPr id="35" name="Text 29"/>
          <p:cNvSpPr txBox="1"/>
          <p:nvPr/>
        </p:nvSpPr>
        <p:spPr>
          <a:xfrm>
            <a:off x="7360920" y="3209544"/>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36" name="Text 30"/>
          <p:cNvSpPr txBox="1"/>
          <p:nvPr/>
        </p:nvSpPr>
        <p:spPr>
          <a:xfrm>
            <a:off x="7790688" y="3182112"/>
            <a:ext cx="3657600" cy="475488"/>
          </a:xfrm>
          <a:prstGeom prst="rect">
            <a:avLst/>
          </a:prstGeom>
          <a:noFill/>
          <a:ln/>
        </p:spPr>
        <p:txBody>
          <a:bodyPr wrap="square" lIns="0" tIns="0" rIns="0" bIns="0" rtlCol="0" anchor="t"/>
          <a:lstStyle/>
          <a:p>
            <a:pPr indent="0" marL="0">
              <a:buNone/>
            </a:pPr>
            <a:r>
              <a:rPr lang="en-US" sz="1300" dirty="0">
                <a:solidFill>
                  <a:schemeClr val="bg1"/>
                </a:solidFill>
              </a:rPr>
              <a:t>GitHub bloquea el botón de merge</a:t>
            </a:r>
            <a:endParaRPr lang="en-US" sz="1300" dirty="0"/>
          </a:p>
        </p:txBody>
      </p:sp>
      <p:sp>
        <p:nvSpPr>
          <p:cNvPr id="37" name="Shape 31"/>
          <p:cNvSpPr/>
          <p:nvPr/>
        </p:nvSpPr>
        <p:spPr>
          <a:xfrm>
            <a:off x="7360920" y="3694176"/>
            <a:ext cx="292608" cy="292608"/>
          </a:xfrm>
          <a:prstGeom prst="ellipse">
            <a:avLst/>
          </a:prstGeom>
          <a:solidFill>
            <a:schemeClr val="accent2"/>
          </a:solidFill>
          <a:ln/>
        </p:spPr>
      </p:sp>
      <p:sp>
        <p:nvSpPr>
          <p:cNvPr id="38" name="Text 32"/>
          <p:cNvSpPr txBox="1"/>
          <p:nvPr/>
        </p:nvSpPr>
        <p:spPr>
          <a:xfrm>
            <a:off x="7360920" y="3694176"/>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39" name="Text 33"/>
          <p:cNvSpPr txBox="1"/>
          <p:nvPr/>
        </p:nvSpPr>
        <p:spPr>
          <a:xfrm>
            <a:off x="7790688" y="3666744"/>
            <a:ext cx="3657600" cy="475488"/>
          </a:xfrm>
          <a:prstGeom prst="rect">
            <a:avLst/>
          </a:prstGeom>
          <a:noFill/>
          <a:ln/>
        </p:spPr>
        <p:txBody>
          <a:bodyPr wrap="square" lIns="0" tIns="0" rIns="0" bIns="0" rtlCol="0" anchor="t"/>
          <a:lstStyle/>
          <a:p>
            <a:pPr indent="0" marL="0">
              <a:buNone/>
            </a:pPr>
            <a:r>
              <a:rPr lang="en-US" sz="1300" dirty="0">
                <a:solidFill>
                  <a:schemeClr val="bg1"/>
                </a:solidFill>
              </a:rPr>
              <a:t>Mostramos /dashboard/tests en el panel</a:t>
            </a:r>
            <a:endParaRPr lang="en-US" sz="1300" dirty="0"/>
          </a:p>
        </p:txBody>
      </p:sp>
      <p:sp>
        <p:nvSpPr>
          <p:cNvPr id="40" name="captura"/>
          <p:cNvSpPr/>
          <p:nvPr/>
        </p:nvSpPr>
        <p:spPr>
          <a:xfrm>
            <a:off x="7132320" y="4389120"/>
            <a:ext cx="4507992" cy="1828800"/>
          </a:xfrm>
          <a:prstGeom prst="roundRect">
            <a:avLst>
              <a:gd name="adj" fmla="val 6000"/>
            </a:avLst>
          </a:prstGeom>
          <a:solidFill>
            <a:schemeClr val="tx1"/>
          </a:solidFill>
          <a:ln w="15875">
            <a:solidFill>
              <a:srgbClr val="4EDEA3"/>
            </a:solidFill>
            <a:prstDash val="dash"/>
          </a:ln>
        </p:spPr>
      </p:sp>
      <p:pic>
        <p:nvPicPr>
          <p:cNvPr id="41" name="Image 4" descr="preencoded.png">    </p:cNvPr>
          <p:cNvPicPr>
            <a:picLocks noChangeAspect="1"/>
          </p:cNvPicPr>
          <p:nvPr/>
        </p:nvPicPr>
        <p:blipFill>
          <a:blip r:embed="rId5"/>
          <a:stretch>
            <a:fillRect/>
          </a:stretch>
        </p:blipFill>
        <p:spPr>
          <a:xfrm>
            <a:off x="9180576" y="4754880"/>
            <a:ext cx="411480" cy="411480"/>
          </a:xfrm>
          <a:prstGeom prst="rect">
            <a:avLst/>
          </a:prstGeom>
        </p:spPr>
      </p:pic>
      <p:sp>
        <p:nvSpPr>
          <p:cNvPr id="42" name="Text 35"/>
          <p:cNvSpPr txBox="1"/>
          <p:nvPr/>
        </p:nvSpPr>
        <p:spPr>
          <a:xfrm>
            <a:off x="7315200" y="5257800"/>
            <a:ext cx="4142232" cy="731520"/>
          </a:xfrm>
          <a:prstGeom prst="rect">
            <a:avLst/>
          </a:prstGeom>
          <a:noFill/>
          <a:ln/>
        </p:spPr>
        <p:txBody>
          <a:bodyPr wrap="square" lIns="0" tIns="0" rIns="0" bIns="0" rtlCol="0" anchor="t"/>
          <a:lstStyle/>
          <a:p>
            <a:pPr algn="ctr" indent="0" marL="0">
              <a:buNone/>
            </a:pPr>
            <a:r>
              <a:rPr lang="en-US" sz="1200" dirty="0">
                <a:solidFill>
                  <a:schemeClr val="bg2"/>
                </a:solidFill>
              </a:rPr>
              <a:t>[CAPTURA: PR con el check de Test en rojo y el merge bloqueado]</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bg1"/>
                </a:solidFill>
              </a:rPr>
              <a:t>Test: 141 pruebas corren solas en cada push</a:t>
            </a:r>
            <a:endParaRPr lang="en-US" sz="3000" dirty="0"/>
          </a:p>
        </p:txBody>
      </p:sp>
      <p:sp>
        <p:nvSpPr>
          <p:cNvPr id="3" name="Shape 1"/>
          <p:cNvSpPr/>
          <p:nvPr/>
        </p:nvSpPr>
        <p:spPr>
          <a:xfrm>
            <a:off x="548640" y="1417320"/>
            <a:ext cx="6949440" cy="4663440"/>
          </a:xfrm>
          <a:prstGeom prst="roundRect">
            <a:avLst>
              <a:gd name="adj" fmla="val 2353"/>
            </a:avLst>
          </a:prstGeom>
          <a:solidFill>
            <a:schemeClr val="tx2"/>
          </a:solidFill>
          <a:ln/>
        </p:spPr>
      </p:sp>
      <p:sp>
        <p:nvSpPr>
          <p:cNvPr id="4" name="Text 2"/>
          <p:cNvSpPr txBox="1"/>
          <p:nvPr/>
        </p:nvSpPr>
        <p:spPr>
          <a:xfrm>
            <a:off x="868680" y="1645920"/>
            <a:ext cx="4572000" cy="228600"/>
          </a:xfrm>
          <a:prstGeom prst="rect">
            <a:avLst/>
          </a:prstGeom>
          <a:noFill/>
          <a:ln/>
        </p:spPr>
        <p:txBody>
          <a:bodyPr wrap="square" lIns="0" tIns="0" rIns="0" bIns="0" rtlCol="0" anchor="ctr"/>
          <a:lstStyle/>
          <a:p>
            <a:pPr indent="0" marL="0">
              <a:buNone/>
            </a:pPr>
            <a:r>
              <a:rPr lang="en-US" sz="1100" b="1" spc="150" kern="0" dirty="0">
                <a:solidFill>
                  <a:schemeClr val="accent2"/>
                </a:solidFill>
              </a:rPr>
              <a:t>PRUEBAS POR TIPO</a:t>
            </a:r>
            <a:endParaRPr lang="en-US" sz="1100" dirty="0"/>
          </a:p>
        </p:txBody>
      </p:sp>
      <p:graphicFrame>
        <p:nvGraphicFramePr>
          <p:cNvPr id="5" name="Chart 0" descr=""/>
          <p:cNvGraphicFramePr/>
          <p:nvPr/>
        </p:nvGraphicFramePr>
        <p:xfrm>
          <a:off x="777240" y="1965960"/>
          <a:ext cx="6492240"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72400" y="1417320"/>
            <a:ext cx="3867912" cy="1417320"/>
          </a:xfrm>
          <a:prstGeom prst="roundRect">
            <a:avLst>
              <a:gd name="adj" fmla="val 7742"/>
            </a:avLst>
          </a:prstGeom>
          <a:solidFill>
            <a:schemeClr val="tx2"/>
          </a:solidFill>
          <a:ln/>
        </p:spPr>
      </p:sp>
      <p:sp>
        <p:nvSpPr>
          <p:cNvPr id="7" name="Text 4"/>
          <p:cNvSpPr txBox="1"/>
          <p:nvPr/>
        </p:nvSpPr>
        <p:spPr>
          <a:xfrm>
            <a:off x="8046720" y="1554480"/>
            <a:ext cx="3383280" cy="685800"/>
          </a:xfrm>
          <a:prstGeom prst="rect">
            <a:avLst/>
          </a:prstGeom>
          <a:noFill/>
          <a:ln/>
        </p:spPr>
        <p:txBody>
          <a:bodyPr wrap="square" lIns="0" tIns="0" rIns="0" bIns="0" rtlCol="0" anchor="ctr"/>
          <a:lstStyle/>
          <a:p>
            <a:pPr indent="0" marL="0">
              <a:buNone/>
            </a:pPr>
            <a:r>
              <a:rPr lang="en-US" sz="4000" b="1" dirty="0">
                <a:solidFill>
                  <a:schemeClr val="accent2"/>
                </a:solidFill>
              </a:rPr>
              <a:t>141</a:t>
            </a:r>
            <a:endParaRPr lang="en-US" sz="4000" dirty="0"/>
          </a:p>
        </p:txBody>
      </p:sp>
      <p:sp>
        <p:nvSpPr>
          <p:cNvPr id="8" name="Text 5"/>
          <p:cNvSpPr txBox="1"/>
          <p:nvPr/>
        </p:nvSpPr>
        <p:spPr>
          <a:xfrm>
            <a:off x="8046720" y="2240280"/>
            <a:ext cx="3383280" cy="502920"/>
          </a:xfrm>
          <a:prstGeom prst="rect">
            <a:avLst/>
          </a:prstGeom>
          <a:noFill/>
          <a:ln/>
        </p:spPr>
        <p:txBody>
          <a:bodyPr wrap="square" lIns="0" tIns="0" rIns="0" bIns="0" rtlCol="0" anchor="t"/>
          <a:lstStyle/>
          <a:p>
            <a:pPr indent="0" marL="0">
              <a:buNone/>
            </a:pPr>
            <a:r>
              <a:rPr lang="en-US" sz="1300" dirty="0">
                <a:solidFill>
                  <a:srgbClr val="E4E4E7"/>
                </a:solidFill>
              </a:rPr>
              <a:t>pruebas en total, todas en verde</a:t>
            </a:r>
            <a:endParaRPr lang="en-US" sz="1300" dirty="0"/>
          </a:p>
        </p:txBody>
      </p:sp>
      <p:sp>
        <p:nvSpPr>
          <p:cNvPr id="9" name="Shape 6"/>
          <p:cNvSpPr/>
          <p:nvPr/>
        </p:nvSpPr>
        <p:spPr>
          <a:xfrm>
            <a:off x="7772400" y="3017520"/>
            <a:ext cx="3867912" cy="1417320"/>
          </a:xfrm>
          <a:prstGeom prst="roundRect">
            <a:avLst>
              <a:gd name="adj" fmla="val 7742"/>
            </a:avLst>
          </a:prstGeom>
          <a:solidFill>
            <a:schemeClr val="tx2"/>
          </a:solidFill>
          <a:ln/>
        </p:spPr>
      </p:sp>
      <p:sp>
        <p:nvSpPr>
          <p:cNvPr id="10" name="Text 7"/>
          <p:cNvSpPr txBox="1"/>
          <p:nvPr/>
        </p:nvSpPr>
        <p:spPr>
          <a:xfrm>
            <a:off x="8046720" y="3154680"/>
            <a:ext cx="3383280" cy="685800"/>
          </a:xfrm>
          <a:prstGeom prst="rect">
            <a:avLst/>
          </a:prstGeom>
          <a:noFill/>
          <a:ln/>
        </p:spPr>
        <p:txBody>
          <a:bodyPr wrap="square" lIns="0" tIns="0" rIns="0" bIns="0" rtlCol="0" anchor="ctr"/>
          <a:lstStyle/>
          <a:p>
            <a:pPr indent="0" marL="0">
              <a:buNone/>
            </a:pPr>
            <a:r>
              <a:rPr lang="en-US" sz="4000" b="1" dirty="0">
                <a:solidFill>
                  <a:schemeClr val="accent2"/>
                </a:solidFill>
              </a:rPr>
              <a:t>9</a:t>
            </a:r>
            <a:endParaRPr lang="en-US" sz="4000" dirty="0"/>
          </a:p>
        </p:txBody>
      </p:sp>
      <p:sp>
        <p:nvSpPr>
          <p:cNvPr id="11" name="Text 8"/>
          <p:cNvSpPr txBox="1"/>
          <p:nvPr/>
        </p:nvSpPr>
        <p:spPr>
          <a:xfrm>
            <a:off x="8046720" y="3840480"/>
            <a:ext cx="3383280" cy="502920"/>
          </a:xfrm>
          <a:prstGeom prst="rect">
            <a:avLst/>
          </a:prstGeom>
          <a:noFill/>
          <a:ln/>
        </p:spPr>
        <p:txBody>
          <a:bodyPr wrap="square" lIns="0" tIns="0" rIns="0" bIns="0" rtlCol="0" anchor="t"/>
          <a:lstStyle/>
          <a:p>
            <a:pPr indent="0" marL="0">
              <a:buNone/>
            </a:pPr>
            <a:r>
              <a:rPr lang="en-US" sz="1300" dirty="0">
                <a:solidFill>
                  <a:srgbClr val="E4E4E7"/>
                </a:solidFill>
              </a:rPr>
              <a:t>proyectos con pruebas, incluida la demo</a:t>
            </a:r>
            <a:endParaRPr lang="en-US" sz="1300" dirty="0"/>
          </a:p>
        </p:txBody>
      </p:sp>
      <p:sp>
        <p:nvSpPr>
          <p:cNvPr id="12" name="Shape 9"/>
          <p:cNvSpPr/>
          <p:nvPr/>
        </p:nvSpPr>
        <p:spPr>
          <a:xfrm>
            <a:off x="7772400" y="4617720"/>
            <a:ext cx="3867912" cy="1417320"/>
          </a:xfrm>
          <a:prstGeom prst="roundRect">
            <a:avLst>
              <a:gd name="adj" fmla="val 7742"/>
            </a:avLst>
          </a:prstGeom>
          <a:solidFill>
            <a:schemeClr val="tx2"/>
          </a:solidFill>
          <a:ln/>
        </p:spPr>
      </p:sp>
      <p:sp>
        <p:nvSpPr>
          <p:cNvPr id="13" name="Text 10"/>
          <p:cNvSpPr txBox="1"/>
          <p:nvPr/>
        </p:nvSpPr>
        <p:spPr>
          <a:xfrm>
            <a:off x="8046720" y="4754880"/>
            <a:ext cx="3383280" cy="685800"/>
          </a:xfrm>
          <a:prstGeom prst="rect">
            <a:avLst/>
          </a:prstGeom>
          <a:noFill/>
          <a:ln/>
        </p:spPr>
        <p:txBody>
          <a:bodyPr wrap="square" lIns="0" tIns="0" rIns="0" bIns="0" rtlCol="0" anchor="ctr"/>
          <a:lstStyle/>
          <a:p>
            <a:pPr indent="0" marL="0">
              <a:buNone/>
            </a:pPr>
            <a:r>
              <a:rPr lang="en-US" sz="4000" b="1" dirty="0">
                <a:solidFill>
                  <a:schemeClr val="accent2"/>
                </a:solidFill>
              </a:rPr>
              <a:t>13</a:t>
            </a:r>
            <a:endParaRPr lang="en-US" sz="4000" dirty="0"/>
          </a:p>
        </p:txBody>
      </p:sp>
      <p:sp>
        <p:nvSpPr>
          <p:cNvPr id="14" name="Text 11"/>
          <p:cNvSpPr txBox="1"/>
          <p:nvPr/>
        </p:nvSpPr>
        <p:spPr>
          <a:xfrm>
            <a:off x="8046720" y="5440680"/>
            <a:ext cx="3383280" cy="502920"/>
          </a:xfrm>
          <a:prstGeom prst="rect">
            <a:avLst/>
          </a:prstGeom>
          <a:noFill/>
          <a:ln/>
        </p:spPr>
        <p:txBody>
          <a:bodyPr wrap="square" lIns="0" tIns="0" rIns="0" bIns="0" rtlCol="0" anchor="t"/>
          <a:lstStyle/>
          <a:p>
            <a:pPr indent="0" marL="0">
              <a:buNone/>
            </a:pPr>
            <a:r>
              <a:rPr lang="en-US" sz="1300" dirty="0">
                <a:solidFill>
                  <a:srgbClr val="E4E4E7"/>
                </a:solidFill>
              </a:rPr>
              <a:t>pruebas de Postman contra los 3 servicios levantados en el CI</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594360"/>
          </a:xfrm>
          <a:prstGeom prst="rect">
            <a:avLst/>
          </a:prstGeom>
          <a:noFill/>
          <a:ln/>
        </p:spPr>
        <p:txBody>
          <a:bodyPr wrap="square" lIns="0" tIns="0" rIns="0" bIns="0" rtlCol="0" anchor="ctr"/>
          <a:lstStyle/>
          <a:p>
            <a:pPr algn="l" indent="0" marL="0">
              <a:buNone/>
            </a:pPr>
            <a:r>
              <a:rPr lang="en-US" sz="2600" b="1" dirty="0">
                <a:solidFill>
                  <a:schemeClr val="bg1"/>
                </a:solidFill>
              </a:rPr>
              <a:t>Release: un tag publica la versión completa</a:t>
            </a:r>
            <a:endParaRPr lang="en-US" sz="2600" dirty="0"/>
          </a:p>
        </p:txBody>
      </p:sp>
      <p:sp>
        <p:nvSpPr>
          <p:cNvPr id="3" name="Shape 1"/>
          <p:cNvSpPr/>
          <p:nvPr/>
        </p:nvSpPr>
        <p:spPr>
          <a:xfrm>
            <a:off x="548640" y="365760"/>
            <a:ext cx="2103120" cy="347472"/>
          </a:xfrm>
          <a:prstGeom prst="roundRect">
            <a:avLst>
              <a:gd name="adj" fmla="val 50000"/>
            </a:avLst>
          </a:prstGeom>
          <a:solidFill>
            <a:srgbClr val="F472B6"/>
          </a:solidFill>
          <a:ln/>
        </p:spPr>
      </p:sp>
      <p:sp>
        <p:nvSpPr>
          <p:cNvPr id="4" name="Text 2"/>
          <p:cNvSpPr txBox="1"/>
          <p:nvPr/>
        </p:nvSpPr>
        <p:spPr>
          <a:xfrm>
            <a:off x="548640" y="365760"/>
            <a:ext cx="2103120" cy="347472"/>
          </a:xfrm>
          <a:prstGeom prst="rect">
            <a:avLst/>
          </a:prstGeom>
          <a:noFill/>
          <a:ln/>
        </p:spPr>
        <p:txBody>
          <a:bodyPr wrap="square" lIns="0" tIns="0" rIns="0" bIns="0" rtlCol="0" anchor="ctr"/>
          <a:lstStyle/>
          <a:p>
            <a:pPr algn="ctr" indent="0" marL="0">
              <a:buNone/>
            </a:pPr>
            <a:r>
              <a:rPr lang="en-US" sz="1200" b="1" spc="100" kern="0" dirty="0">
                <a:solidFill>
                  <a:schemeClr val="tx1"/>
                </a:solidFill>
              </a:rPr>
              <a:t>FASE 5 · RELEASE</a:t>
            </a:r>
            <a:endParaRPr lang="en-US" sz="1200" dirty="0"/>
          </a:p>
        </p:txBody>
      </p:sp>
      <p:sp>
        <p:nvSpPr>
          <p:cNvPr id="5" name="Shape 3"/>
          <p:cNvSpPr/>
          <p:nvPr/>
        </p:nvSpPr>
        <p:spPr>
          <a:xfrm>
            <a:off x="9720072" y="274320"/>
            <a:ext cx="548640" cy="548640"/>
          </a:xfrm>
          <a:prstGeom prst="roundRect">
            <a:avLst>
              <a:gd name="adj" fmla="val 16667"/>
            </a:avLst>
          </a:prstGeom>
          <a:solidFill>
            <a:schemeClr val="tx2"/>
          </a:solidFill>
          <a:ln/>
        </p:spPr>
      </p:sp>
      <p:pic>
        <p:nvPicPr>
          <p:cNvPr id="6" name="Image 0" descr="preencoded.png">    </p:cNvPr>
          <p:cNvPicPr>
            <a:picLocks noChangeAspect="1"/>
          </p:cNvPicPr>
          <p:nvPr/>
        </p:nvPicPr>
        <p:blipFill>
          <a:blip r:embed="rId1"/>
          <a:stretch>
            <a:fillRect/>
          </a:stretch>
        </p:blipFill>
        <p:spPr>
          <a:xfrm>
            <a:off x="9840773" y="395021"/>
            <a:ext cx="307238" cy="307238"/>
          </a:xfrm>
          <a:prstGeom prst="rect">
            <a:avLst/>
          </a:prstGeom>
        </p:spPr>
      </p:pic>
      <p:sp>
        <p:nvSpPr>
          <p:cNvPr id="7" name="Shape 4"/>
          <p:cNvSpPr/>
          <p:nvPr/>
        </p:nvSpPr>
        <p:spPr>
          <a:xfrm>
            <a:off x="10405872" y="274320"/>
            <a:ext cx="548640" cy="548640"/>
          </a:xfrm>
          <a:prstGeom prst="roundRect">
            <a:avLst>
              <a:gd name="adj" fmla="val 16667"/>
            </a:avLst>
          </a:prstGeom>
          <a:solidFill>
            <a:schemeClr val="tx2"/>
          </a:solidFill>
          <a:ln/>
        </p:spPr>
      </p:sp>
      <p:pic>
        <p:nvPicPr>
          <p:cNvPr id="8" name="Image 1" descr="preencoded.png">    </p:cNvPr>
          <p:cNvPicPr>
            <a:picLocks noChangeAspect="1"/>
          </p:cNvPicPr>
          <p:nvPr/>
        </p:nvPicPr>
        <p:blipFill>
          <a:blip r:embed="rId2"/>
          <a:stretch>
            <a:fillRect/>
          </a:stretch>
        </p:blipFill>
        <p:spPr>
          <a:xfrm>
            <a:off x="10526573" y="395021"/>
            <a:ext cx="307238" cy="307238"/>
          </a:xfrm>
          <a:prstGeom prst="rect">
            <a:avLst/>
          </a:prstGeom>
        </p:spPr>
      </p:pic>
      <p:sp>
        <p:nvSpPr>
          <p:cNvPr id="9" name="Shape 5"/>
          <p:cNvSpPr/>
          <p:nvPr/>
        </p:nvSpPr>
        <p:spPr>
          <a:xfrm>
            <a:off x="11091672" y="274320"/>
            <a:ext cx="548640" cy="548640"/>
          </a:xfrm>
          <a:prstGeom prst="roundRect">
            <a:avLst>
              <a:gd name="adj" fmla="val 16667"/>
            </a:avLst>
          </a:prstGeom>
          <a:solidFill>
            <a:schemeClr val="tx2"/>
          </a:solidFill>
          <a:ln/>
        </p:spPr>
      </p:sp>
      <p:pic>
        <p:nvPicPr>
          <p:cNvPr id="10" name="Image 2" descr="preencoded.png">    </p:cNvPr>
          <p:cNvPicPr>
            <a:picLocks noChangeAspect="1"/>
          </p:cNvPicPr>
          <p:nvPr/>
        </p:nvPicPr>
        <p:blipFill>
          <a:blip r:embed="rId3"/>
          <a:stretch>
            <a:fillRect/>
          </a:stretch>
        </p:blipFill>
        <p:spPr>
          <a:xfrm>
            <a:off x="11212373" y="395021"/>
            <a:ext cx="307238" cy="307238"/>
          </a:xfrm>
          <a:prstGeom prst="rect">
            <a:avLst/>
          </a:prstGeom>
        </p:spPr>
      </p:pic>
      <p:sp>
        <p:nvSpPr>
          <p:cNvPr id="11" name="Text 6"/>
          <p:cNvSpPr txBox="1"/>
          <p:nvPr/>
        </p:nvSpPr>
        <p:spPr>
          <a:xfrm>
            <a:off x="548640" y="1600200"/>
            <a:ext cx="6309360" cy="228600"/>
          </a:xfrm>
          <a:prstGeom prst="rect">
            <a:avLst/>
          </a:prstGeom>
          <a:noFill/>
          <a:ln/>
        </p:spPr>
        <p:txBody>
          <a:bodyPr wrap="square" lIns="0" tIns="0" rIns="0" bIns="0" rtlCol="0" anchor="ctr"/>
          <a:lstStyle/>
          <a:p>
            <a:pPr indent="0" marL="0">
              <a:buNone/>
            </a:pPr>
            <a:r>
              <a:rPr lang="en-US" sz="1100" b="1" spc="150" kern="0" dirty="0">
                <a:solidFill>
                  <a:srgbClr val="F472B6"/>
                </a:solidFill>
              </a:rPr>
              <a:t>HERRAMIENTA</a:t>
            </a:r>
            <a:endParaRPr lang="en-US" sz="1100" dirty="0"/>
          </a:p>
        </p:txBody>
      </p:sp>
      <p:sp>
        <p:nvSpPr>
          <p:cNvPr id="12" name="Text 7"/>
          <p:cNvSpPr txBox="1"/>
          <p:nvPr/>
        </p:nvSpPr>
        <p:spPr>
          <a:xfrm>
            <a:off x="548640" y="1828800"/>
            <a:ext cx="6309360" cy="502920"/>
          </a:xfrm>
          <a:prstGeom prst="rect">
            <a:avLst/>
          </a:prstGeom>
          <a:noFill/>
          <a:ln/>
        </p:spPr>
        <p:txBody>
          <a:bodyPr wrap="square" lIns="0" tIns="0" rIns="0" bIns="0" rtlCol="0" anchor="t"/>
          <a:lstStyle/>
          <a:p>
            <a:pPr indent="0" marL="0">
              <a:buNone/>
            </a:pPr>
            <a:r>
              <a:rPr lang="en-US" sz="1500" b="1" dirty="0">
                <a:solidFill>
                  <a:schemeClr val="bg1"/>
                </a:solidFill>
              </a:rPr>
              <a:t>Versionado semántico (SemVer), GitHub Releases y GitHub Container Registry (GHCR)</a:t>
            </a:r>
            <a:endParaRPr lang="en-US" sz="1500" dirty="0"/>
          </a:p>
        </p:txBody>
      </p:sp>
      <p:sp>
        <p:nvSpPr>
          <p:cNvPr id="13" name="Text 8"/>
          <p:cNvSpPr txBox="1"/>
          <p:nvPr/>
        </p:nvSpPr>
        <p:spPr>
          <a:xfrm>
            <a:off x="548640" y="2514600"/>
            <a:ext cx="6309360" cy="228600"/>
          </a:xfrm>
          <a:prstGeom prst="rect">
            <a:avLst/>
          </a:prstGeom>
          <a:noFill/>
          <a:ln/>
        </p:spPr>
        <p:txBody>
          <a:bodyPr wrap="square" lIns="0" tIns="0" rIns="0" bIns="0" rtlCol="0" anchor="ctr"/>
          <a:lstStyle/>
          <a:p>
            <a:pPr indent="0" marL="0">
              <a:buNone/>
            </a:pPr>
            <a:r>
              <a:rPr lang="en-US" sz="1100" b="1" spc="150" kern="0" dirty="0">
                <a:solidFill>
                  <a:srgbClr val="F472B6"/>
                </a:solidFill>
              </a:rPr>
              <a:t>INSTALACIÓN</a:t>
            </a:r>
            <a:endParaRPr lang="en-US" sz="1100" dirty="0"/>
          </a:p>
        </p:txBody>
      </p:sp>
      <p:sp>
        <p:nvSpPr>
          <p:cNvPr id="14" name="Text 9"/>
          <p:cNvSpPr txBox="1"/>
          <p:nvPr/>
        </p:nvSpPr>
        <p:spPr>
          <a:xfrm>
            <a:off x="548640" y="2743200"/>
            <a:ext cx="6309360" cy="685800"/>
          </a:xfrm>
          <a:prstGeom prst="rect">
            <a:avLst/>
          </a:prstGeom>
          <a:noFill/>
          <a:ln/>
        </p:spPr>
        <p:txBody>
          <a:bodyPr wrap="square" lIns="0" tIns="0" rIns="0" bIns="0" rtlCol="0" anchor="t"/>
          <a:lstStyle/>
          <a:p>
            <a:pPr indent="0" marL="0">
              <a:buNone/>
            </a:pPr>
            <a:r>
              <a:rPr lang="en-US" sz="1400" dirty="0">
                <a:solidFill>
                  <a:srgbClr val="E4E4E7"/>
                </a:solidFill>
              </a:rPr>
              <a:t>Nada que instalar: Releases y GHCR vienen con GitHub, y el workflow usa el GITHUB_TOKEN automático (sin secretos).</a:t>
            </a:r>
            <a:endParaRPr lang="en-US" sz="1400" dirty="0"/>
          </a:p>
        </p:txBody>
      </p:sp>
      <p:sp>
        <p:nvSpPr>
          <p:cNvPr id="15" name="Text 10"/>
          <p:cNvSpPr txBox="1"/>
          <p:nvPr/>
        </p:nvSpPr>
        <p:spPr>
          <a:xfrm>
            <a:off x="548640" y="3520440"/>
            <a:ext cx="6309360" cy="228600"/>
          </a:xfrm>
          <a:prstGeom prst="rect">
            <a:avLst/>
          </a:prstGeom>
          <a:noFill/>
          <a:ln/>
        </p:spPr>
        <p:txBody>
          <a:bodyPr wrap="square" lIns="0" tIns="0" rIns="0" bIns="0" rtlCol="0" anchor="ctr"/>
          <a:lstStyle/>
          <a:p>
            <a:pPr indent="0" marL="0">
              <a:buNone/>
            </a:pPr>
            <a:r>
              <a:rPr lang="en-US" sz="1100" b="1" spc="150" kern="0" dirty="0">
                <a:solidFill>
                  <a:srgbClr val="F472B6"/>
                </a:solidFill>
              </a:rPr>
              <a:t>CONFIGURACIÓN</a:t>
            </a:r>
            <a:endParaRPr lang="en-US" sz="1100" dirty="0"/>
          </a:p>
        </p:txBody>
      </p:sp>
      <p:sp>
        <p:nvSpPr>
          <p:cNvPr id="16" name="terminal"/>
          <p:cNvSpPr/>
          <p:nvPr/>
        </p:nvSpPr>
        <p:spPr>
          <a:xfrm>
            <a:off x="548640" y="3794760"/>
            <a:ext cx="6309360" cy="2423160"/>
          </a:xfrm>
          <a:prstGeom prst="roundRect">
            <a:avLst>
              <a:gd name="adj" fmla="val 3019"/>
            </a:avLst>
          </a:prstGeom>
          <a:solidFill>
            <a:srgbClr val="0D1117"/>
          </a:solidFill>
          <a:ln w="12700">
            <a:solidFill>
              <a:srgbClr val="30363D"/>
            </a:solidFill>
            <a:prstDash val="solid"/>
          </a:ln>
        </p:spPr>
      </p:sp>
      <p:sp>
        <p:nvSpPr>
          <p:cNvPr id="17" name="Shape 12"/>
          <p:cNvSpPr/>
          <p:nvPr/>
        </p:nvSpPr>
        <p:spPr>
          <a:xfrm>
            <a:off x="557784" y="3803904"/>
            <a:ext cx="6291072" cy="310896"/>
          </a:xfrm>
          <a:prstGeom prst="roundRect">
            <a:avLst>
              <a:gd name="adj" fmla="val 23529"/>
            </a:avLst>
          </a:prstGeom>
          <a:solidFill>
            <a:srgbClr val="161B22"/>
          </a:solidFill>
          <a:ln/>
        </p:spPr>
      </p:sp>
      <p:sp>
        <p:nvSpPr>
          <p:cNvPr id="18" name="Shape 13"/>
          <p:cNvSpPr/>
          <p:nvPr/>
        </p:nvSpPr>
        <p:spPr>
          <a:xfrm>
            <a:off x="557784" y="3950208"/>
            <a:ext cx="6291072" cy="164592"/>
          </a:xfrm>
          <a:prstGeom prst="rect">
            <a:avLst/>
          </a:prstGeom>
          <a:solidFill>
            <a:srgbClr val="161B22"/>
          </a:solidFill>
          <a:ln/>
        </p:spPr>
      </p:sp>
      <p:sp>
        <p:nvSpPr>
          <p:cNvPr id="19" name="Shape 14"/>
          <p:cNvSpPr/>
          <p:nvPr/>
        </p:nvSpPr>
        <p:spPr>
          <a:xfrm>
            <a:off x="548640" y="4114800"/>
            <a:ext cx="6309360" cy="0"/>
          </a:xfrm>
          <a:prstGeom prst="line">
            <a:avLst/>
          </a:prstGeom>
          <a:noFill/>
          <a:ln w="9525">
            <a:solidFill>
              <a:srgbClr val="30363D"/>
            </a:solidFill>
            <a:prstDash val="solid"/>
          </a:ln>
        </p:spPr>
      </p:sp>
      <p:sp>
        <p:nvSpPr>
          <p:cNvPr id="20" name="Shape 15"/>
          <p:cNvSpPr/>
          <p:nvPr/>
        </p:nvSpPr>
        <p:spPr>
          <a:xfrm>
            <a:off x="694944" y="3909060"/>
            <a:ext cx="100584" cy="100584"/>
          </a:xfrm>
          <a:prstGeom prst="ellipse">
            <a:avLst/>
          </a:prstGeom>
          <a:solidFill>
            <a:srgbClr val="FF5F56"/>
          </a:solidFill>
          <a:ln/>
        </p:spPr>
      </p:sp>
      <p:sp>
        <p:nvSpPr>
          <p:cNvPr id="21" name="Shape 16"/>
          <p:cNvSpPr/>
          <p:nvPr/>
        </p:nvSpPr>
        <p:spPr>
          <a:xfrm>
            <a:off x="850392" y="3909060"/>
            <a:ext cx="100584" cy="100584"/>
          </a:xfrm>
          <a:prstGeom prst="ellipse">
            <a:avLst/>
          </a:prstGeom>
          <a:solidFill>
            <a:srgbClr val="FFBD2E"/>
          </a:solidFill>
          <a:ln/>
        </p:spPr>
      </p:sp>
      <p:sp>
        <p:nvSpPr>
          <p:cNvPr id="22" name="Shape 17"/>
          <p:cNvSpPr/>
          <p:nvPr/>
        </p:nvSpPr>
        <p:spPr>
          <a:xfrm>
            <a:off x="1005840" y="3909060"/>
            <a:ext cx="100584" cy="100584"/>
          </a:xfrm>
          <a:prstGeom prst="ellipse">
            <a:avLst/>
          </a:prstGeom>
          <a:solidFill>
            <a:srgbClr val="27C93F"/>
          </a:solidFill>
          <a:ln/>
        </p:spPr>
      </p:sp>
      <p:sp>
        <p:nvSpPr>
          <p:cNvPr id="23" name="Text 18"/>
          <p:cNvSpPr txBox="1"/>
          <p:nvPr/>
        </p:nvSpPr>
        <p:spPr>
          <a:xfrm>
            <a:off x="1234440" y="3803904"/>
            <a:ext cx="5486400" cy="310896"/>
          </a:xfrm>
          <a:prstGeom prst="rect">
            <a:avLst/>
          </a:prstGeom>
          <a:noFill/>
          <a:ln/>
        </p:spPr>
        <p:txBody>
          <a:bodyPr wrap="square" lIns="0" tIns="0" rIns="0" bIns="0"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bash — terminal</a:t>
            </a:r>
            <a:endParaRPr lang="en-US" sz="1000" dirty="0"/>
          </a:p>
        </p:txBody>
      </p:sp>
      <p:sp>
        <p:nvSpPr>
          <p:cNvPr id="24" name="codigo"/>
          <p:cNvSpPr txBox="1"/>
          <p:nvPr/>
        </p:nvSpPr>
        <p:spPr>
          <a:xfrm>
            <a:off x="713232" y="4215384"/>
            <a:ext cx="6035040" cy="1929384"/>
          </a:xfrm>
          <a:prstGeom prst="rect">
            <a:avLst/>
          </a:prstGeom>
          <a:noFill/>
          <a:ln/>
        </p:spPr>
        <p:txBody>
          <a:bodyPr wrap="square" lIns="0" tIns="0" rIns="0" bIns="0" rtlCol="0" anchor="t"/>
          <a:lstStyle/>
          <a:p>
            <a:pPr indent="0" marL="0">
              <a:buNone/>
            </a:pPr>
            <a:r>
              <a:rPr lang="en-US" sz="1100" dirty="0">
                <a:solidFill>
                  <a:srgbClr val="8B949E"/>
                </a:solidFill>
                <a:latin typeface="Courier New" pitchFamily="34" charset="0"/>
                <a:ea typeface="Courier New" pitchFamily="34" charset="-122"/>
                <a:cs typeface="Courier New" pitchFamily="34" charset="-120"/>
              </a:rPr>
              <a:t># 1. Misma versión en todo el monorepo</a:t>
            </a:r>
            <a:endParaRPr lang="en-US" sz="1100" dirty="0"/>
          </a:p>
          <a:p>
            <a:pPr indent="0" marL="0">
              <a:buNone/>
            </a:pPr>
            <a:r>
              <a:rPr lang="en-US" sz="1100" dirty="0">
                <a:solidFill>
                  <a:srgbClr val="3FB950"/>
                </a:solidFill>
                <a:latin typeface="Courier New" pitchFamily="34" charset="0"/>
                <a:ea typeface="Courier New" pitchFamily="34" charset="-122"/>
                <a:cs typeface="Courier New" pitchFamily="34" charset="-120"/>
              </a:rPr>
              <a:t>$ </a:t>
            </a:r>
            <a:pPr indent="0" marL="0">
              <a:buNone/>
            </a:pPr>
            <a:r>
              <a:rPr lang="en-US" sz="1100" dirty="0">
                <a:solidFill>
                  <a:srgbClr val="D2A8FF"/>
                </a:solidFill>
                <a:latin typeface="Courier New" pitchFamily="34" charset="0"/>
                <a:ea typeface="Courier New" pitchFamily="34" charset="-122"/>
                <a:cs typeface="Courier New" pitchFamily="34" charset="-120"/>
              </a:rPr>
              <a:t>bun</a:t>
            </a:r>
            <a:pPr indent="0" marL="0">
              <a:buNone/>
            </a:pPr>
            <a:r>
              <a:rPr lang="en-US" sz="1100" dirty="0">
                <a:solidFill>
                  <a:srgbClr val="E6EDF3"/>
                </a:solidFill>
                <a:latin typeface="Courier New" pitchFamily="34" charset="0"/>
                <a:ea typeface="Courier New" pitchFamily="34" charset="-122"/>
                <a:cs typeface="Courier New" pitchFamily="34" charset="-120"/>
              </a:rPr>
              <a:t> run release:version 2.1.0</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8B949E"/>
                </a:solidFill>
                <a:latin typeface="Courier New" pitchFamily="34" charset="0"/>
                <a:ea typeface="Courier New" pitchFamily="34" charset="-122"/>
                <a:cs typeface="Courier New" pitchFamily="34" charset="-120"/>
              </a:rPr>
              <a:t># 2. Notas de la versión en CHANGELOG.md</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8B949E"/>
                </a:solidFill>
                <a:latin typeface="Courier New" pitchFamily="34" charset="0"/>
                <a:ea typeface="Courier New" pitchFamily="34" charset="-122"/>
                <a:cs typeface="Courier New" pitchFamily="34" charset="-120"/>
              </a:rPr>
              <a:t># 3. Commit + tag SemVer</a:t>
            </a:r>
            <a:endParaRPr lang="en-US" sz="1100" dirty="0"/>
          </a:p>
          <a:p>
            <a:pPr indent="0" marL="0">
              <a:buNone/>
            </a:pPr>
            <a:r>
              <a:rPr lang="en-US" sz="1100" dirty="0">
                <a:solidFill>
                  <a:srgbClr val="3FB950"/>
                </a:solidFill>
                <a:latin typeface="Courier New" pitchFamily="34" charset="0"/>
                <a:ea typeface="Courier New" pitchFamily="34" charset="-122"/>
                <a:cs typeface="Courier New" pitchFamily="34" charset="-120"/>
              </a:rPr>
              <a:t>$ </a:t>
            </a:r>
            <a:pPr indent="0" marL="0">
              <a:buNone/>
            </a:pPr>
            <a:r>
              <a:rPr lang="en-US" sz="1100" dirty="0">
                <a:solidFill>
                  <a:srgbClr val="D2A8FF"/>
                </a:solidFill>
                <a:latin typeface="Courier New" pitchFamily="34" charset="0"/>
                <a:ea typeface="Courier New" pitchFamily="34" charset="-122"/>
                <a:cs typeface="Courier New" pitchFamily="34" charset="-120"/>
              </a:rPr>
              <a:t>git</a:t>
            </a:r>
            <a:pPr indent="0" marL="0">
              <a:buNone/>
            </a:pPr>
            <a:r>
              <a:rPr lang="en-US" sz="1100" dirty="0">
                <a:solidFill>
                  <a:srgbClr val="E6EDF3"/>
                </a:solidFill>
                <a:latin typeface="Courier New" pitchFamily="34" charset="0"/>
                <a:ea typeface="Courier New" pitchFamily="34" charset="-122"/>
                <a:cs typeface="Courier New" pitchFamily="34" charset="-120"/>
              </a:rPr>
              <a:t> commit </a:t>
            </a:r>
            <a:pPr indent="0" marL="0">
              <a:buNone/>
            </a:pPr>
            <a:r>
              <a:rPr lang="en-US" sz="1100" dirty="0">
                <a:solidFill>
                  <a:srgbClr val="79C0FF"/>
                </a:solidFill>
                <a:latin typeface="Courier New" pitchFamily="34" charset="0"/>
                <a:ea typeface="Courier New" pitchFamily="34" charset="-122"/>
                <a:cs typeface="Courier New" pitchFamily="34" charset="-120"/>
              </a:rPr>
              <a:t>-am</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"release: v2.1.0"</a:t>
            </a:r>
            <a:endParaRPr lang="en-US" sz="1100" dirty="0"/>
          </a:p>
          <a:p>
            <a:pPr indent="0" marL="0">
              <a:buNone/>
            </a:pPr>
            <a:r>
              <a:rPr lang="en-US" sz="1100" dirty="0">
                <a:solidFill>
                  <a:srgbClr val="3FB950"/>
                </a:solidFill>
                <a:latin typeface="Courier New" pitchFamily="34" charset="0"/>
                <a:ea typeface="Courier New" pitchFamily="34" charset="-122"/>
                <a:cs typeface="Courier New" pitchFamily="34" charset="-120"/>
              </a:rPr>
              <a:t>$ </a:t>
            </a:r>
            <a:pPr indent="0" marL="0">
              <a:buNone/>
            </a:pPr>
            <a:r>
              <a:rPr lang="en-US" sz="1100" dirty="0">
                <a:solidFill>
                  <a:srgbClr val="D2A8FF"/>
                </a:solidFill>
                <a:latin typeface="Courier New" pitchFamily="34" charset="0"/>
                <a:ea typeface="Courier New" pitchFamily="34" charset="-122"/>
                <a:cs typeface="Courier New" pitchFamily="34" charset="-120"/>
              </a:rPr>
              <a:t>git</a:t>
            </a:r>
            <a:pPr indent="0" marL="0">
              <a:buNone/>
            </a:pPr>
            <a:r>
              <a:rPr lang="en-US" sz="1100" dirty="0">
                <a:solidFill>
                  <a:srgbClr val="E6EDF3"/>
                </a:solidFill>
                <a:latin typeface="Courier New" pitchFamily="34" charset="0"/>
                <a:ea typeface="Courier New" pitchFamily="34" charset="-122"/>
                <a:cs typeface="Courier New" pitchFamily="34" charset="-120"/>
              </a:rPr>
              <a:t> tag v2.1.0</a:t>
            </a:r>
            <a:endParaRPr lang="en-US" sz="1100" dirty="0"/>
          </a:p>
          <a:p>
            <a:pPr indent="0" marL="0">
              <a:buNone/>
            </a:pPr>
            <a:r>
              <a:rPr lang="en-US" sz="1100" dirty="0">
                <a:solidFill>
                  <a:srgbClr val="3FB950"/>
                </a:solidFill>
                <a:latin typeface="Courier New" pitchFamily="34" charset="0"/>
                <a:ea typeface="Courier New" pitchFamily="34" charset="-122"/>
                <a:cs typeface="Courier New" pitchFamily="34" charset="-120"/>
              </a:rPr>
              <a:t>$ </a:t>
            </a:r>
            <a:pPr indent="0" marL="0">
              <a:buNone/>
            </a:pPr>
            <a:r>
              <a:rPr lang="en-US" sz="1100" dirty="0">
                <a:solidFill>
                  <a:srgbClr val="D2A8FF"/>
                </a:solidFill>
                <a:latin typeface="Courier New" pitchFamily="34" charset="0"/>
                <a:ea typeface="Courier New" pitchFamily="34" charset="-122"/>
                <a:cs typeface="Courier New" pitchFamily="34" charset="-120"/>
              </a:rPr>
              <a:t>git</a:t>
            </a:r>
            <a:pPr indent="0" marL="0">
              <a:buNone/>
            </a:pPr>
            <a:r>
              <a:rPr lang="en-US" sz="1100" dirty="0">
                <a:solidFill>
                  <a:srgbClr val="E6EDF3"/>
                </a:solidFill>
                <a:latin typeface="Courier New" pitchFamily="34" charset="0"/>
                <a:ea typeface="Courier New" pitchFamily="34" charset="-122"/>
                <a:cs typeface="Courier New" pitchFamily="34" charset="-120"/>
              </a:rPr>
              <a:t> push </a:t>
            </a:r>
            <a:pPr indent="0" marL="0">
              <a:buNone/>
            </a:pPr>
            <a:r>
              <a:rPr lang="en-US" sz="1100" dirty="0">
                <a:solidFill>
                  <a:srgbClr val="79C0FF"/>
                </a:solidFill>
                <a:latin typeface="Courier New" pitchFamily="34" charset="0"/>
                <a:ea typeface="Courier New" pitchFamily="34" charset="-122"/>
                <a:cs typeface="Courier New" pitchFamily="34" charset="-120"/>
              </a:rPr>
              <a:t>--follow-tags</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8B949E"/>
                </a:solidFill>
                <a:latin typeface="Courier New" pitchFamily="34" charset="0"/>
                <a:ea typeface="Courier New" pitchFamily="34" charset="-122"/>
                <a:cs typeface="Courier New" pitchFamily="34" charset="-120"/>
              </a:rPr>
              <a:t># → release.yml: CI → imagen GHCR → GitHub Release</a:t>
            </a:r>
            <a:endParaRPr lang="en-US" sz="1100" dirty="0"/>
          </a:p>
        </p:txBody>
      </p:sp>
      <p:sp>
        <p:nvSpPr>
          <p:cNvPr id="25" name="Shape 20"/>
          <p:cNvSpPr/>
          <p:nvPr/>
        </p:nvSpPr>
        <p:spPr>
          <a:xfrm>
            <a:off x="7132320" y="1600200"/>
            <a:ext cx="4507992" cy="2606040"/>
          </a:xfrm>
          <a:prstGeom prst="roundRect">
            <a:avLst>
              <a:gd name="adj" fmla="val 4211"/>
            </a:avLst>
          </a:prstGeom>
          <a:solidFill>
            <a:schemeClr val="tx2"/>
          </a:solidFill>
          <a:ln/>
        </p:spPr>
      </p:sp>
      <p:pic>
        <p:nvPicPr>
          <p:cNvPr id="26" name="Image 3" descr="preencoded.png">    </p:cNvPr>
          <p:cNvPicPr>
            <a:picLocks noChangeAspect="1"/>
          </p:cNvPicPr>
          <p:nvPr/>
        </p:nvPicPr>
        <p:blipFill>
          <a:blip r:embed="rId4"/>
          <a:stretch>
            <a:fillRect/>
          </a:stretch>
        </p:blipFill>
        <p:spPr>
          <a:xfrm>
            <a:off x="7360920" y="1783080"/>
            <a:ext cx="256032" cy="256032"/>
          </a:xfrm>
          <a:prstGeom prst="rect">
            <a:avLst/>
          </a:prstGeom>
        </p:spPr>
      </p:pic>
      <p:sp>
        <p:nvSpPr>
          <p:cNvPr id="27" name="Text 21"/>
          <p:cNvSpPr txBox="1"/>
          <p:nvPr/>
        </p:nvSpPr>
        <p:spPr>
          <a:xfrm>
            <a:off x="7726680" y="1801368"/>
            <a:ext cx="3200400" cy="228600"/>
          </a:xfrm>
          <a:prstGeom prst="rect">
            <a:avLst/>
          </a:prstGeom>
          <a:noFill/>
          <a:ln/>
        </p:spPr>
        <p:txBody>
          <a:bodyPr wrap="square" lIns="0" tIns="0" rIns="0" bIns="0" rtlCol="0" anchor="ctr"/>
          <a:lstStyle/>
          <a:p>
            <a:pPr indent="0" marL="0">
              <a:buNone/>
            </a:pPr>
            <a:r>
              <a:rPr lang="en-US" sz="1100" b="1" spc="150" kern="0" dirty="0">
                <a:solidFill>
                  <a:srgbClr val="F472B6"/>
                </a:solidFill>
              </a:rPr>
              <a:t>DEMO EN VIVO</a:t>
            </a:r>
            <a:endParaRPr lang="en-US" sz="1100" dirty="0"/>
          </a:p>
        </p:txBody>
      </p:sp>
      <p:sp>
        <p:nvSpPr>
          <p:cNvPr id="28" name="Shape 22"/>
          <p:cNvSpPr/>
          <p:nvPr/>
        </p:nvSpPr>
        <p:spPr>
          <a:xfrm>
            <a:off x="7360920" y="2240280"/>
            <a:ext cx="292608" cy="292608"/>
          </a:xfrm>
          <a:prstGeom prst="ellipse">
            <a:avLst/>
          </a:prstGeom>
          <a:solidFill>
            <a:srgbClr val="F472B6"/>
          </a:solidFill>
          <a:ln/>
        </p:spPr>
      </p:sp>
      <p:sp>
        <p:nvSpPr>
          <p:cNvPr id="29" name="Text 23"/>
          <p:cNvSpPr txBox="1"/>
          <p:nvPr/>
        </p:nvSpPr>
        <p:spPr>
          <a:xfrm>
            <a:off x="7360920" y="2240280"/>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30" name="Text 24"/>
          <p:cNvSpPr txBox="1"/>
          <p:nvPr/>
        </p:nvSpPr>
        <p:spPr>
          <a:xfrm>
            <a:off x="7790688" y="2212848"/>
            <a:ext cx="3657600" cy="475488"/>
          </a:xfrm>
          <a:prstGeom prst="rect">
            <a:avLst/>
          </a:prstGeom>
          <a:noFill/>
          <a:ln/>
        </p:spPr>
        <p:txBody>
          <a:bodyPr wrap="square" lIns="0" tIns="0" rIns="0" bIns="0" rtlCol="0" anchor="t"/>
          <a:lstStyle/>
          <a:p>
            <a:pPr indent="0" marL="0">
              <a:buNone/>
            </a:pPr>
            <a:r>
              <a:rPr lang="en-US" sz="1300" dirty="0">
                <a:solidFill>
                  <a:schemeClr val="bg1"/>
                </a:solidFill>
              </a:rPr>
              <a:t>Push del tag v2.1.0</a:t>
            </a:r>
            <a:endParaRPr lang="en-US" sz="1300" dirty="0"/>
          </a:p>
        </p:txBody>
      </p:sp>
      <p:sp>
        <p:nvSpPr>
          <p:cNvPr id="31" name="Shape 25"/>
          <p:cNvSpPr/>
          <p:nvPr/>
        </p:nvSpPr>
        <p:spPr>
          <a:xfrm>
            <a:off x="7360920" y="2724912"/>
            <a:ext cx="292608" cy="292608"/>
          </a:xfrm>
          <a:prstGeom prst="ellipse">
            <a:avLst/>
          </a:prstGeom>
          <a:solidFill>
            <a:srgbClr val="F472B6"/>
          </a:solidFill>
          <a:ln/>
        </p:spPr>
      </p:sp>
      <p:sp>
        <p:nvSpPr>
          <p:cNvPr id="32" name="Text 26"/>
          <p:cNvSpPr txBox="1"/>
          <p:nvPr/>
        </p:nvSpPr>
        <p:spPr>
          <a:xfrm>
            <a:off x="7360920" y="2724912"/>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33" name="Text 27"/>
          <p:cNvSpPr txBox="1"/>
          <p:nvPr/>
        </p:nvSpPr>
        <p:spPr>
          <a:xfrm>
            <a:off x="7790688" y="2697480"/>
            <a:ext cx="3657600" cy="475488"/>
          </a:xfrm>
          <a:prstGeom prst="rect">
            <a:avLst/>
          </a:prstGeom>
          <a:noFill/>
          <a:ln/>
        </p:spPr>
        <p:txBody>
          <a:bodyPr wrap="square" lIns="0" tIns="0" rIns="0" bIns="0" rtlCol="0" anchor="t"/>
          <a:lstStyle/>
          <a:p>
            <a:pPr indent="0" marL="0">
              <a:buNone/>
            </a:pPr>
            <a:r>
              <a:rPr lang="en-US" sz="1300" dirty="0">
                <a:solidFill>
                  <a:schemeClr val="bg1"/>
                </a:solidFill>
              </a:rPr>
              <a:t>Actions corre release.yml (repite el CI)</a:t>
            </a:r>
            <a:endParaRPr lang="en-US" sz="1300" dirty="0"/>
          </a:p>
        </p:txBody>
      </p:sp>
      <p:sp>
        <p:nvSpPr>
          <p:cNvPr id="34" name="Shape 28"/>
          <p:cNvSpPr/>
          <p:nvPr/>
        </p:nvSpPr>
        <p:spPr>
          <a:xfrm>
            <a:off x="7360920" y="3209544"/>
            <a:ext cx="292608" cy="292608"/>
          </a:xfrm>
          <a:prstGeom prst="ellipse">
            <a:avLst/>
          </a:prstGeom>
          <a:solidFill>
            <a:srgbClr val="F472B6"/>
          </a:solidFill>
          <a:ln/>
        </p:spPr>
      </p:sp>
      <p:sp>
        <p:nvSpPr>
          <p:cNvPr id="35" name="Text 29"/>
          <p:cNvSpPr txBox="1"/>
          <p:nvPr/>
        </p:nvSpPr>
        <p:spPr>
          <a:xfrm>
            <a:off x="7360920" y="3209544"/>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36" name="Text 30"/>
          <p:cNvSpPr txBox="1"/>
          <p:nvPr/>
        </p:nvSpPr>
        <p:spPr>
          <a:xfrm>
            <a:off x="7790688" y="3182112"/>
            <a:ext cx="3657600" cy="475488"/>
          </a:xfrm>
          <a:prstGeom prst="rect">
            <a:avLst/>
          </a:prstGeom>
          <a:noFill/>
          <a:ln/>
        </p:spPr>
        <p:txBody>
          <a:bodyPr wrap="square" lIns="0" tIns="0" rIns="0" bIns="0" rtlCol="0" anchor="t"/>
          <a:lstStyle/>
          <a:p>
            <a:pPr indent="0" marL="0">
              <a:buNone/>
            </a:pPr>
            <a:r>
              <a:rPr lang="en-US" sz="1300" dirty="0">
                <a:solidFill>
                  <a:schemeClr val="bg1"/>
                </a:solidFill>
              </a:rPr>
              <a:t>Releases: v2.1.0 con el .zip de la extensión</a:t>
            </a:r>
            <a:endParaRPr lang="en-US" sz="1300" dirty="0"/>
          </a:p>
        </p:txBody>
      </p:sp>
      <p:sp>
        <p:nvSpPr>
          <p:cNvPr id="37" name="Shape 31"/>
          <p:cNvSpPr/>
          <p:nvPr/>
        </p:nvSpPr>
        <p:spPr>
          <a:xfrm>
            <a:off x="7360920" y="3694176"/>
            <a:ext cx="292608" cy="292608"/>
          </a:xfrm>
          <a:prstGeom prst="ellipse">
            <a:avLst/>
          </a:prstGeom>
          <a:solidFill>
            <a:srgbClr val="F472B6"/>
          </a:solidFill>
          <a:ln/>
        </p:spPr>
      </p:sp>
      <p:sp>
        <p:nvSpPr>
          <p:cNvPr id="38" name="Text 32"/>
          <p:cNvSpPr txBox="1"/>
          <p:nvPr/>
        </p:nvSpPr>
        <p:spPr>
          <a:xfrm>
            <a:off x="7360920" y="3694176"/>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39" name="Text 33"/>
          <p:cNvSpPr txBox="1"/>
          <p:nvPr/>
        </p:nvSpPr>
        <p:spPr>
          <a:xfrm>
            <a:off x="7790688" y="3666744"/>
            <a:ext cx="3657600" cy="475488"/>
          </a:xfrm>
          <a:prstGeom prst="rect">
            <a:avLst/>
          </a:prstGeom>
          <a:noFill/>
          <a:ln/>
        </p:spPr>
        <p:txBody>
          <a:bodyPr wrap="square" lIns="0" tIns="0" rIns="0" bIns="0" rtlCol="0" anchor="t"/>
          <a:lstStyle/>
          <a:p>
            <a:pPr indent="0" marL="0">
              <a:buNone/>
            </a:pPr>
            <a:r>
              <a:rPr lang="en-US" sz="1300" dirty="0">
                <a:solidFill>
                  <a:schemeClr val="bg1"/>
                </a:solidFill>
              </a:rPr>
              <a:t>Packages: imagen 2.1.0, 2.1 y latest</a:t>
            </a:r>
            <a:endParaRPr lang="en-US" sz="1300" dirty="0"/>
          </a:p>
        </p:txBody>
      </p:sp>
      <p:sp>
        <p:nvSpPr>
          <p:cNvPr id="40" name="captura"/>
          <p:cNvSpPr/>
          <p:nvPr/>
        </p:nvSpPr>
        <p:spPr>
          <a:xfrm>
            <a:off x="7132320" y="4389120"/>
            <a:ext cx="4507992" cy="1828800"/>
          </a:xfrm>
          <a:prstGeom prst="roundRect">
            <a:avLst>
              <a:gd name="adj" fmla="val 6000"/>
            </a:avLst>
          </a:prstGeom>
          <a:solidFill>
            <a:schemeClr val="tx1"/>
          </a:solidFill>
          <a:ln w="15875">
            <a:solidFill>
              <a:srgbClr val="F472B6"/>
            </a:solidFill>
            <a:prstDash val="dash"/>
          </a:ln>
        </p:spPr>
      </p:sp>
      <p:pic>
        <p:nvPicPr>
          <p:cNvPr id="41" name="Image 4" descr="preencoded.png">    </p:cNvPr>
          <p:cNvPicPr>
            <a:picLocks noChangeAspect="1"/>
          </p:cNvPicPr>
          <p:nvPr/>
        </p:nvPicPr>
        <p:blipFill>
          <a:blip r:embed="rId5"/>
          <a:stretch>
            <a:fillRect/>
          </a:stretch>
        </p:blipFill>
        <p:spPr>
          <a:xfrm>
            <a:off x="9180576" y="4754880"/>
            <a:ext cx="411480" cy="411480"/>
          </a:xfrm>
          <a:prstGeom prst="rect">
            <a:avLst/>
          </a:prstGeom>
        </p:spPr>
      </p:pic>
      <p:sp>
        <p:nvSpPr>
          <p:cNvPr id="42" name="Text 35"/>
          <p:cNvSpPr txBox="1"/>
          <p:nvPr/>
        </p:nvSpPr>
        <p:spPr>
          <a:xfrm>
            <a:off x="7315200" y="5257800"/>
            <a:ext cx="4142232" cy="731520"/>
          </a:xfrm>
          <a:prstGeom prst="rect">
            <a:avLst/>
          </a:prstGeom>
          <a:noFill/>
          <a:ln/>
        </p:spPr>
        <p:txBody>
          <a:bodyPr wrap="square" lIns="0" tIns="0" rIns="0" bIns="0" rtlCol="0" anchor="t"/>
          <a:lstStyle/>
          <a:p>
            <a:pPr algn="ctr" indent="0" marL="0">
              <a:buNone/>
            </a:pPr>
            <a:r>
              <a:rPr lang="en-US" sz="1200" dirty="0">
                <a:solidFill>
                  <a:schemeClr val="bg2"/>
                </a:solidFill>
              </a:rPr>
              <a:t>[CAPTURA: GitHub Release v2.1.0 con el .zip adjunto]</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594360"/>
          </a:xfrm>
          <a:prstGeom prst="rect">
            <a:avLst/>
          </a:prstGeom>
          <a:noFill/>
          <a:ln/>
        </p:spPr>
        <p:txBody>
          <a:bodyPr wrap="square" lIns="0" tIns="0" rIns="0" bIns="0" rtlCol="0" anchor="ctr"/>
          <a:lstStyle/>
          <a:p>
            <a:pPr algn="l" indent="0" marL="0">
              <a:buNone/>
            </a:pPr>
            <a:r>
              <a:rPr lang="en-US" sz="2600" b="1" dirty="0">
                <a:solidFill>
                  <a:schemeClr val="bg1"/>
                </a:solidFill>
              </a:rPr>
              <a:t>Deploy: Render despliega solo si el CI pasa</a:t>
            </a:r>
            <a:endParaRPr lang="en-US" sz="2600" dirty="0"/>
          </a:p>
        </p:txBody>
      </p:sp>
      <p:sp>
        <p:nvSpPr>
          <p:cNvPr id="3" name="Shape 1"/>
          <p:cNvSpPr/>
          <p:nvPr/>
        </p:nvSpPr>
        <p:spPr>
          <a:xfrm>
            <a:off x="548640" y="365760"/>
            <a:ext cx="2103120" cy="347472"/>
          </a:xfrm>
          <a:prstGeom prst="roundRect">
            <a:avLst>
              <a:gd name="adj" fmla="val 50000"/>
            </a:avLst>
          </a:prstGeom>
          <a:solidFill>
            <a:schemeClr val="accent1"/>
          </a:solidFill>
          <a:ln/>
        </p:spPr>
      </p:sp>
      <p:sp>
        <p:nvSpPr>
          <p:cNvPr id="4" name="Text 2"/>
          <p:cNvSpPr txBox="1"/>
          <p:nvPr/>
        </p:nvSpPr>
        <p:spPr>
          <a:xfrm>
            <a:off x="548640" y="365760"/>
            <a:ext cx="2103120" cy="347472"/>
          </a:xfrm>
          <a:prstGeom prst="rect">
            <a:avLst/>
          </a:prstGeom>
          <a:noFill/>
          <a:ln/>
        </p:spPr>
        <p:txBody>
          <a:bodyPr wrap="square" lIns="0" tIns="0" rIns="0" bIns="0" rtlCol="0" anchor="ctr"/>
          <a:lstStyle/>
          <a:p>
            <a:pPr algn="ctr" indent="0" marL="0">
              <a:buNone/>
            </a:pPr>
            <a:r>
              <a:rPr lang="en-US" sz="1200" b="1" spc="100" kern="0" dirty="0">
                <a:solidFill>
                  <a:schemeClr val="tx1"/>
                </a:solidFill>
              </a:rPr>
              <a:t>FASE 6 · DEPLOY</a:t>
            </a:r>
            <a:endParaRPr lang="en-US" sz="1200" dirty="0"/>
          </a:p>
        </p:txBody>
      </p:sp>
      <p:sp>
        <p:nvSpPr>
          <p:cNvPr id="5" name="Shape 3"/>
          <p:cNvSpPr/>
          <p:nvPr/>
        </p:nvSpPr>
        <p:spPr>
          <a:xfrm>
            <a:off x="9720072" y="274320"/>
            <a:ext cx="548640" cy="548640"/>
          </a:xfrm>
          <a:prstGeom prst="roundRect">
            <a:avLst>
              <a:gd name="adj" fmla="val 16667"/>
            </a:avLst>
          </a:prstGeom>
          <a:solidFill>
            <a:schemeClr val="tx2"/>
          </a:solidFill>
          <a:ln/>
        </p:spPr>
      </p:sp>
      <p:pic>
        <p:nvPicPr>
          <p:cNvPr id="6" name="Image 0" descr="preencoded.png">    </p:cNvPr>
          <p:cNvPicPr>
            <a:picLocks noChangeAspect="1"/>
          </p:cNvPicPr>
          <p:nvPr/>
        </p:nvPicPr>
        <p:blipFill>
          <a:blip r:embed="rId1"/>
          <a:stretch>
            <a:fillRect/>
          </a:stretch>
        </p:blipFill>
        <p:spPr>
          <a:xfrm>
            <a:off x="9840773" y="395021"/>
            <a:ext cx="307238" cy="307238"/>
          </a:xfrm>
          <a:prstGeom prst="rect">
            <a:avLst/>
          </a:prstGeom>
        </p:spPr>
      </p:pic>
      <p:sp>
        <p:nvSpPr>
          <p:cNvPr id="7" name="Shape 4"/>
          <p:cNvSpPr/>
          <p:nvPr/>
        </p:nvSpPr>
        <p:spPr>
          <a:xfrm>
            <a:off x="10405872" y="274320"/>
            <a:ext cx="548640" cy="548640"/>
          </a:xfrm>
          <a:prstGeom prst="roundRect">
            <a:avLst>
              <a:gd name="adj" fmla="val 16667"/>
            </a:avLst>
          </a:prstGeom>
          <a:solidFill>
            <a:schemeClr val="tx2"/>
          </a:solidFill>
          <a:ln/>
        </p:spPr>
      </p:sp>
      <p:pic>
        <p:nvPicPr>
          <p:cNvPr id="8" name="Image 1" descr="preencoded.png">    </p:cNvPr>
          <p:cNvPicPr>
            <a:picLocks noChangeAspect="1"/>
          </p:cNvPicPr>
          <p:nvPr/>
        </p:nvPicPr>
        <p:blipFill>
          <a:blip r:embed="rId2"/>
          <a:stretch>
            <a:fillRect/>
          </a:stretch>
        </p:blipFill>
        <p:spPr>
          <a:xfrm>
            <a:off x="10526573" y="395021"/>
            <a:ext cx="307238" cy="307238"/>
          </a:xfrm>
          <a:prstGeom prst="rect">
            <a:avLst/>
          </a:prstGeom>
        </p:spPr>
      </p:pic>
      <p:sp>
        <p:nvSpPr>
          <p:cNvPr id="9" name="Shape 5"/>
          <p:cNvSpPr/>
          <p:nvPr/>
        </p:nvSpPr>
        <p:spPr>
          <a:xfrm>
            <a:off x="11091672" y="274320"/>
            <a:ext cx="548640" cy="548640"/>
          </a:xfrm>
          <a:prstGeom prst="roundRect">
            <a:avLst>
              <a:gd name="adj" fmla="val 16667"/>
            </a:avLst>
          </a:prstGeom>
          <a:solidFill>
            <a:schemeClr val="tx2"/>
          </a:solidFill>
          <a:ln/>
        </p:spPr>
      </p:sp>
      <p:pic>
        <p:nvPicPr>
          <p:cNvPr id="10" name="Image 2" descr="preencoded.png">    </p:cNvPr>
          <p:cNvPicPr>
            <a:picLocks noChangeAspect="1"/>
          </p:cNvPicPr>
          <p:nvPr/>
        </p:nvPicPr>
        <p:blipFill>
          <a:blip r:embed="rId3"/>
          <a:stretch>
            <a:fillRect/>
          </a:stretch>
        </p:blipFill>
        <p:spPr>
          <a:xfrm>
            <a:off x="11212373" y="395021"/>
            <a:ext cx="307238" cy="307238"/>
          </a:xfrm>
          <a:prstGeom prst="rect">
            <a:avLst/>
          </a:prstGeom>
        </p:spPr>
      </p:pic>
      <p:sp>
        <p:nvSpPr>
          <p:cNvPr id="11" name="Text 6"/>
          <p:cNvSpPr txBox="1"/>
          <p:nvPr/>
        </p:nvSpPr>
        <p:spPr>
          <a:xfrm>
            <a:off x="548640" y="1600200"/>
            <a:ext cx="6309360" cy="228600"/>
          </a:xfrm>
          <a:prstGeom prst="rect">
            <a:avLst/>
          </a:prstGeom>
          <a:noFill/>
          <a:ln/>
        </p:spPr>
        <p:txBody>
          <a:bodyPr wrap="square" lIns="0" tIns="0" rIns="0" bIns="0" rtlCol="0" anchor="ctr"/>
          <a:lstStyle/>
          <a:p>
            <a:pPr indent="0" marL="0">
              <a:buNone/>
            </a:pPr>
            <a:r>
              <a:rPr lang="en-US" sz="1100" b="1" spc="150" kern="0" dirty="0">
                <a:solidFill>
                  <a:schemeClr val="accent1"/>
                </a:solidFill>
              </a:rPr>
              <a:t>HERRAMIENTA</a:t>
            </a:r>
            <a:endParaRPr lang="en-US" sz="1100" dirty="0"/>
          </a:p>
        </p:txBody>
      </p:sp>
      <p:sp>
        <p:nvSpPr>
          <p:cNvPr id="12" name="Text 7"/>
          <p:cNvSpPr txBox="1"/>
          <p:nvPr/>
        </p:nvSpPr>
        <p:spPr>
          <a:xfrm>
            <a:off x="548640" y="1828800"/>
            <a:ext cx="6309360" cy="502920"/>
          </a:xfrm>
          <a:prstGeom prst="rect">
            <a:avLst/>
          </a:prstGeom>
          <a:noFill/>
          <a:ln/>
        </p:spPr>
        <p:txBody>
          <a:bodyPr wrap="square" lIns="0" tIns="0" rIns="0" bIns="0" rtlCol="0" anchor="t"/>
          <a:lstStyle/>
          <a:p>
            <a:pPr indent="0" marL="0">
              <a:buNone/>
            </a:pPr>
            <a:r>
              <a:rPr lang="en-US" sz="1500" b="1" dirty="0">
                <a:solidFill>
                  <a:schemeClr val="bg1"/>
                </a:solidFill>
              </a:rPr>
              <a:t>Render (microservicios, como Blueprint), Vercel (panel web) y Supabase (base de datos)</a:t>
            </a:r>
            <a:endParaRPr lang="en-US" sz="1500" dirty="0"/>
          </a:p>
        </p:txBody>
      </p:sp>
      <p:sp>
        <p:nvSpPr>
          <p:cNvPr id="13" name="Text 8"/>
          <p:cNvSpPr txBox="1"/>
          <p:nvPr/>
        </p:nvSpPr>
        <p:spPr>
          <a:xfrm>
            <a:off x="548640" y="2514600"/>
            <a:ext cx="6309360" cy="228600"/>
          </a:xfrm>
          <a:prstGeom prst="rect">
            <a:avLst/>
          </a:prstGeom>
          <a:noFill/>
          <a:ln/>
        </p:spPr>
        <p:txBody>
          <a:bodyPr wrap="square" lIns="0" tIns="0" rIns="0" bIns="0" rtlCol="0" anchor="ctr"/>
          <a:lstStyle/>
          <a:p>
            <a:pPr indent="0" marL="0">
              <a:buNone/>
            </a:pPr>
            <a:r>
              <a:rPr lang="en-US" sz="1100" b="1" spc="150" kern="0" dirty="0">
                <a:solidFill>
                  <a:schemeClr val="accent1"/>
                </a:solidFill>
              </a:rPr>
              <a:t>INSTALACIÓN</a:t>
            </a:r>
            <a:endParaRPr lang="en-US" sz="1100" dirty="0"/>
          </a:p>
        </p:txBody>
      </p:sp>
      <p:sp>
        <p:nvSpPr>
          <p:cNvPr id="14" name="Text 9"/>
          <p:cNvSpPr txBox="1"/>
          <p:nvPr/>
        </p:nvSpPr>
        <p:spPr>
          <a:xfrm>
            <a:off x="548640" y="2743200"/>
            <a:ext cx="6309360" cy="685800"/>
          </a:xfrm>
          <a:prstGeom prst="rect">
            <a:avLst/>
          </a:prstGeom>
          <a:noFill/>
          <a:ln/>
        </p:spPr>
        <p:txBody>
          <a:bodyPr wrap="square" lIns="0" tIns="0" rIns="0" bIns="0" rtlCol="0" anchor="t"/>
          <a:lstStyle/>
          <a:p>
            <a:pPr indent="0" marL="0">
              <a:buNone/>
            </a:pPr>
            <a:r>
              <a:rPr lang="en-US" sz="1400" dirty="0">
                <a:solidFill>
                  <a:srgbClr val="E4E4E7"/>
                </a:solidFill>
              </a:rPr>
              <a:t>Render → New → Blueprint → elegimos el repo; Render lee render.yaml y crea los 3 servicios. En Vercel, Import con la raíz apps/extension-dashboard.</a:t>
            </a:r>
            <a:endParaRPr lang="en-US" sz="1400" dirty="0"/>
          </a:p>
        </p:txBody>
      </p:sp>
      <p:sp>
        <p:nvSpPr>
          <p:cNvPr id="15" name="Text 10"/>
          <p:cNvSpPr txBox="1"/>
          <p:nvPr/>
        </p:nvSpPr>
        <p:spPr>
          <a:xfrm>
            <a:off x="548640" y="3520440"/>
            <a:ext cx="6309360" cy="228600"/>
          </a:xfrm>
          <a:prstGeom prst="rect">
            <a:avLst/>
          </a:prstGeom>
          <a:noFill/>
          <a:ln/>
        </p:spPr>
        <p:txBody>
          <a:bodyPr wrap="square" lIns="0" tIns="0" rIns="0" bIns="0" rtlCol="0" anchor="ctr"/>
          <a:lstStyle/>
          <a:p>
            <a:pPr indent="0" marL="0">
              <a:buNone/>
            </a:pPr>
            <a:r>
              <a:rPr lang="en-US" sz="1100" b="1" spc="150" kern="0" dirty="0">
                <a:solidFill>
                  <a:schemeClr val="accent1"/>
                </a:solidFill>
              </a:rPr>
              <a:t>CONFIGURACIÓN</a:t>
            </a:r>
            <a:endParaRPr lang="en-US" sz="1100" dirty="0"/>
          </a:p>
        </p:txBody>
      </p:sp>
      <p:sp>
        <p:nvSpPr>
          <p:cNvPr id="16" name="editor"/>
          <p:cNvSpPr/>
          <p:nvPr/>
        </p:nvSpPr>
        <p:spPr>
          <a:xfrm>
            <a:off x="548640" y="3794760"/>
            <a:ext cx="6309360" cy="2423160"/>
          </a:xfrm>
          <a:prstGeom prst="roundRect">
            <a:avLst>
              <a:gd name="adj" fmla="val 3019"/>
            </a:avLst>
          </a:prstGeom>
          <a:solidFill>
            <a:srgbClr val="0D1117"/>
          </a:solidFill>
          <a:ln w="12700">
            <a:solidFill>
              <a:srgbClr val="30363D"/>
            </a:solidFill>
            <a:prstDash val="solid"/>
          </a:ln>
        </p:spPr>
      </p:sp>
      <p:sp>
        <p:nvSpPr>
          <p:cNvPr id="17" name="Shape 12"/>
          <p:cNvSpPr/>
          <p:nvPr/>
        </p:nvSpPr>
        <p:spPr>
          <a:xfrm>
            <a:off x="557784" y="3803904"/>
            <a:ext cx="6291072" cy="310896"/>
          </a:xfrm>
          <a:prstGeom prst="roundRect">
            <a:avLst>
              <a:gd name="adj" fmla="val 23529"/>
            </a:avLst>
          </a:prstGeom>
          <a:solidFill>
            <a:srgbClr val="161B22"/>
          </a:solidFill>
          <a:ln/>
        </p:spPr>
      </p:sp>
      <p:sp>
        <p:nvSpPr>
          <p:cNvPr id="18" name="Shape 13"/>
          <p:cNvSpPr/>
          <p:nvPr/>
        </p:nvSpPr>
        <p:spPr>
          <a:xfrm>
            <a:off x="557784" y="3950208"/>
            <a:ext cx="6291072" cy="164592"/>
          </a:xfrm>
          <a:prstGeom prst="rect">
            <a:avLst/>
          </a:prstGeom>
          <a:solidFill>
            <a:srgbClr val="161B22"/>
          </a:solidFill>
          <a:ln/>
        </p:spPr>
      </p:sp>
      <p:sp>
        <p:nvSpPr>
          <p:cNvPr id="19" name="Shape 14"/>
          <p:cNvSpPr/>
          <p:nvPr/>
        </p:nvSpPr>
        <p:spPr>
          <a:xfrm>
            <a:off x="548640" y="4114800"/>
            <a:ext cx="6309360" cy="0"/>
          </a:xfrm>
          <a:prstGeom prst="line">
            <a:avLst/>
          </a:prstGeom>
          <a:noFill/>
          <a:ln w="9525">
            <a:solidFill>
              <a:srgbClr val="30363D"/>
            </a:solidFill>
            <a:prstDash val="solid"/>
          </a:ln>
        </p:spPr>
      </p:sp>
      <p:sp>
        <p:nvSpPr>
          <p:cNvPr id="20" name="Shape 15"/>
          <p:cNvSpPr/>
          <p:nvPr/>
        </p:nvSpPr>
        <p:spPr>
          <a:xfrm>
            <a:off x="694944" y="3909060"/>
            <a:ext cx="100584" cy="100584"/>
          </a:xfrm>
          <a:prstGeom prst="ellipse">
            <a:avLst/>
          </a:prstGeom>
          <a:solidFill>
            <a:srgbClr val="FF5F56"/>
          </a:solidFill>
          <a:ln/>
        </p:spPr>
      </p:sp>
      <p:sp>
        <p:nvSpPr>
          <p:cNvPr id="21" name="Shape 16"/>
          <p:cNvSpPr/>
          <p:nvPr/>
        </p:nvSpPr>
        <p:spPr>
          <a:xfrm>
            <a:off x="850392" y="3909060"/>
            <a:ext cx="100584" cy="100584"/>
          </a:xfrm>
          <a:prstGeom prst="ellipse">
            <a:avLst/>
          </a:prstGeom>
          <a:solidFill>
            <a:srgbClr val="FFBD2E"/>
          </a:solidFill>
          <a:ln/>
        </p:spPr>
      </p:sp>
      <p:sp>
        <p:nvSpPr>
          <p:cNvPr id="22" name="Shape 17"/>
          <p:cNvSpPr/>
          <p:nvPr/>
        </p:nvSpPr>
        <p:spPr>
          <a:xfrm>
            <a:off x="1005840" y="3909060"/>
            <a:ext cx="100584" cy="100584"/>
          </a:xfrm>
          <a:prstGeom prst="ellipse">
            <a:avLst/>
          </a:prstGeom>
          <a:solidFill>
            <a:srgbClr val="27C93F"/>
          </a:solidFill>
          <a:ln/>
        </p:spPr>
      </p:sp>
      <p:sp>
        <p:nvSpPr>
          <p:cNvPr id="23" name="Text 18"/>
          <p:cNvSpPr txBox="1"/>
          <p:nvPr/>
        </p:nvSpPr>
        <p:spPr>
          <a:xfrm>
            <a:off x="1234440" y="3803904"/>
            <a:ext cx="5486400" cy="310896"/>
          </a:xfrm>
          <a:prstGeom prst="rect">
            <a:avLst/>
          </a:prstGeom>
          <a:noFill/>
          <a:ln/>
        </p:spPr>
        <p:txBody>
          <a:bodyPr wrap="square" lIns="0" tIns="0" rIns="0" bIns="0"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render.yaml</a:t>
            </a:r>
            <a:endParaRPr lang="en-US" sz="1000" dirty="0"/>
          </a:p>
        </p:txBody>
      </p:sp>
      <p:sp>
        <p:nvSpPr>
          <p:cNvPr id="24" name="codigo"/>
          <p:cNvSpPr txBox="1"/>
          <p:nvPr/>
        </p:nvSpPr>
        <p:spPr>
          <a:xfrm>
            <a:off x="713232" y="4215384"/>
            <a:ext cx="6035040" cy="1929384"/>
          </a:xfrm>
          <a:prstGeom prst="rect">
            <a:avLst/>
          </a:prstGeom>
          <a:noFill/>
          <a:ln/>
        </p:spPr>
        <p:txBody>
          <a:bodyPr wrap="square" lIns="0" tIns="0" rIns="0" bIns="0" rtlCol="0" anchor="t"/>
          <a:lstStyle/>
          <a:p>
            <a:pPr indent="0" marL="0">
              <a:buNone/>
            </a:pPr>
            <a:r>
              <a:rPr lang="en-US" sz="1100" dirty="0">
                <a:solidFill>
                  <a:srgbClr val="6E7681"/>
                </a:solidFill>
                <a:latin typeface="Courier New" pitchFamily="34" charset="0"/>
                <a:ea typeface="Courier New" pitchFamily="34" charset="-122"/>
                <a:cs typeface="Courier New" pitchFamily="34" charset="-120"/>
              </a:rPr>
              <a:t> 1  </a:t>
            </a:r>
            <a:pPr indent="0" marL="0">
              <a:buNone/>
            </a:pPr>
            <a:r>
              <a:rPr lang="en-US" sz="1100" dirty="0">
                <a:solidFill>
                  <a:srgbClr val="7EE787"/>
                </a:solidFill>
                <a:latin typeface="Courier New" pitchFamily="34" charset="0"/>
                <a:ea typeface="Courier New" pitchFamily="34" charset="-122"/>
                <a:cs typeface="Courier New" pitchFamily="34" charset="-120"/>
              </a:rPr>
              <a:t>services</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2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type</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web</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3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name</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mail-guard-gateway</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4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runtime</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docker</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5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plan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free</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6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dockerfilePath</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./Dockerfile</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7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healthCheckPath</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/health</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8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autoDeployTrigger</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checksPass</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8B949E"/>
                </a:solidFill>
                <a:latin typeface="Courier New" pitchFamily="34" charset="0"/>
                <a:ea typeface="Courier New" pitchFamily="34" charset="-122"/>
                <a:cs typeface="Courier New" pitchFamily="34" charset="-120"/>
              </a:rPr>
              <a:t># solo si el CI pasa</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9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envVars</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10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key</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SERVICE</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11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value</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gateway</a:t>
            </a:r>
            <a:endParaRPr lang="en-US" sz="1100" dirty="0"/>
          </a:p>
        </p:txBody>
      </p:sp>
      <p:sp>
        <p:nvSpPr>
          <p:cNvPr id="25" name="Shape 20"/>
          <p:cNvSpPr/>
          <p:nvPr/>
        </p:nvSpPr>
        <p:spPr>
          <a:xfrm>
            <a:off x="7132320" y="1600200"/>
            <a:ext cx="4507992" cy="2606040"/>
          </a:xfrm>
          <a:prstGeom prst="roundRect">
            <a:avLst>
              <a:gd name="adj" fmla="val 4211"/>
            </a:avLst>
          </a:prstGeom>
          <a:solidFill>
            <a:schemeClr val="tx2"/>
          </a:solidFill>
          <a:ln/>
        </p:spPr>
      </p:sp>
      <p:pic>
        <p:nvPicPr>
          <p:cNvPr id="26" name="Image 3" descr="preencoded.png">    </p:cNvPr>
          <p:cNvPicPr>
            <a:picLocks noChangeAspect="1"/>
          </p:cNvPicPr>
          <p:nvPr/>
        </p:nvPicPr>
        <p:blipFill>
          <a:blip r:embed="rId4"/>
          <a:stretch>
            <a:fillRect/>
          </a:stretch>
        </p:blipFill>
        <p:spPr>
          <a:xfrm>
            <a:off x="7360920" y="1783080"/>
            <a:ext cx="256032" cy="256032"/>
          </a:xfrm>
          <a:prstGeom prst="rect">
            <a:avLst/>
          </a:prstGeom>
        </p:spPr>
      </p:pic>
      <p:sp>
        <p:nvSpPr>
          <p:cNvPr id="27" name="Text 21"/>
          <p:cNvSpPr txBox="1"/>
          <p:nvPr/>
        </p:nvSpPr>
        <p:spPr>
          <a:xfrm>
            <a:off x="7726680" y="1801368"/>
            <a:ext cx="3200400" cy="228600"/>
          </a:xfrm>
          <a:prstGeom prst="rect">
            <a:avLst/>
          </a:prstGeom>
          <a:noFill/>
          <a:ln/>
        </p:spPr>
        <p:txBody>
          <a:bodyPr wrap="square" lIns="0" tIns="0" rIns="0" bIns="0" rtlCol="0" anchor="ctr"/>
          <a:lstStyle/>
          <a:p>
            <a:pPr indent="0" marL="0">
              <a:buNone/>
            </a:pPr>
            <a:r>
              <a:rPr lang="en-US" sz="1100" b="1" spc="150" kern="0" dirty="0">
                <a:solidFill>
                  <a:schemeClr val="accent1"/>
                </a:solidFill>
              </a:rPr>
              <a:t>DEMO EN VIVO</a:t>
            </a:r>
            <a:endParaRPr lang="en-US" sz="1100" dirty="0"/>
          </a:p>
        </p:txBody>
      </p:sp>
      <p:sp>
        <p:nvSpPr>
          <p:cNvPr id="28" name="Shape 22"/>
          <p:cNvSpPr/>
          <p:nvPr/>
        </p:nvSpPr>
        <p:spPr>
          <a:xfrm>
            <a:off x="7360920" y="2240280"/>
            <a:ext cx="292608" cy="292608"/>
          </a:xfrm>
          <a:prstGeom prst="ellipse">
            <a:avLst/>
          </a:prstGeom>
          <a:solidFill>
            <a:schemeClr val="accent1"/>
          </a:solidFill>
          <a:ln/>
        </p:spPr>
      </p:sp>
      <p:sp>
        <p:nvSpPr>
          <p:cNvPr id="29" name="Text 23"/>
          <p:cNvSpPr txBox="1"/>
          <p:nvPr/>
        </p:nvSpPr>
        <p:spPr>
          <a:xfrm>
            <a:off x="7360920" y="2240280"/>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30" name="Text 24"/>
          <p:cNvSpPr txBox="1"/>
          <p:nvPr/>
        </p:nvSpPr>
        <p:spPr>
          <a:xfrm>
            <a:off x="7790688" y="2212848"/>
            <a:ext cx="3657600" cy="475488"/>
          </a:xfrm>
          <a:prstGeom prst="rect">
            <a:avLst/>
          </a:prstGeom>
          <a:noFill/>
          <a:ln/>
        </p:spPr>
        <p:txBody>
          <a:bodyPr wrap="square" lIns="0" tIns="0" rIns="0" bIns="0" rtlCol="0" anchor="t"/>
          <a:lstStyle/>
          <a:p>
            <a:pPr indent="0" marL="0">
              <a:buNone/>
            </a:pPr>
            <a:r>
              <a:rPr lang="en-US" sz="1300" dirty="0">
                <a:solidFill>
                  <a:schemeClr val="bg1"/>
                </a:solidFill>
              </a:rPr>
              <a:t>Fusionamos un PR a main</a:t>
            </a:r>
            <a:endParaRPr lang="en-US" sz="1300" dirty="0"/>
          </a:p>
        </p:txBody>
      </p:sp>
      <p:sp>
        <p:nvSpPr>
          <p:cNvPr id="31" name="Shape 25"/>
          <p:cNvSpPr/>
          <p:nvPr/>
        </p:nvSpPr>
        <p:spPr>
          <a:xfrm>
            <a:off x="7360920" y="2724912"/>
            <a:ext cx="292608" cy="292608"/>
          </a:xfrm>
          <a:prstGeom prst="ellipse">
            <a:avLst/>
          </a:prstGeom>
          <a:solidFill>
            <a:schemeClr val="accent1"/>
          </a:solidFill>
          <a:ln/>
        </p:spPr>
      </p:sp>
      <p:sp>
        <p:nvSpPr>
          <p:cNvPr id="32" name="Text 26"/>
          <p:cNvSpPr txBox="1"/>
          <p:nvPr/>
        </p:nvSpPr>
        <p:spPr>
          <a:xfrm>
            <a:off x="7360920" y="2724912"/>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33" name="Text 27"/>
          <p:cNvSpPr txBox="1"/>
          <p:nvPr/>
        </p:nvSpPr>
        <p:spPr>
          <a:xfrm>
            <a:off x="7790688" y="2697480"/>
            <a:ext cx="3657600" cy="475488"/>
          </a:xfrm>
          <a:prstGeom prst="rect">
            <a:avLst/>
          </a:prstGeom>
          <a:noFill/>
          <a:ln/>
        </p:spPr>
        <p:txBody>
          <a:bodyPr wrap="square" lIns="0" tIns="0" rIns="0" bIns="0" rtlCol="0" anchor="t"/>
          <a:lstStyle/>
          <a:p>
            <a:pPr indent="0" marL="0">
              <a:buNone/>
            </a:pPr>
            <a:r>
              <a:rPr lang="en-US" sz="1300" dirty="0">
                <a:solidFill>
                  <a:schemeClr val="bg1"/>
                </a:solidFill>
              </a:rPr>
              <a:t>El CI termina en verde</a:t>
            </a:r>
            <a:endParaRPr lang="en-US" sz="1300" dirty="0"/>
          </a:p>
        </p:txBody>
      </p:sp>
      <p:sp>
        <p:nvSpPr>
          <p:cNvPr id="34" name="Shape 28"/>
          <p:cNvSpPr/>
          <p:nvPr/>
        </p:nvSpPr>
        <p:spPr>
          <a:xfrm>
            <a:off x="7360920" y="3209544"/>
            <a:ext cx="292608" cy="292608"/>
          </a:xfrm>
          <a:prstGeom prst="ellipse">
            <a:avLst/>
          </a:prstGeom>
          <a:solidFill>
            <a:schemeClr val="accent1"/>
          </a:solidFill>
          <a:ln/>
        </p:spPr>
      </p:sp>
      <p:sp>
        <p:nvSpPr>
          <p:cNvPr id="35" name="Text 29"/>
          <p:cNvSpPr txBox="1"/>
          <p:nvPr/>
        </p:nvSpPr>
        <p:spPr>
          <a:xfrm>
            <a:off x="7360920" y="3209544"/>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36" name="Text 30"/>
          <p:cNvSpPr txBox="1"/>
          <p:nvPr/>
        </p:nvSpPr>
        <p:spPr>
          <a:xfrm>
            <a:off x="7790688" y="3182112"/>
            <a:ext cx="3657600" cy="475488"/>
          </a:xfrm>
          <a:prstGeom prst="rect">
            <a:avLst/>
          </a:prstGeom>
          <a:noFill/>
          <a:ln/>
        </p:spPr>
        <p:txBody>
          <a:bodyPr wrap="square" lIns="0" tIns="0" rIns="0" bIns="0" rtlCol="0" anchor="t"/>
          <a:lstStyle/>
          <a:p>
            <a:pPr indent="0" marL="0">
              <a:buNone/>
            </a:pPr>
            <a:r>
              <a:rPr lang="en-US" sz="1300" dirty="0">
                <a:solidFill>
                  <a:schemeClr val="bg1"/>
                </a:solidFill>
              </a:rPr>
              <a:t>Render → Events: deploy del commit</a:t>
            </a:r>
            <a:endParaRPr lang="en-US" sz="1300" dirty="0"/>
          </a:p>
        </p:txBody>
      </p:sp>
      <p:sp>
        <p:nvSpPr>
          <p:cNvPr id="37" name="Shape 31"/>
          <p:cNvSpPr/>
          <p:nvPr/>
        </p:nvSpPr>
        <p:spPr>
          <a:xfrm>
            <a:off x="7360920" y="3694176"/>
            <a:ext cx="292608" cy="292608"/>
          </a:xfrm>
          <a:prstGeom prst="ellipse">
            <a:avLst/>
          </a:prstGeom>
          <a:solidFill>
            <a:schemeClr val="accent1"/>
          </a:solidFill>
          <a:ln/>
        </p:spPr>
      </p:sp>
      <p:sp>
        <p:nvSpPr>
          <p:cNvPr id="38" name="Text 32"/>
          <p:cNvSpPr txBox="1"/>
          <p:nvPr/>
        </p:nvSpPr>
        <p:spPr>
          <a:xfrm>
            <a:off x="7360920" y="3694176"/>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39" name="Text 33"/>
          <p:cNvSpPr txBox="1"/>
          <p:nvPr/>
        </p:nvSpPr>
        <p:spPr>
          <a:xfrm>
            <a:off x="7790688" y="3666744"/>
            <a:ext cx="3657600" cy="475488"/>
          </a:xfrm>
          <a:prstGeom prst="rect">
            <a:avLst/>
          </a:prstGeom>
          <a:noFill/>
          <a:ln/>
        </p:spPr>
        <p:txBody>
          <a:bodyPr wrap="square" lIns="0" tIns="0" rIns="0" bIns="0" rtlCol="0" anchor="t"/>
          <a:lstStyle/>
          <a:p>
            <a:pPr indent="0" marL="0">
              <a:buNone/>
            </a:pPr>
            <a:r>
              <a:rPr lang="en-US" sz="1300" dirty="0">
                <a:solidFill>
                  <a:schemeClr val="bg1"/>
                </a:solidFill>
              </a:rPr>
              <a:t>/health/services: los 3 servicios en ok</a:t>
            </a:r>
            <a:endParaRPr lang="en-US" sz="1300" dirty="0"/>
          </a:p>
        </p:txBody>
      </p:sp>
      <p:sp>
        <p:nvSpPr>
          <p:cNvPr id="40" name="captura"/>
          <p:cNvSpPr/>
          <p:nvPr/>
        </p:nvSpPr>
        <p:spPr>
          <a:xfrm>
            <a:off x="7132320" y="4389120"/>
            <a:ext cx="4507992" cy="1828800"/>
          </a:xfrm>
          <a:prstGeom prst="roundRect">
            <a:avLst>
              <a:gd name="adj" fmla="val 6000"/>
            </a:avLst>
          </a:prstGeom>
          <a:solidFill>
            <a:schemeClr val="tx1"/>
          </a:solidFill>
          <a:ln w="15875">
            <a:solidFill>
              <a:srgbClr val="C8D400"/>
            </a:solidFill>
            <a:prstDash val="dash"/>
          </a:ln>
        </p:spPr>
      </p:sp>
      <p:pic>
        <p:nvPicPr>
          <p:cNvPr id="41" name="Image 4" descr="preencoded.png">    </p:cNvPr>
          <p:cNvPicPr>
            <a:picLocks noChangeAspect="1"/>
          </p:cNvPicPr>
          <p:nvPr/>
        </p:nvPicPr>
        <p:blipFill>
          <a:blip r:embed="rId5"/>
          <a:stretch>
            <a:fillRect/>
          </a:stretch>
        </p:blipFill>
        <p:spPr>
          <a:xfrm>
            <a:off x="9180576" y="4754880"/>
            <a:ext cx="411480" cy="411480"/>
          </a:xfrm>
          <a:prstGeom prst="rect">
            <a:avLst/>
          </a:prstGeom>
        </p:spPr>
      </p:pic>
      <p:sp>
        <p:nvSpPr>
          <p:cNvPr id="42" name="Text 35"/>
          <p:cNvSpPr txBox="1"/>
          <p:nvPr/>
        </p:nvSpPr>
        <p:spPr>
          <a:xfrm>
            <a:off x="7315200" y="5257800"/>
            <a:ext cx="4142232" cy="731520"/>
          </a:xfrm>
          <a:prstGeom prst="rect">
            <a:avLst/>
          </a:prstGeom>
          <a:noFill/>
          <a:ln/>
        </p:spPr>
        <p:txBody>
          <a:bodyPr wrap="square" lIns="0" tIns="0" rIns="0" bIns="0" rtlCol="0" anchor="t"/>
          <a:lstStyle/>
          <a:p>
            <a:pPr algn="ctr" indent="0" marL="0">
              <a:buNone/>
            </a:pPr>
            <a:r>
              <a:rPr lang="en-US" sz="1200" dirty="0">
                <a:solidFill>
                  <a:schemeClr val="bg2"/>
                </a:solidFill>
              </a:rPr>
              <a:t>[CAPTURA: Render → Events con el deploy automático]</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594360"/>
          </a:xfrm>
          <a:prstGeom prst="rect">
            <a:avLst/>
          </a:prstGeom>
          <a:noFill/>
          <a:ln/>
        </p:spPr>
        <p:txBody>
          <a:bodyPr wrap="square" lIns="0" tIns="0" rIns="0" bIns="0" rtlCol="0" anchor="ctr"/>
          <a:lstStyle/>
          <a:p>
            <a:pPr algn="l" indent="0" marL="0">
              <a:buNone/>
            </a:pPr>
            <a:r>
              <a:rPr lang="en-US" sz="2600" b="1" dirty="0">
                <a:solidFill>
                  <a:schemeClr val="bg1"/>
                </a:solidFill>
              </a:rPr>
              <a:t>Operate: los servicios se revisan y se recuperan solos</a:t>
            </a:r>
            <a:endParaRPr lang="en-US" sz="2600" dirty="0"/>
          </a:p>
        </p:txBody>
      </p:sp>
      <p:sp>
        <p:nvSpPr>
          <p:cNvPr id="3" name="Shape 1"/>
          <p:cNvSpPr/>
          <p:nvPr/>
        </p:nvSpPr>
        <p:spPr>
          <a:xfrm>
            <a:off x="548640" y="365760"/>
            <a:ext cx="2103120" cy="347472"/>
          </a:xfrm>
          <a:prstGeom prst="roundRect">
            <a:avLst>
              <a:gd name="adj" fmla="val 50000"/>
            </a:avLst>
          </a:prstGeom>
          <a:solidFill>
            <a:srgbClr val="FB923C"/>
          </a:solidFill>
          <a:ln/>
        </p:spPr>
      </p:sp>
      <p:sp>
        <p:nvSpPr>
          <p:cNvPr id="4" name="Text 2"/>
          <p:cNvSpPr txBox="1"/>
          <p:nvPr/>
        </p:nvSpPr>
        <p:spPr>
          <a:xfrm>
            <a:off x="548640" y="365760"/>
            <a:ext cx="2103120" cy="347472"/>
          </a:xfrm>
          <a:prstGeom prst="rect">
            <a:avLst/>
          </a:prstGeom>
          <a:noFill/>
          <a:ln/>
        </p:spPr>
        <p:txBody>
          <a:bodyPr wrap="square" lIns="0" tIns="0" rIns="0" bIns="0" rtlCol="0" anchor="ctr"/>
          <a:lstStyle/>
          <a:p>
            <a:pPr algn="ctr" indent="0" marL="0">
              <a:buNone/>
            </a:pPr>
            <a:r>
              <a:rPr lang="en-US" sz="1200" b="1" spc="100" kern="0" dirty="0">
                <a:solidFill>
                  <a:schemeClr val="tx1"/>
                </a:solidFill>
              </a:rPr>
              <a:t>FASE 7 · OPERATE</a:t>
            </a:r>
            <a:endParaRPr lang="en-US" sz="1200" dirty="0"/>
          </a:p>
        </p:txBody>
      </p:sp>
      <p:sp>
        <p:nvSpPr>
          <p:cNvPr id="5" name="Shape 3"/>
          <p:cNvSpPr/>
          <p:nvPr/>
        </p:nvSpPr>
        <p:spPr>
          <a:xfrm>
            <a:off x="9720072" y="274320"/>
            <a:ext cx="548640" cy="548640"/>
          </a:xfrm>
          <a:prstGeom prst="roundRect">
            <a:avLst>
              <a:gd name="adj" fmla="val 16667"/>
            </a:avLst>
          </a:prstGeom>
          <a:solidFill>
            <a:schemeClr val="tx2"/>
          </a:solidFill>
          <a:ln/>
        </p:spPr>
      </p:sp>
      <p:pic>
        <p:nvPicPr>
          <p:cNvPr id="6" name="Image 0" descr="preencoded.png">    </p:cNvPr>
          <p:cNvPicPr>
            <a:picLocks noChangeAspect="1"/>
          </p:cNvPicPr>
          <p:nvPr/>
        </p:nvPicPr>
        <p:blipFill>
          <a:blip r:embed="rId1"/>
          <a:stretch>
            <a:fillRect/>
          </a:stretch>
        </p:blipFill>
        <p:spPr>
          <a:xfrm>
            <a:off x="9840773" y="395021"/>
            <a:ext cx="307238" cy="307238"/>
          </a:xfrm>
          <a:prstGeom prst="rect">
            <a:avLst/>
          </a:prstGeom>
        </p:spPr>
      </p:pic>
      <p:sp>
        <p:nvSpPr>
          <p:cNvPr id="7" name="Shape 4"/>
          <p:cNvSpPr/>
          <p:nvPr/>
        </p:nvSpPr>
        <p:spPr>
          <a:xfrm>
            <a:off x="10405872" y="274320"/>
            <a:ext cx="548640" cy="548640"/>
          </a:xfrm>
          <a:prstGeom prst="roundRect">
            <a:avLst>
              <a:gd name="adj" fmla="val 16667"/>
            </a:avLst>
          </a:prstGeom>
          <a:solidFill>
            <a:schemeClr val="tx2"/>
          </a:solidFill>
          <a:ln/>
        </p:spPr>
      </p:sp>
      <p:pic>
        <p:nvPicPr>
          <p:cNvPr id="8" name="Image 1" descr="preencoded.png">    </p:cNvPr>
          <p:cNvPicPr>
            <a:picLocks noChangeAspect="1"/>
          </p:cNvPicPr>
          <p:nvPr/>
        </p:nvPicPr>
        <p:blipFill>
          <a:blip r:embed="rId2"/>
          <a:stretch>
            <a:fillRect/>
          </a:stretch>
        </p:blipFill>
        <p:spPr>
          <a:xfrm>
            <a:off x="10526573" y="395021"/>
            <a:ext cx="307238" cy="307238"/>
          </a:xfrm>
          <a:prstGeom prst="rect">
            <a:avLst/>
          </a:prstGeom>
        </p:spPr>
      </p:pic>
      <p:sp>
        <p:nvSpPr>
          <p:cNvPr id="9" name="Shape 5"/>
          <p:cNvSpPr/>
          <p:nvPr/>
        </p:nvSpPr>
        <p:spPr>
          <a:xfrm>
            <a:off x="11091672" y="274320"/>
            <a:ext cx="548640" cy="548640"/>
          </a:xfrm>
          <a:prstGeom prst="roundRect">
            <a:avLst>
              <a:gd name="adj" fmla="val 16667"/>
            </a:avLst>
          </a:prstGeom>
          <a:solidFill>
            <a:schemeClr val="tx2"/>
          </a:solidFill>
          <a:ln/>
        </p:spPr>
      </p:sp>
      <p:pic>
        <p:nvPicPr>
          <p:cNvPr id="10" name="Image 2" descr="preencoded.png">    </p:cNvPr>
          <p:cNvPicPr>
            <a:picLocks noChangeAspect="1"/>
          </p:cNvPicPr>
          <p:nvPr/>
        </p:nvPicPr>
        <p:blipFill>
          <a:blip r:embed="rId3"/>
          <a:stretch>
            <a:fillRect/>
          </a:stretch>
        </p:blipFill>
        <p:spPr>
          <a:xfrm>
            <a:off x="11212373" y="395021"/>
            <a:ext cx="307238" cy="307238"/>
          </a:xfrm>
          <a:prstGeom prst="rect">
            <a:avLst/>
          </a:prstGeom>
        </p:spPr>
      </p:pic>
      <p:sp>
        <p:nvSpPr>
          <p:cNvPr id="11" name="Text 6"/>
          <p:cNvSpPr txBox="1"/>
          <p:nvPr/>
        </p:nvSpPr>
        <p:spPr>
          <a:xfrm>
            <a:off x="548640" y="1600200"/>
            <a:ext cx="6309360" cy="228600"/>
          </a:xfrm>
          <a:prstGeom prst="rect">
            <a:avLst/>
          </a:prstGeom>
          <a:noFill/>
          <a:ln/>
        </p:spPr>
        <p:txBody>
          <a:bodyPr wrap="square" lIns="0" tIns="0" rIns="0" bIns="0" rtlCol="0" anchor="ctr"/>
          <a:lstStyle/>
          <a:p>
            <a:pPr indent="0" marL="0">
              <a:buNone/>
            </a:pPr>
            <a:r>
              <a:rPr lang="en-US" sz="1100" b="1" spc="150" kern="0" dirty="0">
                <a:solidFill>
                  <a:srgbClr val="FB923C"/>
                </a:solidFill>
              </a:rPr>
              <a:t>HERRAMIENTA</a:t>
            </a:r>
            <a:endParaRPr lang="en-US" sz="1100" dirty="0"/>
          </a:p>
        </p:txBody>
      </p:sp>
      <p:sp>
        <p:nvSpPr>
          <p:cNvPr id="12" name="Text 7"/>
          <p:cNvSpPr txBox="1"/>
          <p:nvPr/>
        </p:nvSpPr>
        <p:spPr>
          <a:xfrm>
            <a:off x="548640" y="1828800"/>
            <a:ext cx="6309360" cy="502920"/>
          </a:xfrm>
          <a:prstGeom prst="rect">
            <a:avLst/>
          </a:prstGeom>
          <a:noFill/>
          <a:ln/>
        </p:spPr>
        <p:txBody>
          <a:bodyPr wrap="square" lIns="0" tIns="0" rIns="0" bIns="0" rtlCol="0" anchor="t"/>
          <a:lstStyle/>
          <a:p>
            <a:pPr indent="0" marL="0">
              <a:buNone/>
            </a:pPr>
            <a:r>
              <a:rPr lang="en-US" sz="1500" b="1" dirty="0">
                <a:solidFill>
                  <a:schemeClr val="bg1"/>
                </a:solidFill>
              </a:rPr>
              <a:t>Docker Compose, Render Dashboard (logs, reinicio, rollback), GitHub Actions y Dependabot</a:t>
            </a:r>
            <a:endParaRPr lang="en-US" sz="1500" dirty="0"/>
          </a:p>
        </p:txBody>
      </p:sp>
      <p:sp>
        <p:nvSpPr>
          <p:cNvPr id="13" name="Text 8"/>
          <p:cNvSpPr txBox="1"/>
          <p:nvPr/>
        </p:nvSpPr>
        <p:spPr>
          <a:xfrm>
            <a:off x="548640" y="2514600"/>
            <a:ext cx="6309360" cy="228600"/>
          </a:xfrm>
          <a:prstGeom prst="rect">
            <a:avLst/>
          </a:prstGeom>
          <a:noFill/>
          <a:ln/>
        </p:spPr>
        <p:txBody>
          <a:bodyPr wrap="square" lIns="0" tIns="0" rIns="0" bIns="0" rtlCol="0" anchor="ctr"/>
          <a:lstStyle/>
          <a:p>
            <a:pPr indent="0" marL="0">
              <a:buNone/>
            </a:pPr>
            <a:r>
              <a:rPr lang="en-US" sz="1100" b="1" spc="150" kern="0" dirty="0">
                <a:solidFill>
                  <a:srgbClr val="FB923C"/>
                </a:solidFill>
              </a:rPr>
              <a:t>INSTALACIÓN</a:t>
            </a:r>
            <a:endParaRPr lang="en-US" sz="1100" dirty="0"/>
          </a:p>
        </p:txBody>
      </p:sp>
      <p:sp>
        <p:nvSpPr>
          <p:cNvPr id="14" name="Text 9"/>
          <p:cNvSpPr txBox="1"/>
          <p:nvPr/>
        </p:nvSpPr>
        <p:spPr>
          <a:xfrm>
            <a:off x="548640" y="2743200"/>
            <a:ext cx="6309360" cy="685800"/>
          </a:xfrm>
          <a:prstGeom prst="rect">
            <a:avLst/>
          </a:prstGeom>
          <a:noFill/>
          <a:ln/>
        </p:spPr>
        <p:txBody>
          <a:bodyPr wrap="square" lIns="0" tIns="0" rIns="0" bIns="0" rtlCol="0" anchor="t"/>
          <a:lstStyle/>
          <a:p>
            <a:pPr indent="0" marL="0">
              <a:buNone/>
            </a:pPr>
            <a:r>
              <a:rPr lang="en-US" sz="1400" dirty="0">
                <a:solidFill>
                  <a:srgbClr val="E4E4E7"/>
                </a:solidFill>
              </a:rPr>
              <a:t>Docker Desktop en local. Render y Dependabot vienen con sus plataformas; Dependabot se activa con .github/dependabot.yml.</a:t>
            </a:r>
            <a:endParaRPr lang="en-US" sz="1400" dirty="0"/>
          </a:p>
        </p:txBody>
      </p:sp>
      <p:sp>
        <p:nvSpPr>
          <p:cNvPr id="15" name="Text 10"/>
          <p:cNvSpPr txBox="1"/>
          <p:nvPr/>
        </p:nvSpPr>
        <p:spPr>
          <a:xfrm>
            <a:off x="548640" y="3520440"/>
            <a:ext cx="6309360" cy="228600"/>
          </a:xfrm>
          <a:prstGeom prst="rect">
            <a:avLst/>
          </a:prstGeom>
          <a:noFill/>
          <a:ln/>
        </p:spPr>
        <p:txBody>
          <a:bodyPr wrap="square" lIns="0" tIns="0" rIns="0" bIns="0" rtlCol="0" anchor="ctr"/>
          <a:lstStyle/>
          <a:p>
            <a:pPr indent="0" marL="0">
              <a:buNone/>
            </a:pPr>
            <a:r>
              <a:rPr lang="en-US" sz="1100" b="1" spc="150" kern="0" dirty="0">
                <a:solidFill>
                  <a:srgbClr val="FB923C"/>
                </a:solidFill>
              </a:rPr>
              <a:t>CONFIGURACIÓN</a:t>
            </a:r>
            <a:endParaRPr lang="en-US" sz="1100" dirty="0"/>
          </a:p>
        </p:txBody>
      </p:sp>
      <p:sp>
        <p:nvSpPr>
          <p:cNvPr id="16" name="editor"/>
          <p:cNvSpPr/>
          <p:nvPr/>
        </p:nvSpPr>
        <p:spPr>
          <a:xfrm>
            <a:off x="548640" y="3794760"/>
            <a:ext cx="6309360" cy="2423160"/>
          </a:xfrm>
          <a:prstGeom prst="roundRect">
            <a:avLst>
              <a:gd name="adj" fmla="val 3019"/>
            </a:avLst>
          </a:prstGeom>
          <a:solidFill>
            <a:srgbClr val="0D1117"/>
          </a:solidFill>
          <a:ln w="12700">
            <a:solidFill>
              <a:srgbClr val="30363D"/>
            </a:solidFill>
            <a:prstDash val="solid"/>
          </a:ln>
        </p:spPr>
      </p:sp>
      <p:sp>
        <p:nvSpPr>
          <p:cNvPr id="17" name="Shape 12"/>
          <p:cNvSpPr/>
          <p:nvPr/>
        </p:nvSpPr>
        <p:spPr>
          <a:xfrm>
            <a:off x="557784" y="3803904"/>
            <a:ext cx="6291072" cy="310896"/>
          </a:xfrm>
          <a:prstGeom prst="roundRect">
            <a:avLst>
              <a:gd name="adj" fmla="val 23529"/>
            </a:avLst>
          </a:prstGeom>
          <a:solidFill>
            <a:srgbClr val="161B22"/>
          </a:solidFill>
          <a:ln/>
        </p:spPr>
      </p:sp>
      <p:sp>
        <p:nvSpPr>
          <p:cNvPr id="18" name="Shape 13"/>
          <p:cNvSpPr/>
          <p:nvPr/>
        </p:nvSpPr>
        <p:spPr>
          <a:xfrm>
            <a:off x="557784" y="3950208"/>
            <a:ext cx="6291072" cy="164592"/>
          </a:xfrm>
          <a:prstGeom prst="rect">
            <a:avLst/>
          </a:prstGeom>
          <a:solidFill>
            <a:srgbClr val="161B22"/>
          </a:solidFill>
          <a:ln/>
        </p:spPr>
      </p:sp>
      <p:sp>
        <p:nvSpPr>
          <p:cNvPr id="19" name="Shape 14"/>
          <p:cNvSpPr/>
          <p:nvPr/>
        </p:nvSpPr>
        <p:spPr>
          <a:xfrm>
            <a:off x="548640" y="4114800"/>
            <a:ext cx="6309360" cy="0"/>
          </a:xfrm>
          <a:prstGeom prst="line">
            <a:avLst/>
          </a:prstGeom>
          <a:noFill/>
          <a:ln w="9525">
            <a:solidFill>
              <a:srgbClr val="30363D"/>
            </a:solidFill>
            <a:prstDash val="solid"/>
          </a:ln>
        </p:spPr>
      </p:sp>
      <p:sp>
        <p:nvSpPr>
          <p:cNvPr id="20" name="Shape 15"/>
          <p:cNvSpPr/>
          <p:nvPr/>
        </p:nvSpPr>
        <p:spPr>
          <a:xfrm>
            <a:off x="694944" y="3909060"/>
            <a:ext cx="100584" cy="100584"/>
          </a:xfrm>
          <a:prstGeom prst="ellipse">
            <a:avLst/>
          </a:prstGeom>
          <a:solidFill>
            <a:srgbClr val="FF5F56"/>
          </a:solidFill>
          <a:ln/>
        </p:spPr>
      </p:sp>
      <p:sp>
        <p:nvSpPr>
          <p:cNvPr id="21" name="Shape 16"/>
          <p:cNvSpPr/>
          <p:nvPr/>
        </p:nvSpPr>
        <p:spPr>
          <a:xfrm>
            <a:off x="850392" y="3909060"/>
            <a:ext cx="100584" cy="100584"/>
          </a:xfrm>
          <a:prstGeom prst="ellipse">
            <a:avLst/>
          </a:prstGeom>
          <a:solidFill>
            <a:srgbClr val="FFBD2E"/>
          </a:solidFill>
          <a:ln/>
        </p:spPr>
      </p:sp>
      <p:sp>
        <p:nvSpPr>
          <p:cNvPr id="22" name="Shape 17"/>
          <p:cNvSpPr/>
          <p:nvPr/>
        </p:nvSpPr>
        <p:spPr>
          <a:xfrm>
            <a:off x="1005840" y="3909060"/>
            <a:ext cx="100584" cy="100584"/>
          </a:xfrm>
          <a:prstGeom prst="ellipse">
            <a:avLst/>
          </a:prstGeom>
          <a:solidFill>
            <a:srgbClr val="27C93F"/>
          </a:solidFill>
          <a:ln/>
        </p:spPr>
      </p:sp>
      <p:sp>
        <p:nvSpPr>
          <p:cNvPr id="23" name="Text 18"/>
          <p:cNvSpPr txBox="1"/>
          <p:nvPr/>
        </p:nvSpPr>
        <p:spPr>
          <a:xfrm>
            <a:off x="1234440" y="3803904"/>
            <a:ext cx="5486400" cy="310896"/>
          </a:xfrm>
          <a:prstGeom prst="rect">
            <a:avLst/>
          </a:prstGeom>
          <a:noFill/>
          <a:ln/>
        </p:spPr>
        <p:txBody>
          <a:bodyPr wrap="square" lIns="0" tIns="0" rIns="0" bIns="0"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docker-compose.yml</a:t>
            </a:r>
            <a:endParaRPr lang="en-US" sz="1000" dirty="0"/>
          </a:p>
        </p:txBody>
      </p:sp>
      <p:sp>
        <p:nvSpPr>
          <p:cNvPr id="24" name="codigo"/>
          <p:cNvSpPr txBox="1"/>
          <p:nvPr/>
        </p:nvSpPr>
        <p:spPr>
          <a:xfrm>
            <a:off x="713232" y="4215384"/>
            <a:ext cx="6035040" cy="1929384"/>
          </a:xfrm>
          <a:prstGeom prst="rect">
            <a:avLst/>
          </a:prstGeom>
          <a:noFill/>
          <a:ln/>
        </p:spPr>
        <p:txBody>
          <a:bodyPr wrap="square" lIns="0" tIns="0" rIns="0" bIns="0" rtlCol="0" anchor="t"/>
          <a:lstStyle/>
          <a:p>
            <a:pPr indent="0" marL="0">
              <a:buNone/>
            </a:pPr>
            <a:r>
              <a:rPr lang="en-US" sz="1100" dirty="0">
                <a:solidFill>
                  <a:srgbClr val="6E7681"/>
                </a:solidFill>
                <a:latin typeface="Courier New" pitchFamily="34" charset="0"/>
                <a:ea typeface="Courier New" pitchFamily="34" charset="-122"/>
                <a:cs typeface="Courier New" pitchFamily="34" charset="-120"/>
              </a:rPr>
              <a:t> 1  </a:t>
            </a:r>
            <a:pPr indent="0" marL="0">
              <a:buNone/>
            </a:pPr>
            <a:r>
              <a:rPr lang="en-US" sz="1100" dirty="0">
                <a:solidFill>
                  <a:srgbClr val="7EE787"/>
                </a:solidFill>
                <a:latin typeface="Courier New" pitchFamily="34" charset="0"/>
                <a:ea typeface="Courier New" pitchFamily="34" charset="-122"/>
                <a:cs typeface="Courier New" pitchFamily="34" charset="-120"/>
              </a:rPr>
              <a:t>restart</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unless-stopped</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8B949E"/>
                </a:solidFill>
                <a:latin typeface="Courier New" pitchFamily="34" charset="0"/>
                <a:ea typeface="Courier New" pitchFamily="34" charset="-122"/>
                <a:cs typeface="Courier New" pitchFamily="34" charset="-120"/>
              </a:rPr>
              <a:t># si muere, se levanta</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2  </a:t>
            </a:r>
            <a:pPr indent="0" marL="0">
              <a:buNone/>
            </a:pPr>
            <a:r>
              <a:rPr lang="en-US" sz="1100" dirty="0">
                <a:solidFill>
                  <a:srgbClr val="7EE787"/>
                </a:solidFill>
                <a:latin typeface="Courier New" pitchFamily="34" charset="0"/>
                <a:ea typeface="Courier New" pitchFamily="34" charset="-122"/>
                <a:cs typeface="Courier New" pitchFamily="34" charset="-120"/>
              </a:rPr>
              <a:t>healthcheck</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3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test</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wget</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-qO-</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http://127.0.0.1:</a:t>
            </a:r>
            <a:pPr indent="0" marL="0">
              <a:buNone/>
            </a:pPr>
            <a:r>
              <a:rPr lang="en-US" sz="1100" dirty="0">
                <a:solidFill>
                  <a:srgbClr val="79C0FF"/>
                </a:solidFill>
                <a:latin typeface="Courier New" pitchFamily="34" charset="0"/>
                <a:ea typeface="Courier New" pitchFamily="34" charset="-122"/>
                <a:cs typeface="Courier New" pitchFamily="34" charset="-120"/>
              </a:rPr>
              <a:t>$${PORT}</a:t>
            </a:r>
            <a:pPr indent="0" marL="0">
              <a:buNone/>
            </a:pPr>
            <a:r>
              <a:rPr lang="en-US" sz="1100" dirty="0">
                <a:solidFill>
                  <a:srgbClr val="A5D6FF"/>
                </a:solidFill>
                <a:latin typeface="Courier New" pitchFamily="34" charset="0"/>
                <a:ea typeface="Courier New" pitchFamily="34" charset="-122"/>
                <a:cs typeface="Courier New" pitchFamily="34" charset="-120"/>
              </a:rPr>
              <a:t>/health</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4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interval</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9C0FF"/>
                </a:solidFill>
                <a:latin typeface="Courier New" pitchFamily="34" charset="0"/>
                <a:ea typeface="Courier New" pitchFamily="34" charset="-122"/>
                <a:cs typeface="Courier New" pitchFamily="34" charset="-120"/>
              </a:rPr>
              <a:t>15s</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5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retries</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9C0FF"/>
                </a:solidFill>
                <a:latin typeface="Courier New" pitchFamily="34" charset="0"/>
                <a:ea typeface="Courier New" pitchFamily="34" charset="-122"/>
                <a:cs typeface="Courier New" pitchFamily="34" charset="-120"/>
              </a:rPr>
              <a:t>3</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6  </a:t>
            </a:r>
            <a:pPr indent="0" marL="0">
              <a:buNone/>
            </a:pPr>
            <a:r>
              <a:rPr lang="en-US" sz="1100" dirty="0">
                <a:solidFill>
                  <a:srgbClr val="7EE787"/>
                </a:solidFill>
                <a:latin typeface="Courier New" pitchFamily="34" charset="0"/>
                <a:ea typeface="Courier New" pitchFamily="34" charset="-122"/>
                <a:cs typeface="Courier New" pitchFamily="34" charset="-120"/>
              </a:rPr>
              <a:t>deploy</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7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resources</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8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limits</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cpus</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"0.50"</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memory</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9C0FF"/>
                </a:solidFill>
                <a:latin typeface="Courier New" pitchFamily="34" charset="0"/>
                <a:ea typeface="Courier New" pitchFamily="34" charset="-122"/>
                <a:cs typeface="Courier New" pitchFamily="34" charset="-120"/>
              </a:rPr>
              <a:t>256M</a:t>
            </a:r>
            <a:pPr indent="0" marL="0">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9  </a:t>
            </a:r>
            <a:pPr indent="0" marL="0">
              <a:buNone/>
            </a:pPr>
            <a:r>
              <a:rPr lang="en-US" sz="1100" dirty="0">
                <a:solidFill>
                  <a:srgbClr val="7EE787"/>
                </a:solidFill>
                <a:latin typeface="Courier New" pitchFamily="34" charset="0"/>
                <a:ea typeface="Courier New" pitchFamily="34" charset="-122"/>
                <a:cs typeface="Courier New" pitchFamily="34" charset="-120"/>
              </a:rPr>
              <a:t>gateway</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10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depends_on</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11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analysis-service</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condition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service_healthy</a:t>
            </a:r>
            <a:pPr indent="0" marL="0">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p:txBody>
      </p:sp>
      <p:sp>
        <p:nvSpPr>
          <p:cNvPr id="25" name="Shape 20"/>
          <p:cNvSpPr/>
          <p:nvPr/>
        </p:nvSpPr>
        <p:spPr>
          <a:xfrm>
            <a:off x="7132320" y="1600200"/>
            <a:ext cx="4507992" cy="2606040"/>
          </a:xfrm>
          <a:prstGeom prst="roundRect">
            <a:avLst>
              <a:gd name="adj" fmla="val 4211"/>
            </a:avLst>
          </a:prstGeom>
          <a:solidFill>
            <a:schemeClr val="tx2"/>
          </a:solidFill>
          <a:ln/>
        </p:spPr>
      </p:sp>
      <p:pic>
        <p:nvPicPr>
          <p:cNvPr id="26" name="Image 3" descr="preencoded.png">    </p:cNvPr>
          <p:cNvPicPr>
            <a:picLocks noChangeAspect="1"/>
          </p:cNvPicPr>
          <p:nvPr/>
        </p:nvPicPr>
        <p:blipFill>
          <a:blip r:embed="rId4"/>
          <a:stretch>
            <a:fillRect/>
          </a:stretch>
        </p:blipFill>
        <p:spPr>
          <a:xfrm>
            <a:off x="7360920" y="1783080"/>
            <a:ext cx="256032" cy="256032"/>
          </a:xfrm>
          <a:prstGeom prst="rect">
            <a:avLst/>
          </a:prstGeom>
        </p:spPr>
      </p:pic>
      <p:sp>
        <p:nvSpPr>
          <p:cNvPr id="27" name="Text 21"/>
          <p:cNvSpPr txBox="1"/>
          <p:nvPr/>
        </p:nvSpPr>
        <p:spPr>
          <a:xfrm>
            <a:off x="7726680" y="1801368"/>
            <a:ext cx="3200400" cy="228600"/>
          </a:xfrm>
          <a:prstGeom prst="rect">
            <a:avLst/>
          </a:prstGeom>
          <a:noFill/>
          <a:ln/>
        </p:spPr>
        <p:txBody>
          <a:bodyPr wrap="square" lIns="0" tIns="0" rIns="0" bIns="0" rtlCol="0" anchor="ctr"/>
          <a:lstStyle/>
          <a:p>
            <a:pPr indent="0" marL="0">
              <a:buNone/>
            </a:pPr>
            <a:r>
              <a:rPr lang="en-US" sz="1100" b="1" spc="150" kern="0" dirty="0">
                <a:solidFill>
                  <a:srgbClr val="FB923C"/>
                </a:solidFill>
              </a:rPr>
              <a:t>DEMO EN VIVO</a:t>
            </a:r>
            <a:endParaRPr lang="en-US" sz="1100" dirty="0"/>
          </a:p>
        </p:txBody>
      </p:sp>
      <p:sp>
        <p:nvSpPr>
          <p:cNvPr id="28" name="Shape 22"/>
          <p:cNvSpPr/>
          <p:nvPr/>
        </p:nvSpPr>
        <p:spPr>
          <a:xfrm>
            <a:off x="7360920" y="2240280"/>
            <a:ext cx="292608" cy="292608"/>
          </a:xfrm>
          <a:prstGeom prst="ellipse">
            <a:avLst/>
          </a:prstGeom>
          <a:solidFill>
            <a:srgbClr val="FB923C"/>
          </a:solidFill>
          <a:ln/>
        </p:spPr>
      </p:sp>
      <p:sp>
        <p:nvSpPr>
          <p:cNvPr id="29" name="Text 23"/>
          <p:cNvSpPr txBox="1"/>
          <p:nvPr/>
        </p:nvSpPr>
        <p:spPr>
          <a:xfrm>
            <a:off x="7360920" y="2240280"/>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30" name="Text 24"/>
          <p:cNvSpPr txBox="1"/>
          <p:nvPr/>
        </p:nvSpPr>
        <p:spPr>
          <a:xfrm>
            <a:off x="7790688" y="2212848"/>
            <a:ext cx="3657600" cy="475488"/>
          </a:xfrm>
          <a:prstGeom prst="rect">
            <a:avLst/>
          </a:prstGeom>
          <a:noFill/>
          <a:ln/>
        </p:spPr>
        <p:txBody>
          <a:bodyPr wrap="square" lIns="0" tIns="0" rIns="0" bIns="0" rtlCol="0" anchor="t"/>
          <a:lstStyle/>
          <a:p>
            <a:pPr indent="0" marL="0">
              <a:buNone/>
            </a:pPr>
            <a:r>
              <a:rPr lang="en-US" sz="1300" dirty="0">
                <a:solidFill>
                  <a:schemeClr val="bg1"/>
                </a:solidFill>
              </a:rPr>
              <a:t>docker compose ps: todos healthy</a:t>
            </a:r>
            <a:endParaRPr lang="en-US" sz="1300" dirty="0"/>
          </a:p>
        </p:txBody>
      </p:sp>
      <p:sp>
        <p:nvSpPr>
          <p:cNvPr id="31" name="Shape 25"/>
          <p:cNvSpPr/>
          <p:nvPr/>
        </p:nvSpPr>
        <p:spPr>
          <a:xfrm>
            <a:off x="7360920" y="2724912"/>
            <a:ext cx="292608" cy="292608"/>
          </a:xfrm>
          <a:prstGeom prst="ellipse">
            <a:avLst/>
          </a:prstGeom>
          <a:solidFill>
            <a:srgbClr val="FB923C"/>
          </a:solidFill>
          <a:ln/>
        </p:spPr>
      </p:sp>
      <p:sp>
        <p:nvSpPr>
          <p:cNvPr id="32" name="Text 26"/>
          <p:cNvSpPr txBox="1"/>
          <p:nvPr/>
        </p:nvSpPr>
        <p:spPr>
          <a:xfrm>
            <a:off x="7360920" y="2724912"/>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33" name="Text 27"/>
          <p:cNvSpPr txBox="1"/>
          <p:nvPr/>
        </p:nvSpPr>
        <p:spPr>
          <a:xfrm>
            <a:off x="7790688" y="2697480"/>
            <a:ext cx="3657600" cy="475488"/>
          </a:xfrm>
          <a:prstGeom prst="rect">
            <a:avLst/>
          </a:prstGeom>
          <a:noFill/>
          <a:ln/>
        </p:spPr>
        <p:txBody>
          <a:bodyPr wrap="square" lIns="0" tIns="0" rIns="0" bIns="0" rtlCol="0" anchor="t"/>
          <a:lstStyle/>
          <a:p>
            <a:pPr indent="0" marL="0">
              <a:buNone/>
            </a:pPr>
            <a:r>
              <a:rPr lang="en-US" sz="1300" dirty="0">
                <a:solidFill>
                  <a:schemeClr val="bg1"/>
                </a:solidFill>
              </a:rPr>
              <a:t>docker kill del analysis-service</a:t>
            </a:r>
            <a:endParaRPr lang="en-US" sz="1300" dirty="0"/>
          </a:p>
        </p:txBody>
      </p:sp>
      <p:sp>
        <p:nvSpPr>
          <p:cNvPr id="34" name="Shape 28"/>
          <p:cNvSpPr/>
          <p:nvPr/>
        </p:nvSpPr>
        <p:spPr>
          <a:xfrm>
            <a:off x="7360920" y="3209544"/>
            <a:ext cx="292608" cy="292608"/>
          </a:xfrm>
          <a:prstGeom prst="ellipse">
            <a:avLst/>
          </a:prstGeom>
          <a:solidFill>
            <a:srgbClr val="FB923C"/>
          </a:solidFill>
          <a:ln/>
        </p:spPr>
      </p:sp>
      <p:sp>
        <p:nvSpPr>
          <p:cNvPr id="35" name="Text 29"/>
          <p:cNvSpPr txBox="1"/>
          <p:nvPr/>
        </p:nvSpPr>
        <p:spPr>
          <a:xfrm>
            <a:off x="7360920" y="3209544"/>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36" name="Text 30"/>
          <p:cNvSpPr txBox="1"/>
          <p:nvPr/>
        </p:nvSpPr>
        <p:spPr>
          <a:xfrm>
            <a:off x="7790688" y="3182112"/>
            <a:ext cx="3657600" cy="475488"/>
          </a:xfrm>
          <a:prstGeom prst="rect">
            <a:avLst/>
          </a:prstGeom>
          <a:noFill/>
          <a:ln/>
        </p:spPr>
        <p:txBody>
          <a:bodyPr wrap="square" lIns="0" tIns="0" rIns="0" bIns="0" rtlCol="0" anchor="t"/>
          <a:lstStyle/>
          <a:p>
            <a:pPr indent="0" marL="0">
              <a:buNone/>
            </a:pPr>
            <a:r>
              <a:rPr lang="en-US" sz="1300" dirty="0">
                <a:solidFill>
                  <a:schemeClr val="bg1"/>
                </a:solidFill>
              </a:rPr>
              <a:t>Segundos después vuelve a estar healthy</a:t>
            </a:r>
            <a:endParaRPr lang="en-US" sz="1300" dirty="0"/>
          </a:p>
        </p:txBody>
      </p:sp>
      <p:sp>
        <p:nvSpPr>
          <p:cNvPr id="37" name="Shape 31"/>
          <p:cNvSpPr/>
          <p:nvPr/>
        </p:nvSpPr>
        <p:spPr>
          <a:xfrm>
            <a:off x="7360920" y="3694176"/>
            <a:ext cx="292608" cy="292608"/>
          </a:xfrm>
          <a:prstGeom prst="ellipse">
            <a:avLst/>
          </a:prstGeom>
          <a:solidFill>
            <a:srgbClr val="FB923C"/>
          </a:solidFill>
          <a:ln/>
        </p:spPr>
      </p:sp>
      <p:sp>
        <p:nvSpPr>
          <p:cNvPr id="38" name="Text 32"/>
          <p:cNvSpPr txBox="1"/>
          <p:nvPr/>
        </p:nvSpPr>
        <p:spPr>
          <a:xfrm>
            <a:off x="7360920" y="3694176"/>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39" name="Text 33"/>
          <p:cNvSpPr txBox="1"/>
          <p:nvPr/>
        </p:nvSpPr>
        <p:spPr>
          <a:xfrm>
            <a:off x="7790688" y="3666744"/>
            <a:ext cx="3657600" cy="475488"/>
          </a:xfrm>
          <a:prstGeom prst="rect">
            <a:avLst/>
          </a:prstGeom>
          <a:noFill/>
          <a:ln/>
        </p:spPr>
        <p:txBody>
          <a:bodyPr wrap="square" lIns="0" tIns="0" rIns="0" bIns="0" rtlCol="0" anchor="t"/>
          <a:lstStyle/>
          <a:p>
            <a:pPr indent="0" marL="0">
              <a:buNone/>
            </a:pPr>
            <a:r>
              <a:rPr lang="en-US" sz="1300" dirty="0">
                <a:solidFill>
                  <a:schemeClr val="bg1"/>
                </a:solidFill>
              </a:rPr>
              <a:t>Actions → Operate → Run workflow</a:t>
            </a:r>
            <a:endParaRPr lang="en-US" sz="1300" dirty="0"/>
          </a:p>
        </p:txBody>
      </p:sp>
      <p:sp>
        <p:nvSpPr>
          <p:cNvPr id="40" name="captura"/>
          <p:cNvSpPr/>
          <p:nvPr/>
        </p:nvSpPr>
        <p:spPr>
          <a:xfrm>
            <a:off x="7132320" y="4389120"/>
            <a:ext cx="4507992" cy="1828800"/>
          </a:xfrm>
          <a:prstGeom prst="roundRect">
            <a:avLst>
              <a:gd name="adj" fmla="val 6000"/>
            </a:avLst>
          </a:prstGeom>
          <a:solidFill>
            <a:schemeClr val="tx1"/>
          </a:solidFill>
          <a:ln w="15875">
            <a:solidFill>
              <a:srgbClr val="FB923C"/>
            </a:solidFill>
            <a:prstDash val="dash"/>
          </a:ln>
        </p:spPr>
      </p:sp>
      <p:pic>
        <p:nvPicPr>
          <p:cNvPr id="41" name="Image 4" descr="preencoded.png">    </p:cNvPr>
          <p:cNvPicPr>
            <a:picLocks noChangeAspect="1"/>
          </p:cNvPicPr>
          <p:nvPr/>
        </p:nvPicPr>
        <p:blipFill>
          <a:blip r:embed="rId5"/>
          <a:stretch>
            <a:fillRect/>
          </a:stretch>
        </p:blipFill>
        <p:spPr>
          <a:xfrm>
            <a:off x="9180576" y="4754880"/>
            <a:ext cx="411480" cy="411480"/>
          </a:xfrm>
          <a:prstGeom prst="rect">
            <a:avLst/>
          </a:prstGeom>
        </p:spPr>
      </p:pic>
      <p:sp>
        <p:nvSpPr>
          <p:cNvPr id="42" name="Text 35"/>
          <p:cNvSpPr txBox="1"/>
          <p:nvPr/>
        </p:nvSpPr>
        <p:spPr>
          <a:xfrm>
            <a:off x="7315200" y="5257800"/>
            <a:ext cx="4142232" cy="731520"/>
          </a:xfrm>
          <a:prstGeom prst="rect">
            <a:avLst/>
          </a:prstGeom>
          <a:noFill/>
          <a:ln/>
        </p:spPr>
        <p:txBody>
          <a:bodyPr wrap="square" lIns="0" tIns="0" rIns="0" bIns="0" rtlCol="0" anchor="t"/>
          <a:lstStyle/>
          <a:p>
            <a:pPr algn="ctr" indent="0" marL="0">
              <a:buNone/>
            </a:pPr>
            <a:r>
              <a:rPr lang="en-US" sz="1200" dirty="0">
                <a:solidFill>
                  <a:schemeClr val="bg2"/>
                </a:solidFill>
              </a:rPr>
              <a:t>[CAPTURA: resumen del workflow Operate con los 3 servicios en ok]</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594360"/>
          </a:xfrm>
          <a:prstGeom prst="rect">
            <a:avLst/>
          </a:prstGeom>
          <a:noFill/>
          <a:ln/>
        </p:spPr>
        <p:txBody>
          <a:bodyPr wrap="square" lIns="0" tIns="0" rIns="0" bIns="0" rtlCol="0" anchor="ctr"/>
          <a:lstStyle/>
          <a:p>
            <a:pPr algn="l" indent="0" marL="0">
              <a:buNone/>
            </a:pPr>
            <a:r>
              <a:rPr lang="en-US" sz="2600" b="1" dirty="0">
                <a:solidFill>
                  <a:schemeClr val="bg1"/>
                </a:solidFill>
              </a:rPr>
              <a:t>Monitor: Prometheus mide y Grafana lo muestra en vivo</a:t>
            </a:r>
            <a:endParaRPr lang="en-US" sz="2600" dirty="0"/>
          </a:p>
        </p:txBody>
      </p:sp>
      <p:sp>
        <p:nvSpPr>
          <p:cNvPr id="3" name="Shape 1"/>
          <p:cNvSpPr/>
          <p:nvPr/>
        </p:nvSpPr>
        <p:spPr>
          <a:xfrm>
            <a:off x="548640" y="365760"/>
            <a:ext cx="2103120" cy="347472"/>
          </a:xfrm>
          <a:prstGeom prst="roundRect">
            <a:avLst>
              <a:gd name="adj" fmla="val 50000"/>
            </a:avLst>
          </a:prstGeom>
          <a:solidFill>
            <a:schemeClr val="accent4"/>
          </a:solidFill>
          <a:ln/>
        </p:spPr>
      </p:sp>
      <p:sp>
        <p:nvSpPr>
          <p:cNvPr id="4" name="Text 2"/>
          <p:cNvSpPr txBox="1"/>
          <p:nvPr/>
        </p:nvSpPr>
        <p:spPr>
          <a:xfrm>
            <a:off x="548640" y="365760"/>
            <a:ext cx="2103120" cy="347472"/>
          </a:xfrm>
          <a:prstGeom prst="rect">
            <a:avLst/>
          </a:prstGeom>
          <a:noFill/>
          <a:ln/>
        </p:spPr>
        <p:txBody>
          <a:bodyPr wrap="square" lIns="0" tIns="0" rIns="0" bIns="0" rtlCol="0" anchor="ctr"/>
          <a:lstStyle/>
          <a:p>
            <a:pPr algn="ctr" indent="0" marL="0">
              <a:buNone/>
            </a:pPr>
            <a:r>
              <a:rPr lang="en-US" sz="1200" b="1" spc="100" kern="0" dirty="0">
                <a:solidFill>
                  <a:schemeClr val="tx1"/>
                </a:solidFill>
              </a:rPr>
              <a:t>FASE 8 · MONITOR</a:t>
            </a:r>
            <a:endParaRPr lang="en-US" sz="1200" dirty="0"/>
          </a:p>
        </p:txBody>
      </p:sp>
      <p:sp>
        <p:nvSpPr>
          <p:cNvPr id="5" name="Shape 3"/>
          <p:cNvSpPr/>
          <p:nvPr/>
        </p:nvSpPr>
        <p:spPr>
          <a:xfrm>
            <a:off x="9720072" y="274320"/>
            <a:ext cx="548640" cy="548640"/>
          </a:xfrm>
          <a:prstGeom prst="roundRect">
            <a:avLst>
              <a:gd name="adj" fmla="val 16667"/>
            </a:avLst>
          </a:prstGeom>
          <a:solidFill>
            <a:schemeClr val="tx2"/>
          </a:solidFill>
          <a:ln/>
        </p:spPr>
      </p:sp>
      <p:pic>
        <p:nvPicPr>
          <p:cNvPr id="6" name="Image 0" descr="preencoded.png">    </p:cNvPr>
          <p:cNvPicPr>
            <a:picLocks noChangeAspect="1"/>
          </p:cNvPicPr>
          <p:nvPr/>
        </p:nvPicPr>
        <p:blipFill>
          <a:blip r:embed="rId1"/>
          <a:stretch>
            <a:fillRect/>
          </a:stretch>
        </p:blipFill>
        <p:spPr>
          <a:xfrm>
            <a:off x="9840773" y="395021"/>
            <a:ext cx="307238" cy="307238"/>
          </a:xfrm>
          <a:prstGeom prst="rect">
            <a:avLst/>
          </a:prstGeom>
        </p:spPr>
      </p:pic>
      <p:sp>
        <p:nvSpPr>
          <p:cNvPr id="7" name="Shape 4"/>
          <p:cNvSpPr/>
          <p:nvPr/>
        </p:nvSpPr>
        <p:spPr>
          <a:xfrm>
            <a:off x="10405872" y="274320"/>
            <a:ext cx="548640" cy="548640"/>
          </a:xfrm>
          <a:prstGeom prst="roundRect">
            <a:avLst>
              <a:gd name="adj" fmla="val 16667"/>
            </a:avLst>
          </a:prstGeom>
          <a:solidFill>
            <a:schemeClr val="tx2"/>
          </a:solidFill>
          <a:ln/>
        </p:spPr>
      </p:sp>
      <p:pic>
        <p:nvPicPr>
          <p:cNvPr id="8" name="Image 1" descr="preencoded.png">    </p:cNvPr>
          <p:cNvPicPr>
            <a:picLocks noChangeAspect="1"/>
          </p:cNvPicPr>
          <p:nvPr/>
        </p:nvPicPr>
        <p:blipFill>
          <a:blip r:embed="rId2"/>
          <a:stretch>
            <a:fillRect/>
          </a:stretch>
        </p:blipFill>
        <p:spPr>
          <a:xfrm>
            <a:off x="10526573" y="395021"/>
            <a:ext cx="307238" cy="307238"/>
          </a:xfrm>
          <a:prstGeom prst="rect">
            <a:avLst/>
          </a:prstGeom>
        </p:spPr>
      </p:pic>
      <p:sp>
        <p:nvSpPr>
          <p:cNvPr id="9" name="Shape 5"/>
          <p:cNvSpPr/>
          <p:nvPr/>
        </p:nvSpPr>
        <p:spPr>
          <a:xfrm>
            <a:off x="11091672" y="274320"/>
            <a:ext cx="548640" cy="548640"/>
          </a:xfrm>
          <a:prstGeom prst="roundRect">
            <a:avLst>
              <a:gd name="adj" fmla="val 16667"/>
            </a:avLst>
          </a:prstGeom>
          <a:solidFill>
            <a:schemeClr val="tx2"/>
          </a:solidFill>
          <a:ln/>
        </p:spPr>
      </p:sp>
      <p:pic>
        <p:nvPicPr>
          <p:cNvPr id="10" name="Image 2" descr="preencoded.png">    </p:cNvPr>
          <p:cNvPicPr>
            <a:picLocks noChangeAspect="1"/>
          </p:cNvPicPr>
          <p:nvPr/>
        </p:nvPicPr>
        <p:blipFill>
          <a:blip r:embed="rId3"/>
          <a:stretch>
            <a:fillRect/>
          </a:stretch>
        </p:blipFill>
        <p:spPr>
          <a:xfrm>
            <a:off x="11212373" y="395021"/>
            <a:ext cx="307238" cy="307238"/>
          </a:xfrm>
          <a:prstGeom prst="rect">
            <a:avLst/>
          </a:prstGeom>
        </p:spPr>
      </p:pic>
      <p:sp>
        <p:nvSpPr>
          <p:cNvPr id="11" name="Text 6"/>
          <p:cNvSpPr txBox="1"/>
          <p:nvPr/>
        </p:nvSpPr>
        <p:spPr>
          <a:xfrm>
            <a:off x="548640" y="1600200"/>
            <a:ext cx="6309360" cy="228600"/>
          </a:xfrm>
          <a:prstGeom prst="rect">
            <a:avLst/>
          </a:prstGeom>
          <a:noFill/>
          <a:ln/>
        </p:spPr>
        <p:txBody>
          <a:bodyPr wrap="square" lIns="0" tIns="0" rIns="0" bIns="0" rtlCol="0" anchor="ctr"/>
          <a:lstStyle/>
          <a:p>
            <a:pPr indent="0" marL="0">
              <a:buNone/>
            </a:pPr>
            <a:r>
              <a:rPr lang="en-US" sz="1100" b="1" spc="150" kern="0" dirty="0">
                <a:solidFill>
                  <a:schemeClr val="accent4"/>
                </a:solidFill>
              </a:rPr>
              <a:t>HERRAMIENTA</a:t>
            </a:r>
            <a:endParaRPr lang="en-US" sz="1100" dirty="0"/>
          </a:p>
        </p:txBody>
      </p:sp>
      <p:sp>
        <p:nvSpPr>
          <p:cNvPr id="12" name="Text 7"/>
          <p:cNvSpPr txBox="1"/>
          <p:nvPr/>
        </p:nvSpPr>
        <p:spPr>
          <a:xfrm>
            <a:off x="548640" y="1828800"/>
            <a:ext cx="6309360" cy="502920"/>
          </a:xfrm>
          <a:prstGeom prst="rect">
            <a:avLst/>
          </a:prstGeom>
          <a:noFill/>
          <a:ln/>
        </p:spPr>
        <p:txBody>
          <a:bodyPr wrap="square" lIns="0" tIns="0" rIns="0" bIns="0" rtlCol="0" anchor="t"/>
          <a:lstStyle/>
          <a:p>
            <a:pPr indent="0" marL="0">
              <a:buNone/>
            </a:pPr>
            <a:r>
              <a:rPr lang="en-US" sz="1500" b="1" dirty="0">
                <a:solidFill>
                  <a:schemeClr val="bg1"/>
                </a:solidFill>
              </a:rPr>
              <a:t>Prometheus (métricas y alertas), Grafana (dashboard) y UptimeRobot (disponibilidad)</a:t>
            </a:r>
            <a:endParaRPr lang="en-US" sz="1500" dirty="0"/>
          </a:p>
        </p:txBody>
      </p:sp>
      <p:sp>
        <p:nvSpPr>
          <p:cNvPr id="13" name="Text 8"/>
          <p:cNvSpPr txBox="1"/>
          <p:nvPr/>
        </p:nvSpPr>
        <p:spPr>
          <a:xfrm>
            <a:off x="548640" y="2514600"/>
            <a:ext cx="6309360" cy="228600"/>
          </a:xfrm>
          <a:prstGeom prst="rect">
            <a:avLst/>
          </a:prstGeom>
          <a:noFill/>
          <a:ln/>
        </p:spPr>
        <p:txBody>
          <a:bodyPr wrap="square" lIns="0" tIns="0" rIns="0" bIns="0" rtlCol="0" anchor="ctr"/>
          <a:lstStyle/>
          <a:p>
            <a:pPr indent="0" marL="0">
              <a:buNone/>
            </a:pPr>
            <a:r>
              <a:rPr lang="en-US" sz="1100" b="1" spc="150" kern="0" dirty="0">
                <a:solidFill>
                  <a:schemeClr val="accent4"/>
                </a:solidFill>
              </a:rPr>
              <a:t>INSTALACIÓN</a:t>
            </a:r>
            <a:endParaRPr lang="en-US" sz="1100" dirty="0"/>
          </a:p>
        </p:txBody>
      </p:sp>
      <p:sp>
        <p:nvSpPr>
          <p:cNvPr id="14" name="Text 9"/>
          <p:cNvSpPr txBox="1"/>
          <p:nvPr/>
        </p:nvSpPr>
        <p:spPr>
          <a:xfrm>
            <a:off x="548640" y="2743200"/>
            <a:ext cx="6309360" cy="685800"/>
          </a:xfrm>
          <a:prstGeom prst="rect">
            <a:avLst/>
          </a:prstGeom>
          <a:noFill/>
          <a:ln/>
        </p:spPr>
        <p:txBody>
          <a:bodyPr wrap="square" lIns="0" tIns="0" rIns="0" bIns="0" rtlCol="0" anchor="t"/>
          <a:lstStyle/>
          <a:p>
            <a:pPr indent="0" marL="0">
              <a:buNone/>
            </a:pPr>
            <a:r>
              <a:rPr lang="en-US" sz="1400" dirty="0">
                <a:solidFill>
                  <a:srgbClr val="E4E4E7"/>
                </a:solidFill>
              </a:rPr>
              <a:t>Con Docker, sin instalar nada más: bun run monitoring:up levanta los servicios, Prometheus en :9090 y Grafana en :3001.</a:t>
            </a:r>
            <a:endParaRPr lang="en-US" sz="1400" dirty="0"/>
          </a:p>
        </p:txBody>
      </p:sp>
      <p:sp>
        <p:nvSpPr>
          <p:cNvPr id="15" name="Text 10"/>
          <p:cNvSpPr txBox="1"/>
          <p:nvPr/>
        </p:nvSpPr>
        <p:spPr>
          <a:xfrm>
            <a:off x="548640" y="3520440"/>
            <a:ext cx="6309360" cy="228600"/>
          </a:xfrm>
          <a:prstGeom prst="rect">
            <a:avLst/>
          </a:prstGeom>
          <a:noFill/>
          <a:ln/>
        </p:spPr>
        <p:txBody>
          <a:bodyPr wrap="square" lIns="0" tIns="0" rIns="0" bIns="0" rtlCol="0" anchor="ctr"/>
          <a:lstStyle/>
          <a:p>
            <a:pPr indent="0" marL="0">
              <a:buNone/>
            </a:pPr>
            <a:r>
              <a:rPr lang="en-US" sz="1100" b="1" spc="150" kern="0" dirty="0">
                <a:solidFill>
                  <a:schemeClr val="accent4"/>
                </a:solidFill>
              </a:rPr>
              <a:t>CONFIGURACIÓN</a:t>
            </a:r>
            <a:endParaRPr lang="en-US" sz="1100" dirty="0"/>
          </a:p>
        </p:txBody>
      </p:sp>
      <p:sp>
        <p:nvSpPr>
          <p:cNvPr id="16" name="editor"/>
          <p:cNvSpPr/>
          <p:nvPr/>
        </p:nvSpPr>
        <p:spPr>
          <a:xfrm>
            <a:off x="548640" y="3794760"/>
            <a:ext cx="6309360" cy="2423160"/>
          </a:xfrm>
          <a:prstGeom prst="roundRect">
            <a:avLst>
              <a:gd name="adj" fmla="val 3019"/>
            </a:avLst>
          </a:prstGeom>
          <a:solidFill>
            <a:srgbClr val="0D1117"/>
          </a:solidFill>
          <a:ln w="12700">
            <a:solidFill>
              <a:srgbClr val="30363D"/>
            </a:solidFill>
            <a:prstDash val="solid"/>
          </a:ln>
        </p:spPr>
      </p:sp>
      <p:sp>
        <p:nvSpPr>
          <p:cNvPr id="17" name="Shape 12"/>
          <p:cNvSpPr/>
          <p:nvPr/>
        </p:nvSpPr>
        <p:spPr>
          <a:xfrm>
            <a:off x="557784" y="3803904"/>
            <a:ext cx="6291072" cy="310896"/>
          </a:xfrm>
          <a:prstGeom prst="roundRect">
            <a:avLst>
              <a:gd name="adj" fmla="val 23529"/>
            </a:avLst>
          </a:prstGeom>
          <a:solidFill>
            <a:srgbClr val="161B22"/>
          </a:solidFill>
          <a:ln/>
        </p:spPr>
      </p:sp>
      <p:sp>
        <p:nvSpPr>
          <p:cNvPr id="18" name="Shape 13"/>
          <p:cNvSpPr/>
          <p:nvPr/>
        </p:nvSpPr>
        <p:spPr>
          <a:xfrm>
            <a:off x="557784" y="3950208"/>
            <a:ext cx="6291072" cy="164592"/>
          </a:xfrm>
          <a:prstGeom prst="rect">
            <a:avLst/>
          </a:prstGeom>
          <a:solidFill>
            <a:srgbClr val="161B22"/>
          </a:solidFill>
          <a:ln/>
        </p:spPr>
      </p:sp>
      <p:sp>
        <p:nvSpPr>
          <p:cNvPr id="19" name="Shape 14"/>
          <p:cNvSpPr/>
          <p:nvPr/>
        </p:nvSpPr>
        <p:spPr>
          <a:xfrm>
            <a:off x="548640" y="4114800"/>
            <a:ext cx="6309360" cy="0"/>
          </a:xfrm>
          <a:prstGeom prst="line">
            <a:avLst/>
          </a:prstGeom>
          <a:noFill/>
          <a:ln w="9525">
            <a:solidFill>
              <a:srgbClr val="30363D"/>
            </a:solidFill>
            <a:prstDash val="solid"/>
          </a:ln>
        </p:spPr>
      </p:sp>
      <p:sp>
        <p:nvSpPr>
          <p:cNvPr id="20" name="Shape 15"/>
          <p:cNvSpPr/>
          <p:nvPr/>
        </p:nvSpPr>
        <p:spPr>
          <a:xfrm>
            <a:off x="694944" y="3909060"/>
            <a:ext cx="100584" cy="100584"/>
          </a:xfrm>
          <a:prstGeom prst="ellipse">
            <a:avLst/>
          </a:prstGeom>
          <a:solidFill>
            <a:srgbClr val="FF5F56"/>
          </a:solidFill>
          <a:ln/>
        </p:spPr>
      </p:sp>
      <p:sp>
        <p:nvSpPr>
          <p:cNvPr id="21" name="Shape 16"/>
          <p:cNvSpPr/>
          <p:nvPr/>
        </p:nvSpPr>
        <p:spPr>
          <a:xfrm>
            <a:off x="850392" y="3909060"/>
            <a:ext cx="100584" cy="100584"/>
          </a:xfrm>
          <a:prstGeom prst="ellipse">
            <a:avLst/>
          </a:prstGeom>
          <a:solidFill>
            <a:srgbClr val="FFBD2E"/>
          </a:solidFill>
          <a:ln/>
        </p:spPr>
      </p:sp>
      <p:sp>
        <p:nvSpPr>
          <p:cNvPr id="22" name="Shape 17"/>
          <p:cNvSpPr/>
          <p:nvPr/>
        </p:nvSpPr>
        <p:spPr>
          <a:xfrm>
            <a:off x="1005840" y="3909060"/>
            <a:ext cx="100584" cy="100584"/>
          </a:xfrm>
          <a:prstGeom prst="ellipse">
            <a:avLst/>
          </a:prstGeom>
          <a:solidFill>
            <a:srgbClr val="27C93F"/>
          </a:solidFill>
          <a:ln/>
        </p:spPr>
      </p:sp>
      <p:sp>
        <p:nvSpPr>
          <p:cNvPr id="23" name="Text 18"/>
          <p:cNvSpPr txBox="1"/>
          <p:nvPr/>
        </p:nvSpPr>
        <p:spPr>
          <a:xfrm>
            <a:off x="1234440" y="3803904"/>
            <a:ext cx="5486400" cy="310896"/>
          </a:xfrm>
          <a:prstGeom prst="rect">
            <a:avLst/>
          </a:prstGeom>
          <a:noFill/>
          <a:ln/>
        </p:spPr>
        <p:txBody>
          <a:bodyPr wrap="square" lIns="0" tIns="0" rIns="0" bIns="0"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monitoring/prometheus/prometheus.yml</a:t>
            </a:r>
            <a:endParaRPr lang="en-US" sz="1000" dirty="0"/>
          </a:p>
        </p:txBody>
      </p:sp>
      <p:sp>
        <p:nvSpPr>
          <p:cNvPr id="24" name="codigo"/>
          <p:cNvSpPr txBox="1"/>
          <p:nvPr/>
        </p:nvSpPr>
        <p:spPr>
          <a:xfrm>
            <a:off x="713232" y="4215384"/>
            <a:ext cx="6035040" cy="1929384"/>
          </a:xfrm>
          <a:prstGeom prst="rect">
            <a:avLst/>
          </a:prstGeom>
          <a:noFill/>
          <a:ln/>
        </p:spPr>
        <p:txBody>
          <a:bodyPr wrap="square" lIns="0" tIns="0" rIns="0" bIns="0" rtlCol="0" anchor="t"/>
          <a:lstStyle/>
          <a:p>
            <a:pPr indent="0" marL="0">
              <a:buNone/>
            </a:pPr>
            <a:r>
              <a:rPr lang="en-US" sz="1100" dirty="0">
                <a:solidFill>
                  <a:srgbClr val="6E7681"/>
                </a:solidFill>
                <a:latin typeface="Courier New" pitchFamily="34" charset="0"/>
                <a:ea typeface="Courier New" pitchFamily="34" charset="-122"/>
                <a:cs typeface="Courier New" pitchFamily="34" charset="-120"/>
              </a:rPr>
              <a:t> 1  </a:t>
            </a:r>
            <a:pPr indent="0" marL="0">
              <a:buNone/>
            </a:pPr>
            <a:r>
              <a:rPr lang="en-US" sz="1100" dirty="0">
                <a:solidFill>
                  <a:srgbClr val="7EE787"/>
                </a:solidFill>
                <a:latin typeface="Courier New" pitchFamily="34" charset="0"/>
                <a:ea typeface="Courier New" pitchFamily="34" charset="-122"/>
                <a:cs typeface="Courier New" pitchFamily="34" charset="-120"/>
              </a:rPr>
              <a:t>global</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2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scrape_interval</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9C0FF"/>
                </a:solidFill>
                <a:latin typeface="Courier New" pitchFamily="34" charset="0"/>
                <a:ea typeface="Courier New" pitchFamily="34" charset="-122"/>
                <a:cs typeface="Courier New" pitchFamily="34" charset="-120"/>
              </a:rPr>
              <a:t>15s</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3  </a:t>
            </a:r>
            <a:pPr indent="0" marL="0">
              <a:buNone/>
            </a:pPr>
            <a:r>
              <a:rPr lang="en-US" sz="1100" dirty="0">
                <a:solidFill>
                  <a:srgbClr val="7EE787"/>
                </a:solidFill>
                <a:latin typeface="Courier New" pitchFamily="34" charset="0"/>
                <a:ea typeface="Courier New" pitchFamily="34" charset="-122"/>
                <a:cs typeface="Courier New" pitchFamily="34" charset="-120"/>
              </a:rPr>
              <a:t>rule_files</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4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A5D6FF"/>
                </a:solidFill>
                <a:latin typeface="Courier New" pitchFamily="34" charset="0"/>
                <a:ea typeface="Courier New" pitchFamily="34" charset="-122"/>
                <a:cs typeface="Courier New" pitchFamily="34" charset="-120"/>
              </a:rPr>
              <a:t>/etc/prometheus/alerts.yml</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5  </a:t>
            </a:r>
            <a:pPr indent="0" marL="0">
              <a:buNone/>
            </a:pPr>
            <a:r>
              <a:rPr lang="en-US" sz="1100" dirty="0">
                <a:solidFill>
                  <a:srgbClr val="7EE787"/>
                </a:solidFill>
                <a:latin typeface="Courier New" pitchFamily="34" charset="0"/>
                <a:ea typeface="Courier New" pitchFamily="34" charset="-122"/>
                <a:cs typeface="Courier New" pitchFamily="34" charset="-120"/>
              </a:rPr>
              <a:t>scrape_configs</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6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job_name</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mail-guard-local</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7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metrics_path</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/metrics</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8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EE787"/>
                </a:solidFill>
                <a:latin typeface="Courier New" pitchFamily="34" charset="0"/>
                <a:ea typeface="Courier New" pitchFamily="34" charset="-122"/>
                <a:cs typeface="Courier New" pitchFamily="34" charset="-120"/>
              </a:rPr>
              <a:t>static_configs</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9  </a:t>
            </a:r>
            <a:pPr indent="0" marL="0">
              <a:buNone/>
            </a:pPr>
            <a:r>
              <a:rPr lang="en-US" sz="1100" dirty="0">
                <a:solidFill>
                  <a:srgbClr val="E6EDF3"/>
                </a:solidFill>
                <a:latin typeface="Courier New" pitchFamily="34" charset="0"/>
                <a:ea typeface="Courier New" pitchFamily="34" charset="-122"/>
                <a:cs typeface="Courier New" pitchFamily="34" charset="-120"/>
              </a:rPr>
              <a:t>      - </a:t>
            </a:r>
            <a:pPr indent="0" marL="0">
              <a:buNone/>
            </a:pPr>
            <a:r>
              <a:rPr lang="en-US" sz="1100" dirty="0">
                <a:solidFill>
                  <a:srgbClr val="7EE787"/>
                </a:solidFill>
                <a:latin typeface="Courier New" pitchFamily="34" charset="0"/>
                <a:ea typeface="Courier New" pitchFamily="34" charset="-122"/>
                <a:cs typeface="Courier New" pitchFamily="34" charset="-120"/>
              </a:rPr>
              <a:t>targets</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gateway:4000</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10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analysis-service:4001</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11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A5D6FF"/>
                </a:solidFill>
                <a:latin typeface="Courier New" pitchFamily="34" charset="0"/>
                <a:ea typeface="Courier New" pitchFamily="34" charset="-122"/>
                <a:cs typeface="Courier New" pitchFamily="34" charset="-120"/>
              </a:rPr>
              <a:t>history-service:4002</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sp>
        <p:nvSpPr>
          <p:cNvPr id="25" name="Shape 20"/>
          <p:cNvSpPr/>
          <p:nvPr/>
        </p:nvSpPr>
        <p:spPr>
          <a:xfrm>
            <a:off x="7132320" y="1600200"/>
            <a:ext cx="4507992" cy="2606040"/>
          </a:xfrm>
          <a:prstGeom prst="roundRect">
            <a:avLst>
              <a:gd name="adj" fmla="val 4211"/>
            </a:avLst>
          </a:prstGeom>
          <a:solidFill>
            <a:schemeClr val="tx2"/>
          </a:solidFill>
          <a:ln/>
        </p:spPr>
      </p:sp>
      <p:pic>
        <p:nvPicPr>
          <p:cNvPr id="26" name="Image 3" descr="preencoded.png">    </p:cNvPr>
          <p:cNvPicPr>
            <a:picLocks noChangeAspect="1"/>
          </p:cNvPicPr>
          <p:nvPr/>
        </p:nvPicPr>
        <p:blipFill>
          <a:blip r:embed="rId4"/>
          <a:stretch>
            <a:fillRect/>
          </a:stretch>
        </p:blipFill>
        <p:spPr>
          <a:xfrm>
            <a:off x="7360920" y="1783080"/>
            <a:ext cx="256032" cy="256032"/>
          </a:xfrm>
          <a:prstGeom prst="rect">
            <a:avLst/>
          </a:prstGeom>
        </p:spPr>
      </p:pic>
      <p:sp>
        <p:nvSpPr>
          <p:cNvPr id="27" name="Text 21"/>
          <p:cNvSpPr txBox="1"/>
          <p:nvPr/>
        </p:nvSpPr>
        <p:spPr>
          <a:xfrm>
            <a:off x="7726680" y="1801368"/>
            <a:ext cx="3200400" cy="228600"/>
          </a:xfrm>
          <a:prstGeom prst="rect">
            <a:avLst/>
          </a:prstGeom>
          <a:noFill/>
          <a:ln/>
        </p:spPr>
        <p:txBody>
          <a:bodyPr wrap="square" lIns="0" tIns="0" rIns="0" bIns="0" rtlCol="0" anchor="ctr"/>
          <a:lstStyle/>
          <a:p>
            <a:pPr indent="0" marL="0">
              <a:buNone/>
            </a:pPr>
            <a:r>
              <a:rPr lang="en-US" sz="1100" b="1" spc="150" kern="0" dirty="0">
                <a:solidFill>
                  <a:schemeClr val="accent4"/>
                </a:solidFill>
              </a:rPr>
              <a:t>DEMO EN VIVO</a:t>
            </a:r>
            <a:endParaRPr lang="en-US" sz="1100" dirty="0"/>
          </a:p>
        </p:txBody>
      </p:sp>
      <p:sp>
        <p:nvSpPr>
          <p:cNvPr id="28" name="Shape 22"/>
          <p:cNvSpPr/>
          <p:nvPr/>
        </p:nvSpPr>
        <p:spPr>
          <a:xfrm>
            <a:off x="7360920" y="2240280"/>
            <a:ext cx="292608" cy="292608"/>
          </a:xfrm>
          <a:prstGeom prst="ellipse">
            <a:avLst/>
          </a:prstGeom>
          <a:solidFill>
            <a:schemeClr val="accent4"/>
          </a:solidFill>
          <a:ln/>
        </p:spPr>
      </p:sp>
      <p:sp>
        <p:nvSpPr>
          <p:cNvPr id="29" name="Text 23"/>
          <p:cNvSpPr txBox="1"/>
          <p:nvPr/>
        </p:nvSpPr>
        <p:spPr>
          <a:xfrm>
            <a:off x="7360920" y="2240280"/>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30" name="Text 24"/>
          <p:cNvSpPr txBox="1"/>
          <p:nvPr/>
        </p:nvSpPr>
        <p:spPr>
          <a:xfrm>
            <a:off x="7790688" y="2212848"/>
            <a:ext cx="3657600" cy="475488"/>
          </a:xfrm>
          <a:prstGeom prst="rect">
            <a:avLst/>
          </a:prstGeom>
          <a:noFill/>
          <a:ln/>
        </p:spPr>
        <p:txBody>
          <a:bodyPr wrap="square" lIns="0" tIns="0" rIns="0" bIns="0" rtlCol="0" anchor="t"/>
          <a:lstStyle/>
          <a:p>
            <a:pPr indent="0" marL="0">
              <a:buNone/>
            </a:pPr>
            <a:r>
              <a:rPr lang="en-US" sz="1300" dirty="0">
                <a:solidFill>
                  <a:schemeClr val="bg1"/>
                </a:solidFill>
              </a:rPr>
              <a:t>Grafana: el dashboard ya viene cargado</a:t>
            </a:r>
            <a:endParaRPr lang="en-US" sz="1300" dirty="0"/>
          </a:p>
        </p:txBody>
      </p:sp>
      <p:sp>
        <p:nvSpPr>
          <p:cNvPr id="31" name="Shape 25"/>
          <p:cNvSpPr/>
          <p:nvPr/>
        </p:nvSpPr>
        <p:spPr>
          <a:xfrm>
            <a:off x="7360920" y="2724912"/>
            <a:ext cx="292608" cy="292608"/>
          </a:xfrm>
          <a:prstGeom prst="ellipse">
            <a:avLst/>
          </a:prstGeom>
          <a:solidFill>
            <a:schemeClr val="accent4"/>
          </a:solidFill>
          <a:ln/>
        </p:spPr>
      </p:sp>
      <p:sp>
        <p:nvSpPr>
          <p:cNvPr id="32" name="Text 26"/>
          <p:cNvSpPr txBox="1"/>
          <p:nvPr/>
        </p:nvSpPr>
        <p:spPr>
          <a:xfrm>
            <a:off x="7360920" y="2724912"/>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33" name="Text 27"/>
          <p:cNvSpPr txBox="1"/>
          <p:nvPr/>
        </p:nvSpPr>
        <p:spPr>
          <a:xfrm>
            <a:off x="7790688" y="2697480"/>
            <a:ext cx="3657600" cy="475488"/>
          </a:xfrm>
          <a:prstGeom prst="rect">
            <a:avLst/>
          </a:prstGeom>
          <a:noFill/>
          <a:ln/>
        </p:spPr>
        <p:txBody>
          <a:bodyPr wrap="square" lIns="0" tIns="0" rIns="0" bIns="0" rtlCol="0" anchor="t"/>
          <a:lstStyle/>
          <a:p>
            <a:pPr indent="0" marL="0">
              <a:buNone/>
            </a:pPr>
            <a:r>
              <a:rPr lang="en-US" sz="1300" dirty="0">
                <a:solidFill>
                  <a:schemeClr val="bg1"/>
                </a:solidFill>
              </a:rPr>
              <a:t>Generamos tráfico con Newman (-n 20)</a:t>
            </a:r>
            <a:endParaRPr lang="en-US" sz="1300" dirty="0"/>
          </a:p>
        </p:txBody>
      </p:sp>
      <p:sp>
        <p:nvSpPr>
          <p:cNvPr id="34" name="Shape 28"/>
          <p:cNvSpPr/>
          <p:nvPr/>
        </p:nvSpPr>
        <p:spPr>
          <a:xfrm>
            <a:off x="7360920" y="3209544"/>
            <a:ext cx="292608" cy="292608"/>
          </a:xfrm>
          <a:prstGeom prst="ellipse">
            <a:avLst/>
          </a:prstGeom>
          <a:solidFill>
            <a:schemeClr val="accent4"/>
          </a:solidFill>
          <a:ln/>
        </p:spPr>
      </p:sp>
      <p:sp>
        <p:nvSpPr>
          <p:cNvPr id="35" name="Text 29"/>
          <p:cNvSpPr txBox="1"/>
          <p:nvPr/>
        </p:nvSpPr>
        <p:spPr>
          <a:xfrm>
            <a:off x="7360920" y="3209544"/>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36" name="Text 30"/>
          <p:cNvSpPr txBox="1"/>
          <p:nvPr/>
        </p:nvSpPr>
        <p:spPr>
          <a:xfrm>
            <a:off x="7790688" y="3182112"/>
            <a:ext cx="3657600" cy="475488"/>
          </a:xfrm>
          <a:prstGeom prst="rect">
            <a:avLst/>
          </a:prstGeom>
          <a:noFill/>
          <a:ln/>
        </p:spPr>
        <p:txBody>
          <a:bodyPr wrap="square" lIns="0" tIns="0" rIns="0" bIns="0" rtlCol="0" anchor="t"/>
          <a:lstStyle/>
          <a:p>
            <a:pPr indent="0" marL="0">
              <a:buNone/>
            </a:pPr>
            <a:r>
              <a:rPr lang="en-US" sz="1300" dirty="0">
                <a:solidFill>
                  <a:schemeClr val="bg1"/>
                </a:solidFill>
              </a:rPr>
              <a:t>Suben las gráficas y el conteo de veredictos</a:t>
            </a:r>
            <a:endParaRPr lang="en-US" sz="1300" dirty="0"/>
          </a:p>
        </p:txBody>
      </p:sp>
      <p:sp>
        <p:nvSpPr>
          <p:cNvPr id="37" name="Shape 31"/>
          <p:cNvSpPr/>
          <p:nvPr/>
        </p:nvSpPr>
        <p:spPr>
          <a:xfrm>
            <a:off x="7360920" y="3694176"/>
            <a:ext cx="292608" cy="292608"/>
          </a:xfrm>
          <a:prstGeom prst="ellipse">
            <a:avLst/>
          </a:prstGeom>
          <a:solidFill>
            <a:schemeClr val="accent4"/>
          </a:solidFill>
          <a:ln/>
        </p:spPr>
      </p:sp>
      <p:sp>
        <p:nvSpPr>
          <p:cNvPr id="38" name="Text 32"/>
          <p:cNvSpPr txBox="1"/>
          <p:nvPr/>
        </p:nvSpPr>
        <p:spPr>
          <a:xfrm>
            <a:off x="7360920" y="3694176"/>
            <a:ext cx="292608" cy="292608"/>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39" name="Text 33"/>
          <p:cNvSpPr txBox="1"/>
          <p:nvPr/>
        </p:nvSpPr>
        <p:spPr>
          <a:xfrm>
            <a:off x="7790688" y="3666744"/>
            <a:ext cx="3657600" cy="475488"/>
          </a:xfrm>
          <a:prstGeom prst="rect">
            <a:avLst/>
          </a:prstGeom>
          <a:noFill/>
          <a:ln/>
        </p:spPr>
        <p:txBody>
          <a:bodyPr wrap="square" lIns="0" tIns="0" rIns="0" bIns="0" rtlCol="0" anchor="t"/>
          <a:lstStyle/>
          <a:p>
            <a:pPr indent="0" marL="0">
              <a:buNone/>
            </a:pPr>
            <a:r>
              <a:rPr lang="en-US" sz="1300" dirty="0">
                <a:solidFill>
                  <a:schemeClr val="bg1"/>
                </a:solidFill>
              </a:rPr>
              <a:t>docker stop → CAÍDO y alerta ServicioCaido</a:t>
            </a:r>
            <a:endParaRPr lang="en-US" sz="1300" dirty="0"/>
          </a:p>
        </p:txBody>
      </p:sp>
      <p:sp>
        <p:nvSpPr>
          <p:cNvPr id="40" name="captura"/>
          <p:cNvSpPr/>
          <p:nvPr/>
        </p:nvSpPr>
        <p:spPr>
          <a:xfrm>
            <a:off x="7132320" y="4389120"/>
            <a:ext cx="4507992" cy="1828800"/>
          </a:xfrm>
          <a:prstGeom prst="roundRect">
            <a:avLst>
              <a:gd name="adj" fmla="val 6000"/>
            </a:avLst>
          </a:prstGeom>
          <a:solidFill>
            <a:schemeClr val="tx1"/>
          </a:solidFill>
          <a:ln w="15875">
            <a:solidFill>
              <a:srgbClr val="F87171"/>
            </a:solidFill>
            <a:prstDash val="dash"/>
          </a:ln>
        </p:spPr>
      </p:sp>
      <p:pic>
        <p:nvPicPr>
          <p:cNvPr id="41" name="Image 4" descr="preencoded.png">    </p:cNvPr>
          <p:cNvPicPr>
            <a:picLocks noChangeAspect="1"/>
          </p:cNvPicPr>
          <p:nvPr/>
        </p:nvPicPr>
        <p:blipFill>
          <a:blip r:embed="rId5"/>
          <a:stretch>
            <a:fillRect/>
          </a:stretch>
        </p:blipFill>
        <p:spPr>
          <a:xfrm>
            <a:off x="9180576" y="4754880"/>
            <a:ext cx="411480" cy="411480"/>
          </a:xfrm>
          <a:prstGeom prst="rect">
            <a:avLst/>
          </a:prstGeom>
        </p:spPr>
      </p:pic>
      <p:sp>
        <p:nvSpPr>
          <p:cNvPr id="42" name="Text 35"/>
          <p:cNvSpPr txBox="1"/>
          <p:nvPr/>
        </p:nvSpPr>
        <p:spPr>
          <a:xfrm>
            <a:off x="7315200" y="5257800"/>
            <a:ext cx="4142232" cy="731520"/>
          </a:xfrm>
          <a:prstGeom prst="rect">
            <a:avLst/>
          </a:prstGeom>
          <a:noFill/>
          <a:ln/>
        </p:spPr>
        <p:txBody>
          <a:bodyPr wrap="square" lIns="0" tIns="0" rIns="0" bIns="0" rtlCol="0" anchor="t"/>
          <a:lstStyle/>
          <a:p>
            <a:pPr algn="ctr" indent="0" marL="0">
              <a:buNone/>
            </a:pPr>
            <a:r>
              <a:rPr lang="en-US" sz="1200" dirty="0">
                <a:solidFill>
                  <a:schemeClr val="bg2"/>
                </a:solidFill>
              </a:rPr>
              <a:t>[CAPTURA: dashboard de Grafana con tráfico y veredictos]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bg1"/>
                </a:solidFill>
              </a:rPr>
              <a:t>Monitor: qué medimos y cuándo alertamos</a:t>
            </a:r>
            <a:endParaRPr lang="en-US" sz="3000" dirty="0"/>
          </a:p>
        </p:txBody>
      </p:sp>
      <p:sp>
        <p:nvSpPr>
          <p:cNvPr id="3" name="Text 1"/>
          <p:cNvSpPr txBox="1"/>
          <p:nvPr/>
        </p:nvSpPr>
        <p:spPr>
          <a:xfrm>
            <a:off x="548640" y="1463040"/>
            <a:ext cx="5486400" cy="228600"/>
          </a:xfrm>
          <a:prstGeom prst="rect">
            <a:avLst/>
          </a:prstGeom>
          <a:noFill/>
          <a:ln/>
        </p:spPr>
        <p:txBody>
          <a:bodyPr wrap="square" lIns="0" tIns="0" rIns="0" bIns="0" rtlCol="0" anchor="ctr"/>
          <a:lstStyle/>
          <a:p>
            <a:pPr indent="0" marL="0">
              <a:buNone/>
            </a:pPr>
            <a:r>
              <a:rPr lang="en-US" sz="1100" b="1" spc="150" kern="0" dirty="0">
                <a:solidFill>
                  <a:schemeClr val="accent4"/>
                </a:solidFill>
              </a:rPr>
              <a:t>MÉTRICAS EN /metrics (los 3 servicios)</a:t>
            </a:r>
            <a:endParaRPr lang="en-US" sz="1100" dirty="0"/>
          </a:p>
        </p:txBody>
      </p:sp>
      <p:sp>
        <p:nvSpPr>
          <p:cNvPr id="4" name="Shape 2"/>
          <p:cNvSpPr/>
          <p:nvPr/>
        </p:nvSpPr>
        <p:spPr>
          <a:xfrm>
            <a:off x="548640" y="1783080"/>
            <a:ext cx="5486400" cy="914400"/>
          </a:xfrm>
          <a:prstGeom prst="roundRect">
            <a:avLst>
              <a:gd name="adj" fmla="val 12000"/>
            </a:avLst>
          </a:prstGeom>
          <a:solidFill>
            <a:schemeClr val="tx2"/>
          </a:solidFill>
          <a:ln/>
        </p:spPr>
      </p:sp>
      <p:sp>
        <p:nvSpPr>
          <p:cNvPr id="5" name="Text 3"/>
          <p:cNvSpPr txBox="1"/>
          <p:nvPr/>
        </p:nvSpPr>
        <p:spPr>
          <a:xfrm>
            <a:off x="777240" y="1911096"/>
            <a:ext cx="512064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http_requests_total</a:t>
            </a:r>
            <a:endParaRPr lang="en-US" sz="1300" dirty="0"/>
          </a:p>
        </p:txBody>
      </p:sp>
      <p:sp>
        <p:nvSpPr>
          <p:cNvPr id="6" name="Text 4"/>
          <p:cNvSpPr txBox="1"/>
          <p:nvPr/>
        </p:nvSpPr>
        <p:spPr>
          <a:xfrm>
            <a:off x="777240" y="2258568"/>
            <a:ext cx="5120640" cy="320040"/>
          </a:xfrm>
          <a:prstGeom prst="rect">
            <a:avLst/>
          </a:prstGeom>
          <a:noFill/>
          <a:ln/>
        </p:spPr>
        <p:txBody>
          <a:bodyPr wrap="square" lIns="0" tIns="0" rIns="0" bIns="0" rtlCol="0" anchor="ctr"/>
          <a:lstStyle/>
          <a:p>
            <a:pPr indent="0" marL="0">
              <a:buNone/>
            </a:pPr>
            <a:r>
              <a:rPr lang="en-US" sz="1400" dirty="0">
                <a:solidFill>
                  <a:srgbClr val="E4E4E7"/>
                </a:solidFill>
              </a:rPr>
              <a:t>peticiones por ruta, método y código</a:t>
            </a:r>
            <a:endParaRPr lang="en-US" sz="1400" dirty="0"/>
          </a:p>
        </p:txBody>
      </p:sp>
      <p:sp>
        <p:nvSpPr>
          <p:cNvPr id="7" name="Shape 5"/>
          <p:cNvSpPr/>
          <p:nvPr/>
        </p:nvSpPr>
        <p:spPr>
          <a:xfrm>
            <a:off x="548640" y="2862072"/>
            <a:ext cx="5486400" cy="914400"/>
          </a:xfrm>
          <a:prstGeom prst="roundRect">
            <a:avLst>
              <a:gd name="adj" fmla="val 12000"/>
            </a:avLst>
          </a:prstGeom>
          <a:solidFill>
            <a:schemeClr val="tx2"/>
          </a:solidFill>
          <a:ln/>
        </p:spPr>
      </p:sp>
      <p:sp>
        <p:nvSpPr>
          <p:cNvPr id="8" name="Text 6"/>
          <p:cNvSpPr txBox="1"/>
          <p:nvPr/>
        </p:nvSpPr>
        <p:spPr>
          <a:xfrm>
            <a:off x="777240" y="2990088"/>
            <a:ext cx="512064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http_request_duration_seconds</a:t>
            </a:r>
            <a:endParaRPr lang="en-US" sz="1300" dirty="0"/>
          </a:p>
        </p:txBody>
      </p:sp>
      <p:sp>
        <p:nvSpPr>
          <p:cNvPr id="9" name="Text 7"/>
          <p:cNvSpPr txBox="1"/>
          <p:nvPr/>
        </p:nvSpPr>
        <p:spPr>
          <a:xfrm>
            <a:off x="777240" y="3337560"/>
            <a:ext cx="5120640" cy="320040"/>
          </a:xfrm>
          <a:prstGeom prst="rect">
            <a:avLst/>
          </a:prstGeom>
          <a:noFill/>
          <a:ln/>
        </p:spPr>
        <p:txBody>
          <a:bodyPr wrap="square" lIns="0" tIns="0" rIns="0" bIns="0" rtlCol="0" anchor="ctr"/>
          <a:lstStyle/>
          <a:p>
            <a:pPr indent="0" marL="0">
              <a:buNone/>
            </a:pPr>
            <a:r>
              <a:rPr lang="en-US" sz="1400" dirty="0">
                <a:solidFill>
                  <a:srgbClr val="E4E4E7"/>
                </a:solidFill>
              </a:rPr>
              <a:t>latencia (histograma → p95)</a:t>
            </a:r>
            <a:endParaRPr lang="en-US" sz="1400" dirty="0"/>
          </a:p>
        </p:txBody>
      </p:sp>
      <p:sp>
        <p:nvSpPr>
          <p:cNvPr id="10" name="Shape 8"/>
          <p:cNvSpPr/>
          <p:nvPr/>
        </p:nvSpPr>
        <p:spPr>
          <a:xfrm>
            <a:off x="548640" y="3941064"/>
            <a:ext cx="5486400" cy="914400"/>
          </a:xfrm>
          <a:prstGeom prst="roundRect">
            <a:avLst>
              <a:gd name="adj" fmla="val 12000"/>
            </a:avLst>
          </a:prstGeom>
          <a:solidFill>
            <a:schemeClr val="tx2"/>
          </a:solidFill>
          <a:ln/>
        </p:spPr>
      </p:sp>
      <p:sp>
        <p:nvSpPr>
          <p:cNvPr id="11" name="Text 9"/>
          <p:cNvSpPr txBox="1"/>
          <p:nvPr/>
        </p:nvSpPr>
        <p:spPr>
          <a:xfrm>
            <a:off x="777240" y="4069080"/>
            <a:ext cx="512064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process_resident_memory_bytes</a:t>
            </a:r>
            <a:endParaRPr lang="en-US" sz="1300" dirty="0"/>
          </a:p>
        </p:txBody>
      </p:sp>
      <p:sp>
        <p:nvSpPr>
          <p:cNvPr id="12" name="Text 10"/>
          <p:cNvSpPr txBox="1"/>
          <p:nvPr/>
        </p:nvSpPr>
        <p:spPr>
          <a:xfrm>
            <a:off x="777240" y="4416552"/>
            <a:ext cx="5120640" cy="320040"/>
          </a:xfrm>
          <a:prstGeom prst="rect">
            <a:avLst/>
          </a:prstGeom>
          <a:noFill/>
          <a:ln/>
        </p:spPr>
        <p:txBody>
          <a:bodyPr wrap="square" lIns="0" tIns="0" rIns="0" bIns="0" rtlCol="0" anchor="ctr"/>
          <a:lstStyle/>
          <a:p>
            <a:pPr indent="0" marL="0">
              <a:buNone/>
            </a:pPr>
            <a:r>
              <a:rPr lang="en-US" sz="1400" dirty="0">
                <a:solidFill>
                  <a:srgbClr val="E4E4E7"/>
                </a:solidFill>
              </a:rPr>
              <a:t>memoria y CPU de cada proceso</a:t>
            </a:r>
            <a:endParaRPr lang="en-US" sz="1400" dirty="0"/>
          </a:p>
        </p:txBody>
      </p:sp>
      <p:sp>
        <p:nvSpPr>
          <p:cNvPr id="13" name="Shape 11"/>
          <p:cNvSpPr/>
          <p:nvPr/>
        </p:nvSpPr>
        <p:spPr>
          <a:xfrm>
            <a:off x="548640" y="5020056"/>
            <a:ext cx="5486400" cy="914400"/>
          </a:xfrm>
          <a:prstGeom prst="roundRect">
            <a:avLst>
              <a:gd name="adj" fmla="val 12000"/>
            </a:avLst>
          </a:prstGeom>
          <a:solidFill>
            <a:schemeClr val="tx2"/>
          </a:solidFill>
          <a:ln/>
        </p:spPr>
      </p:sp>
      <p:sp>
        <p:nvSpPr>
          <p:cNvPr id="14" name="Text 12"/>
          <p:cNvSpPr txBox="1"/>
          <p:nvPr/>
        </p:nvSpPr>
        <p:spPr>
          <a:xfrm>
            <a:off x="777240" y="5148072"/>
            <a:ext cx="512064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mailguard_scans_total{verdict}</a:t>
            </a:r>
            <a:endParaRPr lang="en-US" sz="1300" dirty="0"/>
          </a:p>
        </p:txBody>
      </p:sp>
      <p:sp>
        <p:nvSpPr>
          <p:cNvPr id="15" name="Text 13"/>
          <p:cNvSpPr txBox="1"/>
          <p:nvPr/>
        </p:nvSpPr>
        <p:spPr>
          <a:xfrm>
            <a:off x="777240" y="5495544"/>
            <a:ext cx="5120640" cy="320040"/>
          </a:xfrm>
          <a:prstGeom prst="rect">
            <a:avLst/>
          </a:prstGeom>
          <a:noFill/>
          <a:ln/>
        </p:spPr>
        <p:txBody>
          <a:bodyPr wrap="square" lIns="0" tIns="0" rIns="0" bIns="0" rtlCol="0" anchor="ctr"/>
          <a:lstStyle/>
          <a:p>
            <a:pPr indent="0" marL="0">
              <a:buNone/>
            </a:pPr>
            <a:r>
              <a:rPr lang="en-US" sz="1400" dirty="0">
                <a:solidFill>
                  <a:srgbClr val="E4E4E7"/>
                </a:solidFill>
              </a:rPr>
              <a:t>correos analizados por veredicto</a:t>
            </a:r>
            <a:endParaRPr lang="en-US" sz="1400" dirty="0"/>
          </a:p>
        </p:txBody>
      </p:sp>
      <p:sp>
        <p:nvSpPr>
          <p:cNvPr id="16" name="Text 14"/>
          <p:cNvSpPr txBox="1"/>
          <p:nvPr/>
        </p:nvSpPr>
        <p:spPr>
          <a:xfrm>
            <a:off x="6355080" y="1463040"/>
            <a:ext cx="5486400" cy="228600"/>
          </a:xfrm>
          <a:prstGeom prst="rect">
            <a:avLst/>
          </a:prstGeom>
          <a:noFill/>
          <a:ln/>
        </p:spPr>
        <p:txBody>
          <a:bodyPr wrap="square" lIns="0" tIns="0" rIns="0" bIns="0" rtlCol="0" anchor="ctr"/>
          <a:lstStyle/>
          <a:p>
            <a:pPr indent="0" marL="0">
              <a:buNone/>
            </a:pPr>
            <a:r>
              <a:rPr lang="en-US" sz="1100" b="1" spc="150" kern="0" dirty="0">
                <a:solidFill>
                  <a:schemeClr val="accent4"/>
                </a:solidFill>
              </a:rPr>
              <a:t>ALERTAS (monitoring/prometheus/alerts.yml)</a:t>
            </a:r>
            <a:endParaRPr lang="en-US" sz="1100" dirty="0"/>
          </a:p>
        </p:txBody>
      </p:sp>
      <p:sp>
        <p:nvSpPr>
          <p:cNvPr id="17" name="Shape 15"/>
          <p:cNvSpPr/>
          <p:nvPr/>
        </p:nvSpPr>
        <p:spPr>
          <a:xfrm>
            <a:off x="6355080" y="1783080"/>
            <a:ext cx="5285232" cy="914400"/>
          </a:xfrm>
          <a:prstGeom prst="roundRect">
            <a:avLst>
              <a:gd name="adj" fmla="val 12000"/>
            </a:avLst>
          </a:prstGeom>
          <a:solidFill>
            <a:schemeClr val="tx2"/>
          </a:solidFill>
          <a:ln/>
        </p:spPr>
      </p:sp>
      <p:sp>
        <p:nvSpPr>
          <p:cNvPr id="18" name="Shape 16"/>
          <p:cNvSpPr/>
          <p:nvPr/>
        </p:nvSpPr>
        <p:spPr>
          <a:xfrm>
            <a:off x="10515600" y="1911096"/>
            <a:ext cx="914400" cy="292608"/>
          </a:xfrm>
          <a:prstGeom prst="roundRect">
            <a:avLst>
              <a:gd name="adj" fmla="val 50000"/>
            </a:avLst>
          </a:prstGeom>
          <a:solidFill>
            <a:schemeClr val="accent4"/>
          </a:solidFill>
          <a:ln/>
        </p:spPr>
      </p:sp>
      <p:sp>
        <p:nvSpPr>
          <p:cNvPr id="19" name="Text 17"/>
          <p:cNvSpPr txBox="1"/>
          <p:nvPr/>
        </p:nvSpPr>
        <p:spPr>
          <a:xfrm>
            <a:off x="10515600" y="1911096"/>
            <a:ext cx="914400" cy="292608"/>
          </a:xfrm>
          <a:prstGeom prst="rect">
            <a:avLst/>
          </a:prstGeom>
          <a:noFill/>
          <a:ln/>
        </p:spPr>
        <p:txBody>
          <a:bodyPr wrap="square" lIns="0" tIns="0" rIns="0" bIns="0" rtlCol="0" anchor="ctr"/>
          <a:lstStyle/>
          <a:p>
            <a:pPr algn="ctr" indent="0" marL="0">
              <a:buNone/>
            </a:pPr>
            <a:r>
              <a:rPr lang="en-US" sz="1100" b="1" dirty="0">
                <a:solidFill>
                  <a:schemeClr val="tx1"/>
                </a:solidFill>
              </a:rPr>
              <a:t>crítica</a:t>
            </a:r>
            <a:endParaRPr lang="en-US" sz="1100" dirty="0"/>
          </a:p>
        </p:txBody>
      </p:sp>
      <p:sp>
        <p:nvSpPr>
          <p:cNvPr id="20" name="Text 18"/>
          <p:cNvSpPr txBox="1"/>
          <p:nvPr/>
        </p:nvSpPr>
        <p:spPr>
          <a:xfrm>
            <a:off x="6583680" y="1911096"/>
            <a:ext cx="3840480" cy="320040"/>
          </a:xfrm>
          <a:prstGeom prst="rect">
            <a:avLst/>
          </a:prstGeom>
          <a:noFill/>
          <a:ln/>
        </p:spPr>
        <p:txBody>
          <a:bodyPr wrap="square" lIns="0" tIns="0" rIns="0" bIns="0" rtlCol="0" anchor="ctr"/>
          <a:lstStyle/>
          <a:p>
            <a:pPr indent="0" marL="0">
              <a:buNone/>
            </a:pPr>
            <a:r>
              <a:rPr lang="en-US" sz="1500" b="1" dirty="0">
                <a:solidFill>
                  <a:schemeClr val="bg1"/>
                </a:solidFill>
              </a:rPr>
              <a:t>ServicioCaido</a:t>
            </a:r>
            <a:endParaRPr lang="en-US" sz="1500" dirty="0"/>
          </a:p>
        </p:txBody>
      </p:sp>
      <p:sp>
        <p:nvSpPr>
          <p:cNvPr id="21" name="Text 19"/>
          <p:cNvSpPr txBox="1"/>
          <p:nvPr/>
        </p:nvSpPr>
        <p:spPr>
          <a:xfrm>
            <a:off x="6583680" y="2258568"/>
            <a:ext cx="4846320" cy="320040"/>
          </a:xfrm>
          <a:prstGeom prst="rect">
            <a:avLst/>
          </a:prstGeom>
          <a:noFill/>
          <a:ln/>
        </p:spPr>
        <p:txBody>
          <a:bodyPr wrap="square" lIns="0" tIns="0" rIns="0" bIns="0" rtlCol="0" anchor="ctr"/>
          <a:lstStyle/>
          <a:p>
            <a:pPr indent="0" marL="0">
              <a:buNone/>
            </a:pPr>
            <a:r>
              <a:rPr lang="en-US" sz="1400" dirty="0">
                <a:solidFill>
                  <a:srgbClr val="E4E4E7"/>
                </a:solidFill>
              </a:rPr>
              <a:t>un servicio no responde 1 min</a:t>
            </a:r>
            <a:endParaRPr lang="en-US" sz="1400" dirty="0"/>
          </a:p>
        </p:txBody>
      </p:sp>
      <p:sp>
        <p:nvSpPr>
          <p:cNvPr id="22" name="Shape 20"/>
          <p:cNvSpPr/>
          <p:nvPr/>
        </p:nvSpPr>
        <p:spPr>
          <a:xfrm>
            <a:off x="6355080" y="2862072"/>
            <a:ext cx="5285232" cy="914400"/>
          </a:xfrm>
          <a:prstGeom prst="roundRect">
            <a:avLst>
              <a:gd name="adj" fmla="val 12000"/>
            </a:avLst>
          </a:prstGeom>
          <a:solidFill>
            <a:schemeClr val="tx2"/>
          </a:solidFill>
          <a:ln/>
        </p:spPr>
      </p:sp>
      <p:sp>
        <p:nvSpPr>
          <p:cNvPr id="23" name="Shape 21"/>
          <p:cNvSpPr/>
          <p:nvPr/>
        </p:nvSpPr>
        <p:spPr>
          <a:xfrm>
            <a:off x="10515600" y="2990088"/>
            <a:ext cx="914400" cy="292608"/>
          </a:xfrm>
          <a:prstGeom prst="roundRect">
            <a:avLst>
              <a:gd name="adj" fmla="val 50000"/>
            </a:avLst>
          </a:prstGeom>
          <a:solidFill>
            <a:schemeClr val="accent3"/>
          </a:solidFill>
          <a:ln/>
        </p:spPr>
      </p:sp>
      <p:sp>
        <p:nvSpPr>
          <p:cNvPr id="24" name="Text 22"/>
          <p:cNvSpPr txBox="1"/>
          <p:nvPr/>
        </p:nvSpPr>
        <p:spPr>
          <a:xfrm>
            <a:off x="10515600" y="2990088"/>
            <a:ext cx="914400" cy="292608"/>
          </a:xfrm>
          <a:prstGeom prst="rect">
            <a:avLst/>
          </a:prstGeom>
          <a:noFill/>
          <a:ln/>
        </p:spPr>
        <p:txBody>
          <a:bodyPr wrap="square" lIns="0" tIns="0" rIns="0" bIns="0" rtlCol="0" anchor="ctr"/>
          <a:lstStyle/>
          <a:p>
            <a:pPr algn="ctr" indent="0" marL="0">
              <a:buNone/>
            </a:pPr>
            <a:r>
              <a:rPr lang="en-US" sz="1100" b="1" dirty="0">
                <a:solidFill>
                  <a:schemeClr val="tx1"/>
                </a:solidFill>
              </a:rPr>
              <a:t>aviso</a:t>
            </a:r>
            <a:endParaRPr lang="en-US" sz="1100" dirty="0"/>
          </a:p>
        </p:txBody>
      </p:sp>
      <p:sp>
        <p:nvSpPr>
          <p:cNvPr id="25" name="Text 23"/>
          <p:cNvSpPr txBox="1"/>
          <p:nvPr/>
        </p:nvSpPr>
        <p:spPr>
          <a:xfrm>
            <a:off x="6583680" y="2990088"/>
            <a:ext cx="3840480" cy="320040"/>
          </a:xfrm>
          <a:prstGeom prst="rect">
            <a:avLst/>
          </a:prstGeom>
          <a:noFill/>
          <a:ln/>
        </p:spPr>
        <p:txBody>
          <a:bodyPr wrap="square" lIns="0" tIns="0" rIns="0" bIns="0" rtlCol="0" anchor="ctr"/>
          <a:lstStyle/>
          <a:p>
            <a:pPr indent="0" marL="0">
              <a:buNone/>
            </a:pPr>
            <a:r>
              <a:rPr lang="en-US" sz="1500" b="1" dirty="0">
                <a:solidFill>
                  <a:schemeClr val="bg1"/>
                </a:solidFill>
              </a:rPr>
              <a:t>ErroresAltos</a:t>
            </a:r>
            <a:endParaRPr lang="en-US" sz="1500" dirty="0"/>
          </a:p>
        </p:txBody>
      </p:sp>
      <p:sp>
        <p:nvSpPr>
          <p:cNvPr id="26" name="Text 24"/>
          <p:cNvSpPr txBox="1"/>
          <p:nvPr/>
        </p:nvSpPr>
        <p:spPr>
          <a:xfrm>
            <a:off x="6583680" y="3337560"/>
            <a:ext cx="4846320" cy="320040"/>
          </a:xfrm>
          <a:prstGeom prst="rect">
            <a:avLst/>
          </a:prstGeom>
          <a:noFill/>
          <a:ln/>
        </p:spPr>
        <p:txBody>
          <a:bodyPr wrap="square" lIns="0" tIns="0" rIns="0" bIns="0" rtlCol="0" anchor="ctr"/>
          <a:lstStyle/>
          <a:p>
            <a:pPr indent="0" marL="0">
              <a:buNone/>
            </a:pPr>
            <a:r>
              <a:rPr lang="en-US" sz="1400" dirty="0">
                <a:solidFill>
                  <a:srgbClr val="E4E4E7"/>
                </a:solidFill>
              </a:rPr>
              <a:t>más del 5 % de respuestas 5xx</a:t>
            </a:r>
            <a:endParaRPr lang="en-US" sz="1400" dirty="0"/>
          </a:p>
        </p:txBody>
      </p:sp>
      <p:sp>
        <p:nvSpPr>
          <p:cNvPr id="27" name="Shape 25"/>
          <p:cNvSpPr/>
          <p:nvPr/>
        </p:nvSpPr>
        <p:spPr>
          <a:xfrm>
            <a:off x="6355080" y="3941064"/>
            <a:ext cx="5285232" cy="914400"/>
          </a:xfrm>
          <a:prstGeom prst="roundRect">
            <a:avLst>
              <a:gd name="adj" fmla="val 12000"/>
            </a:avLst>
          </a:prstGeom>
          <a:solidFill>
            <a:schemeClr val="tx2"/>
          </a:solidFill>
          <a:ln/>
        </p:spPr>
      </p:sp>
      <p:sp>
        <p:nvSpPr>
          <p:cNvPr id="28" name="Shape 26"/>
          <p:cNvSpPr/>
          <p:nvPr/>
        </p:nvSpPr>
        <p:spPr>
          <a:xfrm>
            <a:off x="10515600" y="4069080"/>
            <a:ext cx="914400" cy="292608"/>
          </a:xfrm>
          <a:prstGeom prst="roundRect">
            <a:avLst>
              <a:gd name="adj" fmla="val 50000"/>
            </a:avLst>
          </a:prstGeom>
          <a:solidFill>
            <a:schemeClr val="accent3"/>
          </a:solidFill>
          <a:ln/>
        </p:spPr>
      </p:sp>
      <p:sp>
        <p:nvSpPr>
          <p:cNvPr id="29" name="Text 27"/>
          <p:cNvSpPr txBox="1"/>
          <p:nvPr/>
        </p:nvSpPr>
        <p:spPr>
          <a:xfrm>
            <a:off x="10515600" y="4069080"/>
            <a:ext cx="914400" cy="292608"/>
          </a:xfrm>
          <a:prstGeom prst="rect">
            <a:avLst/>
          </a:prstGeom>
          <a:noFill/>
          <a:ln/>
        </p:spPr>
        <p:txBody>
          <a:bodyPr wrap="square" lIns="0" tIns="0" rIns="0" bIns="0" rtlCol="0" anchor="ctr"/>
          <a:lstStyle/>
          <a:p>
            <a:pPr algn="ctr" indent="0" marL="0">
              <a:buNone/>
            </a:pPr>
            <a:r>
              <a:rPr lang="en-US" sz="1100" b="1" dirty="0">
                <a:solidFill>
                  <a:schemeClr val="tx1"/>
                </a:solidFill>
              </a:rPr>
              <a:t>aviso</a:t>
            </a:r>
            <a:endParaRPr lang="en-US" sz="1100" dirty="0"/>
          </a:p>
        </p:txBody>
      </p:sp>
      <p:sp>
        <p:nvSpPr>
          <p:cNvPr id="30" name="Text 28"/>
          <p:cNvSpPr txBox="1"/>
          <p:nvPr/>
        </p:nvSpPr>
        <p:spPr>
          <a:xfrm>
            <a:off x="6583680" y="4069080"/>
            <a:ext cx="3840480" cy="320040"/>
          </a:xfrm>
          <a:prstGeom prst="rect">
            <a:avLst/>
          </a:prstGeom>
          <a:noFill/>
          <a:ln/>
        </p:spPr>
        <p:txBody>
          <a:bodyPr wrap="square" lIns="0" tIns="0" rIns="0" bIns="0" rtlCol="0" anchor="ctr"/>
          <a:lstStyle/>
          <a:p>
            <a:pPr indent="0" marL="0">
              <a:buNone/>
            </a:pPr>
            <a:r>
              <a:rPr lang="en-US" sz="1500" b="1" dirty="0">
                <a:solidFill>
                  <a:schemeClr val="bg1"/>
                </a:solidFill>
              </a:rPr>
              <a:t>LatenciaAlta</a:t>
            </a:r>
            <a:endParaRPr lang="en-US" sz="1500" dirty="0"/>
          </a:p>
        </p:txBody>
      </p:sp>
      <p:sp>
        <p:nvSpPr>
          <p:cNvPr id="31" name="Text 29"/>
          <p:cNvSpPr txBox="1"/>
          <p:nvPr/>
        </p:nvSpPr>
        <p:spPr>
          <a:xfrm>
            <a:off x="6583680" y="4416552"/>
            <a:ext cx="4846320" cy="320040"/>
          </a:xfrm>
          <a:prstGeom prst="rect">
            <a:avLst/>
          </a:prstGeom>
          <a:noFill/>
          <a:ln/>
        </p:spPr>
        <p:txBody>
          <a:bodyPr wrap="square" lIns="0" tIns="0" rIns="0" bIns="0" rtlCol="0" anchor="ctr"/>
          <a:lstStyle/>
          <a:p>
            <a:pPr indent="0" marL="0">
              <a:buNone/>
            </a:pPr>
            <a:r>
              <a:rPr lang="en-US" sz="1400" dirty="0">
                <a:solidFill>
                  <a:srgbClr val="E4E4E7"/>
                </a:solidFill>
              </a:rPr>
              <a:t>p95 por encima de 3 segundos</a:t>
            </a:r>
            <a:endParaRPr lang="en-US" sz="1400" dirty="0"/>
          </a:p>
        </p:txBody>
      </p:sp>
      <p:sp>
        <p:nvSpPr>
          <p:cNvPr id="32" name="Shape 30"/>
          <p:cNvSpPr/>
          <p:nvPr/>
        </p:nvSpPr>
        <p:spPr>
          <a:xfrm>
            <a:off x="6355080" y="5020056"/>
            <a:ext cx="5285232" cy="914400"/>
          </a:xfrm>
          <a:prstGeom prst="roundRect">
            <a:avLst>
              <a:gd name="adj" fmla="val 12000"/>
            </a:avLst>
          </a:prstGeom>
          <a:solidFill>
            <a:schemeClr val="tx2"/>
          </a:solidFill>
          <a:ln/>
        </p:spPr>
      </p:sp>
      <p:sp>
        <p:nvSpPr>
          <p:cNvPr id="33" name="Shape 31"/>
          <p:cNvSpPr/>
          <p:nvPr/>
        </p:nvSpPr>
        <p:spPr>
          <a:xfrm>
            <a:off x="10515600" y="5148072"/>
            <a:ext cx="914400" cy="292608"/>
          </a:xfrm>
          <a:prstGeom prst="roundRect">
            <a:avLst>
              <a:gd name="adj" fmla="val 50000"/>
            </a:avLst>
          </a:prstGeom>
          <a:solidFill>
            <a:schemeClr val="accent5"/>
          </a:solidFill>
          <a:ln/>
        </p:spPr>
      </p:sp>
      <p:sp>
        <p:nvSpPr>
          <p:cNvPr id="34" name="Text 32"/>
          <p:cNvSpPr txBox="1"/>
          <p:nvPr/>
        </p:nvSpPr>
        <p:spPr>
          <a:xfrm>
            <a:off x="10515600" y="5148072"/>
            <a:ext cx="914400" cy="292608"/>
          </a:xfrm>
          <a:prstGeom prst="rect">
            <a:avLst/>
          </a:prstGeom>
          <a:noFill/>
          <a:ln/>
        </p:spPr>
        <p:txBody>
          <a:bodyPr wrap="square" lIns="0" tIns="0" rIns="0" bIns="0" rtlCol="0" anchor="ctr"/>
          <a:lstStyle/>
          <a:p>
            <a:pPr algn="ctr" indent="0" marL="0">
              <a:buNone/>
            </a:pPr>
            <a:r>
              <a:rPr lang="en-US" sz="1100" b="1" dirty="0">
                <a:solidFill>
                  <a:schemeClr val="tx1"/>
                </a:solidFill>
              </a:rPr>
              <a:t>info</a:t>
            </a:r>
            <a:endParaRPr lang="en-US" sz="1100" dirty="0"/>
          </a:p>
        </p:txBody>
      </p:sp>
      <p:sp>
        <p:nvSpPr>
          <p:cNvPr id="35" name="Text 33"/>
          <p:cNvSpPr txBox="1"/>
          <p:nvPr/>
        </p:nvSpPr>
        <p:spPr>
          <a:xfrm>
            <a:off x="6583680" y="5148072"/>
            <a:ext cx="3840480" cy="320040"/>
          </a:xfrm>
          <a:prstGeom prst="rect">
            <a:avLst/>
          </a:prstGeom>
          <a:noFill/>
          <a:ln/>
        </p:spPr>
        <p:txBody>
          <a:bodyPr wrap="square" lIns="0" tIns="0" rIns="0" bIns="0" rtlCol="0" anchor="ctr"/>
          <a:lstStyle/>
          <a:p>
            <a:pPr indent="0" marL="0">
              <a:buNone/>
            </a:pPr>
            <a:r>
              <a:rPr lang="en-US" sz="1500" b="1" dirty="0">
                <a:solidFill>
                  <a:schemeClr val="bg1"/>
                </a:solidFill>
              </a:rPr>
              <a:t>PicoDePhishing</a:t>
            </a:r>
            <a:endParaRPr lang="en-US" sz="1500" dirty="0"/>
          </a:p>
        </p:txBody>
      </p:sp>
      <p:sp>
        <p:nvSpPr>
          <p:cNvPr id="36" name="Text 34"/>
          <p:cNvSpPr txBox="1"/>
          <p:nvPr/>
        </p:nvSpPr>
        <p:spPr>
          <a:xfrm>
            <a:off x="6583680" y="5495544"/>
            <a:ext cx="4846320" cy="320040"/>
          </a:xfrm>
          <a:prstGeom prst="rect">
            <a:avLst/>
          </a:prstGeom>
          <a:noFill/>
          <a:ln/>
        </p:spPr>
        <p:txBody>
          <a:bodyPr wrap="square" lIns="0" tIns="0" rIns="0" bIns="0" rtlCol="0" anchor="ctr"/>
          <a:lstStyle/>
          <a:p>
            <a:pPr indent="0" marL="0">
              <a:buNone/>
            </a:pPr>
            <a:r>
              <a:rPr lang="en-US" sz="1400" dirty="0">
                <a:solidFill>
                  <a:srgbClr val="E4E4E7"/>
                </a:solidFill>
              </a:rPr>
              <a:t>más de 10 correos peligrosos en 15 min</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bg1"/>
                </a:solidFill>
              </a:rPr>
              <a:t>Dos microservicios que corren como software, sin Docker</a:t>
            </a:r>
            <a:endParaRPr lang="en-US" sz="3000" dirty="0"/>
          </a:p>
        </p:txBody>
      </p:sp>
      <p:sp>
        <p:nvSpPr>
          <p:cNvPr id="3" name="Shape 1"/>
          <p:cNvSpPr/>
          <p:nvPr/>
        </p:nvSpPr>
        <p:spPr>
          <a:xfrm>
            <a:off x="548640" y="1965960"/>
            <a:ext cx="1691640" cy="1554480"/>
          </a:xfrm>
          <a:prstGeom prst="roundRect">
            <a:avLst>
              <a:gd name="adj" fmla="val 7059"/>
            </a:avLst>
          </a:prstGeom>
          <a:solidFill>
            <a:schemeClr val="tx2"/>
          </a:solidFill>
          <a:ln/>
        </p:spPr>
      </p:sp>
      <p:sp>
        <p:nvSpPr>
          <p:cNvPr id="4" name="Shape 2"/>
          <p:cNvSpPr/>
          <p:nvPr/>
        </p:nvSpPr>
        <p:spPr>
          <a:xfrm>
            <a:off x="1078992" y="2148840"/>
            <a:ext cx="640080" cy="640080"/>
          </a:xfrm>
          <a:prstGeom prst="ellipse">
            <a:avLst/>
          </a:prstGeom>
          <a:solidFill>
            <a:schemeClr val="tx1"/>
          </a:solidFill>
          <a:ln/>
        </p:spPr>
      </p:sp>
      <p:pic>
        <p:nvPicPr>
          <p:cNvPr id="5" name="Image 0" descr="preencoded.png">    </p:cNvPr>
          <p:cNvPicPr>
            <a:picLocks noChangeAspect="1"/>
          </p:cNvPicPr>
          <p:nvPr/>
        </p:nvPicPr>
        <p:blipFill>
          <a:blip r:embed="rId1"/>
          <a:stretch>
            <a:fillRect/>
          </a:stretch>
        </p:blipFill>
        <p:spPr>
          <a:xfrm>
            <a:off x="1245413" y="2315261"/>
            <a:ext cx="307238" cy="307238"/>
          </a:xfrm>
          <a:prstGeom prst="rect">
            <a:avLst/>
          </a:prstGeom>
        </p:spPr>
      </p:pic>
      <p:sp>
        <p:nvSpPr>
          <p:cNvPr id="6" name="Text 3"/>
          <p:cNvSpPr txBox="1"/>
          <p:nvPr/>
        </p:nvSpPr>
        <p:spPr>
          <a:xfrm>
            <a:off x="548640" y="2834640"/>
            <a:ext cx="1691640" cy="274320"/>
          </a:xfrm>
          <a:prstGeom prst="rect">
            <a:avLst/>
          </a:prstGeom>
          <a:noFill/>
          <a:ln/>
        </p:spPr>
        <p:txBody>
          <a:bodyPr wrap="square" lIns="0" tIns="0" rIns="0" bIns="0" rtlCol="0" anchor="ctr"/>
          <a:lstStyle/>
          <a:p>
            <a:pPr algn="ctr" indent="0" marL="0">
              <a:buNone/>
            </a:pPr>
            <a:r>
              <a:rPr lang="en-US" sz="1500" b="1" dirty="0">
                <a:solidFill>
                  <a:schemeClr val="bg1"/>
                </a:solidFill>
              </a:rPr>
              <a:t>Cliente</a:t>
            </a:r>
            <a:endParaRPr lang="en-US" sz="1500" dirty="0"/>
          </a:p>
        </p:txBody>
      </p:sp>
      <p:sp>
        <p:nvSpPr>
          <p:cNvPr id="7" name="Text 4"/>
          <p:cNvSpPr txBox="1"/>
          <p:nvPr/>
        </p:nvSpPr>
        <p:spPr>
          <a:xfrm>
            <a:off x="548640" y="3127248"/>
            <a:ext cx="1691640" cy="274320"/>
          </a:xfrm>
          <a:prstGeom prst="rect">
            <a:avLst/>
          </a:prstGeom>
          <a:noFill/>
          <a:ln/>
        </p:spPr>
        <p:txBody>
          <a:bodyPr wrap="square" lIns="0" tIns="0" rIns="0" bIns="0" rtlCol="0" anchor="ctr"/>
          <a:lstStyle/>
          <a:p>
            <a:pPr algn="ctr" indent="0" marL="0">
              <a:buNone/>
            </a:pPr>
            <a:r>
              <a:rPr lang="en-US" sz="1000" dirty="0">
                <a:solidFill>
                  <a:schemeClr val="bg2"/>
                </a:solidFill>
              </a:rPr>
              <a:t>curl · Postman</a:t>
            </a:r>
            <a:endParaRPr lang="en-US" sz="1000" dirty="0"/>
          </a:p>
        </p:txBody>
      </p:sp>
      <p:sp>
        <p:nvSpPr>
          <p:cNvPr id="8" name="Shape 5"/>
          <p:cNvSpPr/>
          <p:nvPr/>
        </p:nvSpPr>
        <p:spPr>
          <a:xfrm>
            <a:off x="3017520" y="1463040"/>
            <a:ext cx="3611880" cy="2560320"/>
          </a:xfrm>
          <a:prstGeom prst="roundRect">
            <a:avLst>
              <a:gd name="adj" fmla="val 4286"/>
            </a:avLst>
          </a:prstGeom>
          <a:solidFill>
            <a:schemeClr val="tx2"/>
          </a:solidFill>
          <a:ln w="15875">
            <a:solidFill>
              <a:schemeClr val="accent1"/>
            </a:solidFill>
            <a:prstDash val="solid"/>
          </a:ln>
        </p:spPr>
      </p:sp>
      <p:sp>
        <p:nvSpPr>
          <p:cNvPr id="9" name="Text 6"/>
          <p:cNvSpPr txBox="1"/>
          <p:nvPr/>
        </p:nvSpPr>
        <p:spPr>
          <a:xfrm>
            <a:off x="3246120" y="1600200"/>
            <a:ext cx="2286000" cy="384048"/>
          </a:xfrm>
          <a:prstGeom prst="rect">
            <a:avLst/>
          </a:prstGeom>
          <a:noFill/>
          <a:ln/>
        </p:spPr>
        <p:txBody>
          <a:bodyPr wrap="square" lIns="0" tIns="0" rIns="0" bIns="0" rtlCol="0" anchor="ctr"/>
          <a:lstStyle/>
          <a:p>
            <a:pPr indent="0" marL="0">
              <a:buNone/>
            </a:pPr>
            <a:r>
              <a:rPr lang="en-US" sz="1800" b="1" dirty="0">
                <a:solidFill>
                  <a:schemeClr val="bg1"/>
                </a:solidFill>
              </a:rPr>
              <a:t>Analizador</a:t>
            </a:r>
            <a:endParaRPr lang="en-US" sz="1800" dirty="0"/>
          </a:p>
        </p:txBody>
      </p:sp>
      <p:sp>
        <p:nvSpPr>
          <p:cNvPr id="10" name="Text 7"/>
          <p:cNvSpPr txBox="1"/>
          <p:nvPr/>
        </p:nvSpPr>
        <p:spPr>
          <a:xfrm>
            <a:off x="5486400" y="1627632"/>
            <a:ext cx="914400" cy="347472"/>
          </a:xfrm>
          <a:prstGeom prst="rect">
            <a:avLst/>
          </a:prstGeom>
          <a:noFill/>
          <a:ln/>
        </p:spPr>
        <p:txBody>
          <a:bodyPr wrap="square" lIns="0" tIns="0" rIns="0" bIns="0" rtlCol="0" anchor="ctr"/>
          <a:lstStyle/>
          <a:p>
            <a:pPr algn="r" indent="0" marL="0">
              <a:buNone/>
            </a:pPr>
            <a:r>
              <a:rPr lang="en-US" sz="1400" b="1" dirty="0">
                <a:solidFill>
                  <a:schemeClr val="accent1"/>
                </a:solidFill>
                <a:latin typeface="Courier New" pitchFamily="34" charset="0"/>
                <a:ea typeface="Courier New" pitchFamily="34" charset="-122"/>
                <a:cs typeface="Courier New" pitchFamily="34" charset="-120"/>
              </a:rPr>
              <a:t>:5001</a:t>
            </a:r>
            <a:endParaRPr lang="en-US" sz="1400" dirty="0"/>
          </a:p>
        </p:txBody>
      </p:sp>
      <p:sp>
        <p:nvSpPr>
          <p:cNvPr id="11" name="Shape 8"/>
          <p:cNvSpPr/>
          <p:nvPr/>
        </p:nvSpPr>
        <p:spPr>
          <a:xfrm>
            <a:off x="3246120" y="2148840"/>
            <a:ext cx="3154680" cy="475488"/>
          </a:xfrm>
          <a:prstGeom prst="roundRect">
            <a:avLst>
              <a:gd name="adj" fmla="val 15385"/>
            </a:avLst>
          </a:prstGeom>
          <a:solidFill>
            <a:schemeClr val="tx1"/>
          </a:solidFill>
          <a:ln/>
        </p:spPr>
      </p:sp>
      <p:sp>
        <p:nvSpPr>
          <p:cNvPr id="12" name="Text 9"/>
          <p:cNvSpPr txBox="1"/>
          <p:nvPr/>
        </p:nvSpPr>
        <p:spPr>
          <a:xfrm>
            <a:off x="3401568" y="2148840"/>
            <a:ext cx="1737360" cy="47548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endpoint.ts</a:t>
            </a:r>
            <a:endParaRPr lang="en-US" sz="1200" dirty="0"/>
          </a:p>
        </p:txBody>
      </p:sp>
      <p:sp>
        <p:nvSpPr>
          <p:cNvPr id="13" name="Text 10"/>
          <p:cNvSpPr txBox="1"/>
          <p:nvPr/>
        </p:nvSpPr>
        <p:spPr>
          <a:xfrm>
            <a:off x="4983480" y="2148840"/>
            <a:ext cx="1298448" cy="475488"/>
          </a:xfrm>
          <a:prstGeom prst="rect">
            <a:avLst/>
          </a:prstGeom>
          <a:noFill/>
          <a:ln/>
        </p:spPr>
        <p:txBody>
          <a:bodyPr wrap="square" lIns="0" tIns="0" rIns="0" bIns="0" rtlCol="0" anchor="ctr"/>
          <a:lstStyle/>
          <a:p>
            <a:pPr algn="r" indent="0" marL="0">
              <a:buNone/>
            </a:pPr>
            <a:r>
              <a:rPr lang="en-US" sz="1100" dirty="0">
                <a:solidFill>
                  <a:schemeClr val="bg2"/>
                </a:solidFill>
              </a:rPr>
              <a:t>rutas HTTP</a:t>
            </a:r>
            <a:endParaRPr lang="en-US" sz="1100" dirty="0"/>
          </a:p>
        </p:txBody>
      </p:sp>
      <p:sp>
        <p:nvSpPr>
          <p:cNvPr id="14" name="Shape 11"/>
          <p:cNvSpPr/>
          <p:nvPr/>
        </p:nvSpPr>
        <p:spPr>
          <a:xfrm>
            <a:off x="3246120" y="2752344"/>
            <a:ext cx="3154680" cy="475488"/>
          </a:xfrm>
          <a:prstGeom prst="roundRect">
            <a:avLst>
              <a:gd name="adj" fmla="val 15385"/>
            </a:avLst>
          </a:prstGeom>
          <a:solidFill>
            <a:schemeClr val="tx1"/>
          </a:solidFill>
          <a:ln/>
        </p:spPr>
      </p:sp>
      <p:sp>
        <p:nvSpPr>
          <p:cNvPr id="15" name="Text 12"/>
          <p:cNvSpPr txBox="1"/>
          <p:nvPr/>
        </p:nvSpPr>
        <p:spPr>
          <a:xfrm>
            <a:off x="3401568" y="2752344"/>
            <a:ext cx="1737360" cy="47548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validador.ts</a:t>
            </a:r>
            <a:endParaRPr lang="en-US" sz="1200" dirty="0"/>
          </a:p>
        </p:txBody>
      </p:sp>
      <p:sp>
        <p:nvSpPr>
          <p:cNvPr id="16" name="Text 13"/>
          <p:cNvSpPr txBox="1"/>
          <p:nvPr/>
        </p:nvSpPr>
        <p:spPr>
          <a:xfrm>
            <a:off x="4983480" y="2752344"/>
            <a:ext cx="1298448" cy="475488"/>
          </a:xfrm>
          <a:prstGeom prst="rect">
            <a:avLst/>
          </a:prstGeom>
          <a:noFill/>
          <a:ln/>
        </p:spPr>
        <p:txBody>
          <a:bodyPr wrap="square" lIns="0" tIns="0" rIns="0" bIns="0" rtlCol="0" anchor="ctr"/>
          <a:lstStyle/>
          <a:p>
            <a:pPr algn="r" indent="0" marL="0">
              <a:buNone/>
            </a:pPr>
            <a:r>
              <a:rPr lang="en-US" sz="1100" dirty="0">
                <a:solidFill>
                  <a:schemeClr val="bg2"/>
                </a:solidFill>
              </a:rPr>
              <a:t>reglas de entrada</a:t>
            </a:r>
            <a:endParaRPr lang="en-US" sz="1100" dirty="0"/>
          </a:p>
        </p:txBody>
      </p:sp>
      <p:sp>
        <p:nvSpPr>
          <p:cNvPr id="17" name="Shape 14"/>
          <p:cNvSpPr/>
          <p:nvPr/>
        </p:nvSpPr>
        <p:spPr>
          <a:xfrm>
            <a:off x="3246120" y="3355848"/>
            <a:ext cx="3154680" cy="475488"/>
          </a:xfrm>
          <a:prstGeom prst="roundRect">
            <a:avLst>
              <a:gd name="adj" fmla="val 15385"/>
            </a:avLst>
          </a:prstGeom>
          <a:solidFill>
            <a:schemeClr val="tx1"/>
          </a:solidFill>
          <a:ln/>
        </p:spPr>
      </p:sp>
      <p:sp>
        <p:nvSpPr>
          <p:cNvPr id="18" name="Text 15"/>
          <p:cNvSpPr txBox="1"/>
          <p:nvPr/>
        </p:nvSpPr>
        <p:spPr>
          <a:xfrm>
            <a:off x="3401568" y="3355848"/>
            <a:ext cx="1737360" cy="47548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microservicio.ts</a:t>
            </a:r>
            <a:endParaRPr lang="en-US" sz="1200" dirty="0"/>
          </a:p>
        </p:txBody>
      </p:sp>
      <p:sp>
        <p:nvSpPr>
          <p:cNvPr id="19" name="Text 16"/>
          <p:cNvSpPr txBox="1"/>
          <p:nvPr/>
        </p:nvSpPr>
        <p:spPr>
          <a:xfrm>
            <a:off x="4983480" y="3355848"/>
            <a:ext cx="1298448" cy="475488"/>
          </a:xfrm>
          <a:prstGeom prst="rect">
            <a:avLst/>
          </a:prstGeom>
          <a:noFill/>
          <a:ln/>
        </p:spPr>
        <p:txBody>
          <a:bodyPr wrap="square" lIns="0" tIns="0" rIns="0" bIns="0" rtlCol="0" anchor="ctr"/>
          <a:lstStyle/>
          <a:p>
            <a:pPr algn="r" indent="0" marL="0">
              <a:buNone/>
            </a:pPr>
            <a:r>
              <a:rPr lang="en-US" sz="1100" dirty="0">
                <a:solidFill>
                  <a:schemeClr val="bg2"/>
                </a:solidFill>
              </a:rPr>
              <a:t>servidor Bun</a:t>
            </a:r>
            <a:endParaRPr lang="en-US" sz="1100" dirty="0"/>
          </a:p>
        </p:txBody>
      </p:sp>
      <p:sp>
        <p:nvSpPr>
          <p:cNvPr id="20" name="Shape 17"/>
          <p:cNvSpPr/>
          <p:nvPr/>
        </p:nvSpPr>
        <p:spPr>
          <a:xfrm>
            <a:off x="8028432" y="1463040"/>
            <a:ext cx="3611880" cy="2560320"/>
          </a:xfrm>
          <a:prstGeom prst="roundRect">
            <a:avLst>
              <a:gd name="adj" fmla="val 4286"/>
            </a:avLst>
          </a:prstGeom>
          <a:solidFill>
            <a:schemeClr val="tx2"/>
          </a:solidFill>
          <a:ln w="15875">
            <a:solidFill>
              <a:schemeClr val="accent5"/>
            </a:solidFill>
            <a:prstDash val="solid"/>
          </a:ln>
        </p:spPr>
      </p:sp>
      <p:sp>
        <p:nvSpPr>
          <p:cNvPr id="21" name="Text 18"/>
          <p:cNvSpPr txBox="1"/>
          <p:nvPr/>
        </p:nvSpPr>
        <p:spPr>
          <a:xfrm>
            <a:off x="8257032" y="1600200"/>
            <a:ext cx="2286000" cy="384048"/>
          </a:xfrm>
          <a:prstGeom prst="rect">
            <a:avLst/>
          </a:prstGeom>
          <a:noFill/>
          <a:ln/>
        </p:spPr>
        <p:txBody>
          <a:bodyPr wrap="square" lIns="0" tIns="0" rIns="0" bIns="0" rtlCol="0" anchor="ctr"/>
          <a:lstStyle/>
          <a:p>
            <a:pPr indent="0" marL="0">
              <a:buNone/>
            </a:pPr>
            <a:r>
              <a:rPr lang="en-US" sz="1800" b="1" dirty="0">
                <a:solidFill>
                  <a:schemeClr val="bg1"/>
                </a:solidFill>
              </a:rPr>
              <a:t>Historial</a:t>
            </a:r>
            <a:endParaRPr lang="en-US" sz="1800" dirty="0"/>
          </a:p>
        </p:txBody>
      </p:sp>
      <p:sp>
        <p:nvSpPr>
          <p:cNvPr id="22" name="Text 19"/>
          <p:cNvSpPr txBox="1"/>
          <p:nvPr/>
        </p:nvSpPr>
        <p:spPr>
          <a:xfrm>
            <a:off x="10497312" y="1627632"/>
            <a:ext cx="914400" cy="347472"/>
          </a:xfrm>
          <a:prstGeom prst="rect">
            <a:avLst/>
          </a:prstGeom>
          <a:noFill/>
          <a:ln/>
        </p:spPr>
        <p:txBody>
          <a:bodyPr wrap="square" lIns="0" tIns="0" rIns="0" bIns="0" rtlCol="0" anchor="ctr"/>
          <a:lstStyle/>
          <a:p>
            <a:pPr algn="r" indent="0" marL="0">
              <a:buNone/>
            </a:pPr>
            <a:r>
              <a:rPr lang="en-US" sz="1400" b="1" dirty="0">
                <a:solidFill>
                  <a:schemeClr val="accent5"/>
                </a:solidFill>
                <a:latin typeface="Courier New" pitchFamily="34" charset="0"/>
                <a:ea typeface="Courier New" pitchFamily="34" charset="-122"/>
                <a:cs typeface="Courier New" pitchFamily="34" charset="-120"/>
              </a:rPr>
              <a:t>:5002</a:t>
            </a:r>
            <a:endParaRPr lang="en-US" sz="1400" dirty="0"/>
          </a:p>
        </p:txBody>
      </p:sp>
      <p:sp>
        <p:nvSpPr>
          <p:cNvPr id="23" name="Shape 20"/>
          <p:cNvSpPr/>
          <p:nvPr/>
        </p:nvSpPr>
        <p:spPr>
          <a:xfrm>
            <a:off x="8257032" y="2148840"/>
            <a:ext cx="3154680" cy="475488"/>
          </a:xfrm>
          <a:prstGeom prst="roundRect">
            <a:avLst>
              <a:gd name="adj" fmla="val 15385"/>
            </a:avLst>
          </a:prstGeom>
          <a:solidFill>
            <a:schemeClr val="tx1"/>
          </a:solidFill>
          <a:ln/>
        </p:spPr>
      </p:sp>
      <p:sp>
        <p:nvSpPr>
          <p:cNvPr id="24" name="Text 21"/>
          <p:cNvSpPr txBox="1"/>
          <p:nvPr/>
        </p:nvSpPr>
        <p:spPr>
          <a:xfrm>
            <a:off x="8412480" y="2148840"/>
            <a:ext cx="1737360" cy="475488"/>
          </a:xfrm>
          <a:prstGeom prst="rect">
            <a:avLst/>
          </a:prstGeom>
          <a:noFill/>
          <a:ln/>
        </p:spPr>
        <p:txBody>
          <a:bodyPr wrap="square" lIns="0" tIns="0" rIns="0" bIns="0" rtlCol="0" anchor="ctr"/>
          <a:lstStyle/>
          <a:p>
            <a:pPr indent="0" marL="0">
              <a:buNone/>
            </a:pPr>
            <a:r>
              <a:rPr lang="en-US" sz="1200" b="1" dirty="0">
                <a:solidFill>
                  <a:schemeClr val="accent5"/>
                </a:solidFill>
                <a:latin typeface="Courier New" pitchFamily="34" charset="0"/>
                <a:ea typeface="Courier New" pitchFamily="34" charset="-122"/>
                <a:cs typeface="Courier New" pitchFamily="34" charset="-120"/>
              </a:rPr>
              <a:t>endpoint.ts</a:t>
            </a:r>
            <a:endParaRPr lang="en-US" sz="1200" dirty="0"/>
          </a:p>
        </p:txBody>
      </p:sp>
      <p:sp>
        <p:nvSpPr>
          <p:cNvPr id="25" name="Text 22"/>
          <p:cNvSpPr txBox="1"/>
          <p:nvPr/>
        </p:nvSpPr>
        <p:spPr>
          <a:xfrm>
            <a:off x="9994392" y="2148840"/>
            <a:ext cx="1298448" cy="475488"/>
          </a:xfrm>
          <a:prstGeom prst="rect">
            <a:avLst/>
          </a:prstGeom>
          <a:noFill/>
          <a:ln/>
        </p:spPr>
        <p:txBody>
          <a:bodyPr wrap="square" lIns="0" tIns="0" rIns="0" bIns="0" rtlCol="0" anchor="ctr"/>
          <a:lstStyle/>
          <a:p>
            <a:pPr algn="r" indent="0" marL="0">
              <a:buNone/>
            </a:pPr>
            <a:r>
              <a:rPr lang="en-US" sz="1100" dirty="0">
                <a:solidFill>
                  <a:schemeClr val="bg2"/>
                </a:solidFill>
              </a:rPr>
              <a:t>rutas HTTP</a:t>
            </a:r>
            <a:endParaRPr lang="en-US" sz="1100" dirty="0"/>
          </a:p>
        </p:txBody>
      </p:sp>
      <p:sp>
        <p:nvSpPr>
          <p:cNvPr id="26" name="Shape 23"/>
          <p:cNvSpPr/>
          <p:nvPr/>
        </p:nvSpPr>
        <p:spPr>
          <a:xfrm>
            <a:off x="8257032" y="2752344"/>
            <a:ext cx="3154680" cy="475488"/>
          </a:xfrm>
          <a:prstGeom prst="roundRect">
            <a:avLst>
              <a:gd name="adj" fmla="val 15385"/>
            </a:avLst>
          </a:prstGeom>
          <a:solidFill>
            <a:schemeClr val="tx1"/>
          </a:solidFill>
          <a:ln/>
        </p:spPr>
      </p:sp>
      <p:sp>
        <p:nvSpPr>
          <p:cNvPr id="27" name="Text 24"/>
          <p:cNvSpPr txBox="1"/>
          <p:nvPr/>
        </p:nvSpPr>
        <p:spPr>
          <a:xfrm>
            <a:off x="8412480" y="2752344"/>
            <a:ext cx="1737360" cy="475488"/>
          </a:xfrm>
          <a:prstGeom prst="rect">
            <a:avLst/>
          </a:prstGeom>
          <a:noFill/>
          <a:ln/>
        </p:spPr>
        <p:txBody>
          <a:bodyPr wrap="square" lIns="0" tIns="0" rIns="0" bIns="0" rtlCol="0" anchor="ctr"/>
          <a:lstStyle/>
          <a:p>
            <a:pPr indent="0" marL="0">
              <a:buNone/>
            </a:pPr>
            <a:r>
              <a:rPr lang="en-US" sz="1200" b="1" dirty="0">
                <a:solidFill>
                  <a:schemeClr val="accent5"/>
                </a:solidFill>
                <a:latin typeface="Courier New" pitchFamily="34" charset="0"/>
                <a:ea typeface="Courier New" pitchFamily="34" charset="-122"/>
                <a:cs typeface="Courier New" pitchFamily="34" charset="-120"/>
              </a:rPr>
              <a:t>validador.ts</a:t>
            </a:r>
            <a:endParaRPr lang="en-US" sz="1200" dirty="0"/>
          </a:p>
        </p:txBody>
      </p:sp>
      <p:sp>
        <p:nvSpPr>
          <p:cNvPr id="28" name="Text 25"/>
          <p:cNvSpPr txBox="1"/>
          <p:nvPr/>
        </p:nvSpPr>
        <p:spPr>
          <a:xfrm>
            <a:off x="9994392" y="2752344"/>
            <a:ext cx="1298448" cy="475488"/>
          </a:xfrm>
          <a:prstGeom prst="rect">
            <a:avLst/>
          </a:prstGeom>
          <a:noFill/>
          <a:ln/>
        </p:spPr>
        <p:txBody>
          <a:bodyPr wrap="square" lIns="0" tIns="0" rIns="0" bIns="0" rtlCol="0" anchor="ctr"/>
          <a:lstStyle/>
          <a:p>
            <a:pPr algn="r" indent="0" marL="0">
              <a:buNone/>
            </a:pPr>
            <a:r>
              <a:rPr lang="en-US" sz="1100" dirty="0">
                <a:solidFill>
                  <a:schemeClr val="bg2"/>
                </a:solidFill>
              </a:rPr>
              <a:t>reglas de entrada</a:t>
            </a:r>
            <a:endParaRPr lang="en-US" sz="1100" dirty="0"/>
          </a:p>
        </p:txBody>
      </p:sp>
      <p:sp>
        <p:nvSpPr>
          <p:cNvPr id="29" name="Shape 26"/>
          <p:cNvSpPr/>
          <p:nvPr/>
        </p:nvSpPr>
        <p:spPr>
          <a:xfrm>
            <a:off x="8257032" y="3355848"/>
            <a:ext cx="3154680" cy="475488"/>
          </a:xfrm>
          <a:prstGeom prst="roundRect">
            <a:avLst>
              <a:gd name="adj" fmla="val 15385"/>
            </a:avLst>
          </a:prstGeom>
          <a:solidFill>
            <a:schemeClr val="tx1"/>
          </a:solidFill>
          <a:ln/>
        </p:spPr>
      </p:sp>
      <p:sp>
        <p:nvSpPr>
          <p:cNvPr id="30" name="Text 27"/>
          <p:cNvSpPr txBox="1"/>
          <p:nvPr/>
        </p:nvSpPr>
        <p:spPr>
          <a:xfrm>
            <a:off x="8412480" y="3355848"/>
            <a:ext cx="1737360" cy="475488"/>
          </a:xfrm>
          <a:prstGeom prst="rect">
            <a:avLst/>
          </a:prstGeom>
          <a:noFill/>
          <a:ln/>
        </p:spPr>
        <p:txBody>
          <a:bodyPr wrap="square" lIns="0" tIns="0" rIns="0" bIns="0" rtlCol="0" anchor="ctr"/>
          <a:lstStyle/>
          <a:p>
            <a:pPr indent="0" marL="0">
              <a:buNone/>
            </a:pPr>
            <a:r>
              <a:rPr lang="en-US" sz="1200" b="1" dirty="0">
                <a:solidFill>
                  <a:schemeClr val="accent5"/>
                </a:solidFill>
                <a:latin typeface="Courier New" pitchFamily="34" charset="0"/>
                <a:ea typeface="Courier New" pitchFamily="34" charset="-122"/>
                <a:cs typeface="Courier New" pitchFamily="34" charset="-120"/>
              </a:rPr>
              <a:t>microservicio.ts</a:t>
            </a:r>
            <a:endParaRPr lang="en-US" sz="1200" dirty="0"/>
          </a:p>
        </p:txBody>
      </p:sp>
      <p:sp>
        <p:nvSpPr>
          <p:cNvPr id="31" name="Text 28"/>
          <p:cNvSpPr txBox="1"/>
          <p:nvPr/>
        </p:nvSpPr>
        <p:spPr>
          <a:xfrm>
            <a:off x="9994392" y="3355848"/>
            <a:ext cx="1298448" cy="475488"/>
          </a:xfrm>
          <a:prstGeom prst="rect">
            <a:avLst/>
          </a:prstGeom>
          <a:noFill/>
          <a:ln/>
        </p:spPr>
        <p:txBody>
          <a:bodyPr wrap="square" lIns="0" tIns="0" rIns="0" bIns="0" rtlCol="0" anchor="ctr"/>
          <a:lstStyle/>
          <a:p>
            <a:pPr algn="r" indent="0" marL="0">
              <a:buNone/>
            </a:pPr>
            <a:r>
              <a:rPr lang="en-US" sz="1100" dirty="0">
                <a:solidFill>
                  <a:schemeClr val="bg2"/>
                </a:solidFill>
              </a:rPr>
              <a:t>servidor Bun</a:t>
            </a:r>
            <a:endParaRPr lang="en-US" sz="1100" dirty="0"/>
          </a:p>
        </p:txBody>
      </p:sp>
      <p:sp>
        <p:nvSpPr>
          <p:cNvPr id="32" name="Shape 29"/>
          <p:cNvSpPr/>
          <p:nvPr/>
        </p:nvSpPr>
        <p:spPr>
          <a:xfrm>
            <a:off x="2286000" y="2743200"/>
            <a:ext cx="685800" cy="0"/>
          </a:xfrm>
          <a:prstGeom prst="line">
            <a:avLst/>
          </a:prstGeom>
          <a:noFill/>
          <a:ln w="22225">
            <a:solidFill>
              <a:schemeClr val="bg2"/>
            </a:solidFill>
            <a:prstDash val="solid"/>
            <a:tailEnd type="triangle"/>
          </a:ln>
        </p:spPr>
      </p:sp>
      <p:sp>
        <p:nvSpPr>
          <p:cNvPr id="33" name="Text 30"/>
          <p:cNvSpPr txBox="1"/>
          <p:nvPr/>
        </p:nvSpPr>
        <p:spPr>
          <a:xfrm>
            <a:off x="2240280" y="2194560"/>
            <a:ext cx="777240" cy="457200"/>
          </a:xfrm>
          <a:prstGeom prst="rect">
            <a:avLst/>
          </a:prstGeom>
          <a:noFill/>
          <a:ln/>
        </p:spPr>
        <p:txBody>
          <a:bodyPr wrap="square" lIns="0" tIns="0" rIns="0" bIns="0" rtlCol="0" anchor="b"/>
          <a:lstStyle/>
          <a:p>
            <a:pPr algn="ctr" indent="0" marL="0">
              <a:buNone/>
            </a:pPr>
            <a:r>
              <a:rPr lang="en-US" sz="1000" dirty="0">
                <a:solidFill>
                  <a:schemeClr val="bg2"/>
                </a:solidFill>
                <a:latin typeface="Courier New" pitchFamily="34" charset="0"/>
                <a:ea typeface="Courier New" pitchFamily="34" charset="-122"/>
                <a:cs typeface="Courier New" pitchFamily="34" charset="-120"/>
              </a:rPr>
              <a:t>POST</a:t>
            </a:r>
            <a:endParaRPr lang="en-US" sz="1000" dirty="0"/>
          </a:p>
          <a:p>
            <a:pPr algn="ctr" indent="0" marL="0">
              <a:buNone/>
            </a:pPr>
            <a:r>
              <a:rPr lang="en-US" sz="1000" dirty="0">
                <a:solidFill>
                  <a:schemeClr val="bg2"/>
                </a:solidFill>
                <a:latin typeface="Courier New" pitchFamily="34" charset="0"/>
                <a:ea typeface="Courier New" pitchFamily="34" charset="-122"/>
                <a:cs typeface="Courier New" pitchFamily="34" charset="-120"/>
              </a:rPr>
              <a:t>/analizar</a:t>
            </a:r>
            <a:endParaRPr lang="en-US" sz="1000" dirty="0"/>
          </a:p>
        </p:txBody>
      </p:sp>
      <p:sp>
        <p:nvSpPr>
          <p:cNvPr id="34" name="Shape 31"/>
          <p:cNvSpPr/>
          <p:nvPr/>
        </p:nvSpPr>
        <p:spPr>
          <a:xfrm>
            <a:off x="6675120" y="2743200"/>
            <a:ext cx="1307592" cy="0"/>
          </a:xfrm>
          <a:prstGeom prst="line">
            <a:avLst/>
          </a:prstGeom>
          <a:noFill/>
          <a:ln w="22225">
            <a:solidFill>
              <a:schemeClr val="bg2"/>
            </a:solidFill>
            <a:prstDash val="solid"/>
            <a:tailEnd type="triangle"/>
          </a:ln>
        </p:spPr>
      </p:sp>
      <p:sp>
        <p:nvSpPr>
          <p:cNvPr id="35" name="Text 32"/>
          <p:cNvSpPr txBox="1"/>
          <p:nvPr/>
        </p:nvSpPr>
        <p:spPr>
          <a:xfrm>
            <a:off x="6675120" y="2377440"/>
            <a:ext cx="1353312" cy="274320"/>
          </a:xfrm>
          <a:prstGeom prst="rect">
            <a:avLst/>
          </a:prstGeom>
          <a:noFill/>
          <a:ln/>
        </p:spPr>
        <p:txBody>
          <a:bodyPr wrap="square" lIns="0" tIns="0" rIns="0" bIns="0" rtlCol="0" anchor="ctr"/>
          <a:lstStyle/>
          <a:p>
            <a:pPr algn="ctr" indent="0" marL="0">
              <a:buNone/>
            </a:pPr>
            <a:r>
              <a:rPr lang="en-US" sz="1000" dirty="0">
                <a:solidFill>
                  <a:schemeClr val="bg2"/>
                </a:solidFill>
                <a:latin typeface="Courier New" pitchFamily="34" charset="0"/>
                <a:ea typeface="Courier New" pitchFamily="34" charset="-122"/>
                <a:cs typeface="Courier New" pitchFamily="34" charset="-120"/>
              </a:rPr>
              <a:t>POST /historial</a:t>
            </a:r>
            <a:endParaRPr lang="en-US" sz="1000" dirty="0"/>
          </a:p>
        </p:txBody>
      </p:sp>
      <p:sp>
        <p:nvSpPr>
          <p:cNvPr id="36" name="terminal"/>
          <p:cNvSpPr/>
          <p:nvPr/>
        </p:nvSpPr>
        <p:spPr>
          <a:xfrm>
            <a:off x="548640" y="4480560"/>
            <a:ext cx="2807208" cy="1508760"/>
          </a:xfrm>
          <a:prstGeom prst="roundRect">
            <a:avLst>
              <a:gd name="adj" fmla="val 4848"/>
            </a:avLst>
          </a:prstGeom>
          <a:solidFill>
            <a:srgbClr val="0D1117"/>
          </a:solidFill>
          <a:ln w="12700">
            <a:solidFill>
              <a:srgbClr val="30363D"/>
            </a:solidFill>
            <a:prstDash val="solid"/>
          </a:ln>
        </p:spPr>
      </p:sp>
      <p:sp>
        <p:nvSpPr>
          <p:cNvPr id="37" name="Shape 34"/>
          <p:cNvSpPr/>
          <p:nvPr/>
        </p:nvSpPr>
        <p:spPr>
          <a:xfrm>
            <a:off x="557784" y="4489704"/>
            <a:ext cx="2788920" cy="310896"/>
          </a:xfrm>
          <a:prstGeom prst="roundRect">
            <a:avLst>
              <a:gd name="adj" fmla="val 23529"/>
            </a:avLst>
          </a:prstGeom>
          <a:solidFill>
            <a:srgbClr val="161B22"/>
          </a:solidFill>
          <a:ln/>
        </p:spPr>
      </p:sp>
      <p:sp>
        <p:nvSpPr>
          <p:cNvPr id="38" name="Shape 35"/>
          <p:cNvSpPr/>
          <p:nvPr/>
        </p:nvSpPr>
        <p:spPr>
          <a:xfrm>
            <a:off x="557784" y="4636008"/>
            <a:ext cx="2788920" cy="164592"/>
          </a:xfrm>
          <a:prstGeom prst="rect">
            <a:avLst/>
          </a:prstGeom>
          <a:solidFill>
            <a:srgbClr val="161B22"/>
          </a:solidFill>
          <a:ln/>
        </p:spPr>
      </p:sp>
      <p:sp>
        <p:nvSpPr>
          <p:cNvPr id="39" name="Shape 36"/>
          <p:cNvSpPr/>
          <p:nvPr/>
        </p:nvSpPr>
        <p:spPr>
          <a:xfrm>
            <a:off x="548640" y="4800600"/>
            <a:ext cx="2807208" cy="0"/>
          </a:xfrm>
          <a:prstGeom prst="line">
            <a:avLst/>
          </a:prstGeom>
          <a:noFill/>
          <a:ln w="9525">
            <a:solidFill>
              <a:srgbClr val="30363D"/>
            </a:solidFill>
            <a:prstDash val="solid"/>
          </a:ln>
        </p:spPr>
      </p:sp>
      <p:sp>
        <p:nvSpPr>
          <p:cNvPr id="40" name="Shape 37"/>
          <p:cNvSpPr/>
          <p:nvPr/>
        </p:nvSpPr>
        <p:spPr>
          <a:xfrm>
            <a:off x="694944" y="4594860"/>
            <a:ext cx="100584" cy="100584"/>
          </a:xfrm>
          <a:prstGeom prst="ellipse">
            <a:avLst/>
          </a:prstGeom>
          <a:solidFill>
            <a:srgbClr val="FF5F56"/>
          </a:solidFill>
          <a:ln/>
        </p:spPr>
      </p:sp>
      <p:sp>
        <p:nvSpPr>
          <p:cNvPr id="41" name="Shape 38"/>
          <p:cNvSpPr/>
          <p:nvPr/>
        </p:nvSpPr>
        <p:spPr>
          <a:xfrm>
            <a:off x="850392" y="4594860"/>
            <a:ext cx="100584" cy="100584"/>
          </a:xfrm>
          <a:prstGeom prst="ellipse">
            <a:avLst/>
          </a:prstGeom>
          <a:solidFill>
            <a:srgbClr val="FFBD2E"/>
          </a:solidFill>
          <a:ln/>
        </p:spPr>
      </p:sp>
      <p:sp>
        <p:nvSpPr>
          <p:cNvPr id="42" name="Shape 39"/>
          <p:cNvSpPr/>
          <p:nvPr/>
        </p:nvSpPr>
        <p:spPr>
          <a:xfrm>
            <a:off x="1005840" y="4594860"/>
            <a:ext cx="100584" cy="100584"/>
          </a:xfrm>
          <a:prstGeom prst="ellipse">
            <a:avLst/>
          </a:prstGeom>
          <a:solidFill>
            <a:srgbClr val="27C93F"/>
          </a:solidFill>
          <a:ln/>
        </p:spPr>
      </p:sp>
      <p:sp>
        <p:nvSpPr>
          <p:cNvPr id="43" name="Text 40"/>
          <p:cNvSpPr txBox="1"/>
          <p:nvPr/>
        </p:nvSpPr>
        <p:spPr>
          <a:xfrm>
            <a:off x="1234440" y="4489704"/>
            <a:ext cx="1984248" cy="310896"/>
          </a:xfrm>
          <a:prstGeom prst="rect">
            <a:avLst/>
          </a:prstGeom>
          <a:noFill/>
          <a:ln/>
        </p:spPr>
        <p:txBody>
          <a:bodyPr wrap="square" lIns="0" tIns="0" rIns="0" bIns="0"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terminal 1 — bash</a:t>
            </a:r>
            <a:endParaRPr lang="en-US" sz="1000" dirty="0"/>
          </a:p>
        </p:txBody>
      </p:sp>
      <p:sp>
        <p:nvSpPr>
          <p:cNvPr id="44" name="codigo"/>
          <p:cNvSpPr txBox="1"/>
          <p:nvPr/>
        </p:nvSpPr>
        <p:spPr>
          <a:xfrm>
            <a:off x="713232" y="4901184"/>
            <a:ext cx="2532888" cy="1014984"/>
          </a:xfrm>
          <a:prstGeom prst="rect">
            <a:avLst/>
          </a:prstGeom>
          <a:noFill/>
          <a:ln/>
        </p:spPr>
        <p:txBody>
          <a:bodyPr wrap="square" lIns="0" tIns="0" rIns="0" bIns="0" rtlCol="0" anchor="t"/>
          <a:lstStyle/>
          <a:p>
            <a:pPr indent="0" marL="0">
              <a:buNone/>
            </a:pPr>
            <a:r>
              <a:rPr lang="en-US" sz="1200" dirty="0">
                <a:solidFill>
                  <a:srgbClr val="3FB950"/>
                </a:solidFill>
                <a:latin typeface="Courier New" pitchFamily="34" charset="0"/>
                <a:ea typeface="Courier New" pitchFamily="34" charset="-122"/>
                <a:cs typeface="Courier New" pitchFamily="34" charset="-120"/>
              </a:rPr>
              <a:t>$ </a:t>
            </a:r>
            <a:pPr indent="0" marL="0">
              <a:buNone/>
            </a:pPr>
            <a:r>
              <a:rPr lang="en-US" sz="1200" dirty="0">
                <a:solidFill>
                  <a:srgbClr val="D2A8FF"/>
                </a:solidFill>
                <a:latin typeface="Courier New" pitchFamily="34" charset="0"/>
                <a:ea typeface="Courier New" pitchFamily="34" charset="-122"/>
                <a:cs typeface="Courier New" pitchFamily="34" charset="-120"/>
              </a:rPr>
              <a:t>bun</a:t>
            </a:r>
            <a:pPr indent="0" marL="0">
              <a:buNone/>
            </a:pPr>
            <a:r>
              <a:rPr lang="en-US" sz="1200" dirty="0">
                <a:solidFill>
                  <a:srgbClr val="E6EDF3"/>
                </a:solidFill>
                <a:latin typeface="Courier New" pitchFamily="34" charset="0"/>
                <a:ea typeface="Courier New" pitchFamily="34" charset="-122"/>
                <a:cs typeface="Courier New" pitchFamily="34" charset="-120"/>
              </a:rPr>
              <a:t> run demo:historial</a:t>
            </a:r>
            <a:endParaRPr lang="en-US" sz="1200" dirty="0"/>
          </a:p>
          <a:p>
            <a:pPr indent="0" marL="0">
              <a:buNone/>
            </a:pPr>
            <a:r>
              <a:rPr lang="en-US" sz="1200" dirty="0">
                <a:solidFill>
                  <a:srgbClr val="8B949E"/>
                </a:solidFill>
                <a:latin typeface="Courier New" pitchFamily="34" charset="0"/>
                <a:ea typeface="Courier New" pitchFamily="34" charset="-122"/>
                <a:cs typeface="Courier New" pitchFamily="34" charset="-120"/>
              </a:rPr>
              <a:t># escuchando en :5002</a:t>
            </a:r>
            <a:endParaRPr lang="en-US" sz="1200" dirty="0"/>
          </a:p>
        </p:txBody>
      </p:sp>
      <p:sp>
        <p:nvSpPr>
          <p:cNvPr id="45" name="terminal"/>
          <p:cNvSpPr/>
          <p:nvPr/>
        </p:nvSpPr>
        <p:spPr>
          <a:xfrm>
            <a:off x="3502152" y="4480560"/>
            <a:ext cx="2807208" cy="1508760"/>
          </a:xfrm>
          <a:prstGeom prst="roundRect">
            <a:avLst>
              <a:gd name="adj" fmla="val 4848"/>
            </a:avLst>
          </a:prstGeom>
          <a:solidFill>
            <a:srgbClr val="0D1117"/>
          </a:solidFill>
          <a:ln w="12700">
            <a:solidFill>
              <a:srgbClr val="30363D"/>
            </a:solidFill>
            <a:prstDash val="solid"/>
          </a:ln>
        </p:spPr>
      </p:sp>
      <p:sp>
        <p:nvSpPr>
          <p:cNvPr id="46" name="Shape 43"/>
          <p:cNvSpPr/>
          <p:nvPr/>
        </p:nvSpPr>
        <p:spPr>
          <a:xfrm>
            <a:off x="3511296" y="4489704"/>
            <a:ext cx="2788920" cy="310896"/>
          </a:xfrm>
          <a:prstGeom prst="roundRect">
            <a:avLst>
              <a:gd name="adj" fmla="val 23529"/>
            </a:avLst>
          </a:prstGeom>
          <a:solidFill>
            <a:srgbClr val="161B22"/>
          </a:solidFill>
          <a:ln/>
        </p:spPr>
      </p:sp>
      <p:sp>
        <p:nvSpPr>
          <p:cNvPr id="47" name="Shape 44"/>
          <p:cNvSpPr/>
          <p:nvPr/>
        </p:nvSpPr>
        <p:spPr>
          <a:xfrm>
            <a:off x="3511296" y="4636008"/>
            <a:ext cx="2788920" cy="164592"/>
          </a:xfrm>
          <a:prstGeom prst="rect">
            <a:avLst/>
          </a:prstGeom>
          <a:solidFill>
            <a:srgbClr val="161B22"/>
          </a:solidFill>
          <a:ln/>
        </p:spPr>
      </p:sp>
      <p:sp>
        <p:nvSpPr>
          <p:cNvPr id="48" name="Shape 45"/>
          <p:cNvSpPr/>
          <p:nvPr/>
        </p:nvSpPr>
        <p:spPr>
          <a:xfrm>
            <a:off x="3502152" y="4800600"/>
            <a:ext cx="2807208" cy="0"/>
          </a:xfrm>
          <a:prstGeom prst="line">
            <a:avLst/>
          </a:prstGeom>
          <a:noFill/>
          <a:ln w="9525">
            <a:solidFill>
              <a:srgbClr val="30363D"/>
            </a:solidFill>
            <a:prstDash val="solid"/>
          </a:ln>
        </p:spPr>
      </p:sp>
      <p:sp>
        <p:nvSpPr>
          <p:cNvPr id="49" name="Shape 46"/>
          <p:cNvSpPr/>
          <p:nvPr/>
        </p:nvSpPr>
        <p:spPr>
          <a:xfrm>
            <a:off x="3648456" y="4594860"/>
            <a:ext cx="100584" cy="100584"/>
          </a:xfrm>
          <a:prstGeom prst="ellipse">
            <a:avLst/>
          </a:prstGeom>
          <a:solidFill>
            <a:srgbClr val="FF5F56"/>
          </a:solidFill>
          <a:ln/>
        </p:spPr>
      </p:sp>
      <p:sp>
        <p:nvSpPr>
          <p:cNvPr id="50" name="Shape 47"/>
          <p:cNvSpPr/>
          <p:nvPr/>
        </p:nvSpPr>
        <p:spPr>
          <a:xfrm>
            <a:off x="3803904" y="4594860"/>
            <a:ext cx="100584" cy="100584"/>
          </a:xfrm>
          <a:prstGeom prst="ellipse">
            <a:avLst/>
          </a:prstGeom>
          <a:solidFill>
            <a:srgbClr val="FFBD2E"/>
          </a:solidFill>
          <a:ln/>
        </p:spPr>
      </p:sp>
      <p:sp>
        <p:nvSpPr>
          <p:cNvPr id="51" name="Shape 48"/>
          <p:cNvSpPr/>
          <p:nvPr/>
        </p:nvSpPr>
        <p:spPr>
          <a:xfrm>
            <a:off x="3959352" y="4594860"/>
            <a:ext cx="100584" cy="100584"/>
          </a:xfrm>
          <a:prstGeom prst="ellipse">
            <a:avLst/>
          </a:prstGeom>
          <a:solidFill>
            <a:srgbClr val="27C93F"/>
          </a:solidFill>
          <a:ln/>
        </p:spPr>
      </p:sp>
      <p:sp>
        <p:nvSpPr>
          <p:cNvPr id="52" name="Text 49"/>
          <p:cNvSpPr txBox="1"/>
          <p:nvPr/>
        </p:nvSpPr>
        <p:spPr>
          <a:xfrm>
            <a:off x="4187952" y="4489704"/>
            <a:ext cx="1984248" cy="310896"/>
          </a:xfrm>
          <a:prstGeom prst="rect">
            <a:avLst/>
          </a:prstGeom>
          <a:noFill/>
          <a:ln/>
        </p:spPr>
        <p:txBody>
          <a:bodyPr wrap="square" lIns="0" tIns="0" rIns="0" bIns="0"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terminal 2 — bash</a:t>
            </a:r>
            <a:endParaRPr lang="en-US" sz="1000" dirty="0"/>
          </a:p>
        </p:txBody>
      </p:sp>
      <p:sp>
        <p:nvSpPr>
          <p:cNvPr id="53" name="codigo"/>
          <p:cNvSpPr txBox="1"/>
          <p:nvPr/>
        </p:nvSpPr>
        <p:spPr>
          <a:xfrm>
            <a:off x="3666744" y="4901184"/>
            <a:ext cx="2532888" cy="1014984"/>
          </a:xfrm>
          <a:prstGeom prst="rect">
            <a:avLst/>
          </a:prstGeom>
          <a:noFill/>
          <a:ln/>
        </p:spPr>
        <p:txBody>
          <a:bodyPr wrap="square" lIns="0" tIns="0" rIns="0" bIns="0" rtlCol="0" anchor="t"/>
          <a:lstStyle/>
          <a:p>
            <a:pPr indent="0" marL="0">
              <a:buNone/>
            </a:pPr>
            <a:r>
              <a:rPr lang="en-US" sz="1200" dirty="0">
                <a:solidFill>
                  <a:srgbClr val="3FB950"/>
                </a:solidFill>
                <a:latin typeface="Courier New" pitchFamily="34" charset="0"/>
                <a:ea typeface="Courier New" pitchFamily="34" charset="-122"/>
                <a:cs typeface="Courier New" pitchFamily="34" charset="-120"/>
              </a:rPr>
              <a:t>$ </a:t>
            </a:r>
            <a:pPr indent="0" marL="0">
              <a:buNone/>
            </a:pPr>
            <a:r>
              <a:rPr lang="en-US" sz="1200" dirty="0">
                <a:solidFill>
                  <a:srgbClr val="D2A8FF"/>
                </a:solidFill>
                <a:latin typeface="Courier New" pitchFamily="34" charset="0"/>
                <a:ea typeface="Courier New" pitchFamily="34" charset="-122"/>
                <a:cs typeface="Courier New" pitchFamily="34" charset="-120"/>
              </a:rPr>
              <a:t>bun</a:t>
            </a:r>
            <a:pPr indent="0" marL="0">
              <a:buNone/>
            </a:pPr>
            <a:r>
              <a:rPr lang="en-US" sz="1200" dirty="0">
                <a:solidFill>
                  <a:srgbClr val="E6EDF3"/>
                </a:solidFill>
                <a:latin typeface="Courier New" pitchFamily="34" charset="0"/>
                <a:ea typeface="Courier New" pitchFamily="34" charset="-122"/>
                <a:cs typeface="Courier New" pitchFamily="34" charset="-120"/>
              </a:rPr>
              <a:t> run demo:analizador</a:t>
            </a:r>
            <a:endParaRPr lang="en-US" sz="1200" dirty="0"/>
          </a:p>
          <a:p>
            <a:pPr indent="0" marL="0">
              <a:buNone/>
            </a:pPr>
            <a:r>
              <a:rPr lang="en-US" sz="1200" dirty="0">
                <a:solidFill>
                  <a:srgbClr val="8B949E"/>
                </a:solidFill>
                <a:latin typeface="Courier New" pitchFamily="34" charset="0"/>
                <a:ea typeface="Courier New" pitchFamily="34" charset="-122"/>
                <a:cs typeface="Courier New" pitchFamily="34" charset="-120"/>
              </a:rPr>
              <a:t># escuchando en :5001</a:t>
            </a:r>
            <a:endParaRPr lang="en-US" sz="1200" dirty="0"/>
          </a:p>
        </p:txBody>
      </p:sp>
      <p:sp>
        <p:nvSpPr>
          <p:cNvPr id="54" name="Shape 51"/>
          <p:cNvSpPr/>
          <p:nvPr/>
        </p:nvSpPr>
        <p:spPr>
          <a:xfrm>
            <a:off x="6583680" y="4480560"/>
            <a:ext cx="5056632" cy="1508760"/>
          </a:xfrm>
          <a:prstGeom prst="roundRect">
            <a:avLst>
              <a:gd name="adj" fmla="val 7273"/>
            </a:avLst>
          </a:prstGeom>
          <a:solidFill>
            <a:schemeClr val="tx2"/>
          </a:solidFill>
          <a:ln/>
        </p:spPr>
      </p:sp>
      <p:pic>
        <p:nvPicPr>
          <p:cNvPr id="55" name="Image 1" descr="preencoded.png">    </p:cNvPr>
          <p:cNvPicPr>
            <a:picLocks noChangeAspect="1"/>
          </p:cNvPicPr>
          <p:nvPr/>
        </p:nvPicPr>
        <p:blipFill>
          <a:blip r:embed="rId2"/>
          <a:stretch>
            <a:fillRect/>
          </a:stretch>
        </p:blipFill>
        <p:spPr>
          <a:xfrm>
            <a:off x="6812280" y="4672584"/>
            <a:ext cx="274320" cy="274320"/>
          </a:xfrm>
          <a:prstGeom prst="rect">
            <a:avLst/>
          </a:prstGeom>
        </p:spPr>
      </p:pic>
      <p:sp>
        <p:nvSpPr>
          <p:cNvPr id="56" name="Text 52"/>
          <p:cNvSpPr txBox="1"/>
          <p:nvPr/>
        </p:nvSpPr>
        <p:spPr>
          <a:xfrm>
            <a:off x="7223760" y="4636008"/>
            <a:ext cx="4206240" cy="347472"/>
          </a:xfrm>
          <a:prstGeom prst="rect">
            <a:avLst/>
          </a:prstGeom>
          <a:noFill/>
          <a:ln/>
        </p:spPr>
        <p:txBody>
          <a:bodyPr wrap="square" lIns="0" tIns="0" rIns="0" bIns="0" rtlCol="0" anchor="ctr"/>
          <a:lstStyle/>
          <a:p>
            <a:pPr indent="0" marL="0">
              <a:buNone/>
            </a:pPr>
            <a:r>
              <a:rPr lang="en-US" sz="1500" dirty="0">
                <a:solidFill>
                  <a:schemeClr val="bg1"/>
                </a:solidFill>
              </a:rPr>
              <a:t>Sin Docker: procesos de Bun</a:t>
            </a:r>
            <a:endParaRPr lang="en-US" sz="1500" dirty="0"/>
          </a:p>
        </p:txBody>
      </p:sp>
      <p:pic>
        <p:nvPicPr>
          <p:cNvPr id="57" name="Image 2" descr="preencoded.png">    </p:cNvPr>
          <p:cNvPicPr>
            <a:picLocks noChangeAspect="1"/>
          </p:cNvPicPr>
          <p:nvPr/>
        </p:nvPicPr>
        <p:blipFill>
          <a:blip r:embed="rId3"/>
          <a:stretch>
            <a:fillRect/>
          </a:stretch>
        </p:blipFill>
        <p:spPr>
          <a:xfrm>
            <a:off x="6812280" y="5102352"/>
            <a:ext cx="274320" cy="274320"/>
          </a:xfrm>
          <a:prstGeom prst="rect">
            <a:avLst/>
          </a:prstGeom>
        </p:spPr>
      </p:pic>
      <p:sp>
        <p:nvSpPr>
          <p:cNvPr id="58" name="Text 53"/>
          <p:cNvSpPr txBox="1"/>
          <p:nvPr/>
        </p:nvSpPr>
        <p:spPr>
          <a:xfrm>
            <a:off x="7223760" y="5065776"/>
            <a:ext cx="4206240" cy="347472"/>
          </a:xfrm>
          <a:prstGeom prst="rect">
            <a:avLst/>
          </a:prstGeom>
          <a:noFill/>
          <a:ln/>
        </p:spPr>
        <p:txBody>
          <a:bodyPr wrap="square" lIns="0" tIns="0" rIns="0" bIns="0" rtlCol="0" anchor="ctr"/>
          <a:lstStyle/>
          <a:p>
            <a:pPr indent="0" marL="0">
              <a:buNone/>
            </a:pPr>
            <a:r>
              <a:rPr lang="en-US" sz="1500" dirty="0">
                <a:solidFill>
                  <a:schemeClr val="bg1"/>
                </a:solidFill>
              </a:rPr>
              <a:t>Sin librerías externas</a:t>
            </a:r>
            <a:endParaRPr lang="en-US" sz="1500" dirty="0"/>
          </a:p>
        </p:txBody>
      </p:sp>
      <p:pic>
        <p:nvPicPr>
          <p:cNvPr id="59" name="Image 3" descr="preencoded.png">    </p:cNvPr>
          <p:cNvPicPr>
            <a:picLocks noChangeAspect="1"/>
          </p:cNvPicPr>
          <p:nvPr/>
        </p:nvPicPr>
        <p:blipFill>
          <a:blip r:embed="rId4"/>
          <a:stretch>
            <a:fillRect/>
          </a:stretch>
        </p:blipFill>
        <p:spPr>
          <a:xfrm>
            <a:off x="6812280" y="5532120"/>
            <a:ext cx="274320" cy="274320"/>
          </a:xfrm>
          <a:prstGeom prst="rect">
            <a:avLst/>
          </a:prstGeom>
        </p:spPr>
      </p:pic>
      <p:sp>
        <p:nvSpPr>
          <p:cNvPr id="60" name="Text 54"/>
          <p:cNvSpPr txBox="1"/>
          <p:nvPr/>
        </p:nvSpPr>
        <p:spPr>
          <a:xfrm>
            <a:off x="7223760" y="5495544"/>
            <a:ext cx="4206240" cy="347472"/>
          </a:xfrm>
          <a:prstGeom prst="rect">
            <a:avLst/>
          </a:prstGeom>
          <a:noFill/>
          <a:ln/>
        </p:spPr>
        <p:txBody>
          <a:bodyPr wrap="square" lIns="0" tIns="0" rIns="0" bIns="0" rtlCol="0" anchor="ctr"/>
          <a:lstStyle/>
          <a:p>
            <a:pPr indent="0" marL="0">
              <a:buNone/>
            </a:pPr>
            <a:r>
              <a:rPr lang="en-US" sz="1500" dirty="0">
                <a:solidFill>
                  <a:schemeClr val="bg1"/>
                </a:solidFill>
              </a:rPr>
              <a:t>7 pruebas automáticas en el CI</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bg1"/>
                </a:solidFill>
              </a:rPr>
              <a:t>El validador frena la petición antes de llegar a la lógica</a:t>
            </a:r>
            <a:endParaRPr lang="en-US" sz="3000" dirty="0"/>
          </a:p>
        </p:txBody>
      </p:sp>
      <p:sp>
        <p:nvSpPr>
          <p:cNvPr id="3" name="Text 1"/>
          <p:cNvSpPr txBox="1"/>
          <p:nvPr/>
        </p:nvSpPr>
        <p:spPr>
          <a:xfrm>
            <a:off x="548640" y="1463040"/>
            <a:ext cx="5486400" cy="228600"/>
          </a:xfrm>
          <a:prstGeom prst="rect">
            <a:avLst/>
          </a:prstGeom>
          <a:noFill/>
          <a:ln/>
        </p:spPr>
        <p:txBody>
          <a:bodyPr wrap="square" lIns="0" tIns="0" rIns="0" bIns="0" rtlCol="0" anchor="ctr"/>
          <a:lstStyle/>
          <a:p>
            <a:pPr indent="0" marL="0">
              <a:buNone/>
            </a:pPr>
            <a:r>
              <a:rPr lang="en-US" sz="1100" b="1" spc="150" kern="0" dirty="0">
                <a:solidFill>
                  <a:schemeClr val="accent1"/>
                </a:solidFill>
              </a:rPr>
              <a:t>VALIDADOR (SIMPLIFICADO)</a:t>
            </a:r>
            <a:endParaRPr lang="en-US" sz="1100" dirty="0"/>
          </a:p>
        </p:txBody>
      </p:sp>
      <p:sp>
        <p:nvSpPr>
          <p:cNvPr id="4" name="editor"/>
          <p:cNvSpPr/>
          <p:nvPr/>
        </p:nvSpPr>
        <p:spPr>
          <a:xfrm>
            <a:off x="548640" y="1783080"/>
            <a:ext cx="6035040" cy="4434840"/>
          </a:xfrm>
          <a:prstGeom prst="roundRect">
            <a:avLst>
              <a:gd name="adj" fmla="val 1649"/>
            </a:avLst>
          </a:prstGeom>
          <a:solidFill>
            <a:srgbClr val="0D1117"/>
          </a:solidFill>
          <a:ln w="12700">
            <a:solidFill>
              <a:srgbClr val="30363D"/>
            </a:solidFill>
            <a:prstDash val="solid"/>
          </a:ln>
        </p:spPr>
      </p:sp>
      <p:sp>
        <p:nvSpPr>
          <p:cNvPr id="5" name="Shape 3"/>
          <p:cNvSpPr/>
          <p:nvPr/>
        </p:nvSpPr>
        <p:spPr>
          <a:xfrm>
            <a:off x="557784" y="1792224"/>
            <a:ext cx="6016752" cy="310896"/>
          </a:xfrm>
          <a:prstGeom prst="roundRect">
            <a:avLst>
              <a:gd name="adj" fmla="val 23529"/>
            </a:avLst>
          </a:prstGeom>
          <a:solidFill>
            <a:srgbClr val="161B22"/>
          </a:solidFill>
          <a:ln/>
        </p:spPr>
      </p:sp>
      <p:sp>
        <p:nvSpPr>
          <p:cNvPr id="6" name="Shape 4"/>
          <p:cNvSpPr/>
          <p:nvPr/>
        </p:nvSpPr>
        <p:spPr>
          <a:xfrm>
            <a:off x="557784" y="1938528"/>
            <a:ext cx="6016752" cy="164592"/>
          </a:xfrm>
          <a:prstGeom prst="rect">
            <a:avLst/>
          </a:prstGeom>
          <a:solidFill>
            <a:srgbClr val="161B22"/>
          </a:solidFill>
          <a:ln/>
        </p:spPr>
      </p:sp>
      <p:sp>
        <p:nvSpPr>
          <p:cNvPr id="7" name="Shape 5"/>
          <p:cNvSpPr/>
          <p:nvPr/>
        </p:nvSpPr>
        <p:spPr>
          <a:xfrm>
            <a:off x="548640" y="2103120"/>
            <a:ext cx="6035040" cy="0"/>
          </a:xfrm>
          <a:prstGeom prst="line">
            <a:avLst/>
          </a:prstGeom>
          <a:noFill/>
          <a:ln w="9525">
            <a:solidFill>
              <a:srgbClr val="30363D"/>
            </a:solidFill>
            <a:prstDash val="solid"/>
          </a:ln>
        </p:spPr>
      </p:sp>
      <p:sp>
        <p:nvSpPr>
          <p:cNvPr id="8" name="Shape 6"/>
          <p:cNvSpPr/>
          <p:nvPr/>
        </p:nvSpPr>
        <p:spPr>
          <a:xfrm>
            <a:off x="694944" y="1897380"/>
            <a:ext cx="100584" cy="100584"/>
          </a:xfrm>
          <a:prstGeom prst="ellipse">
            <a:avLst/>
          </a:prstGeom>
          <a:solidFill>
            <a:srgbClr val="FF5F56"/>
          </a:solidFill>
          <a:ln/>
        </p:spPr>
      </p:sp>
      <p:sp>
        <p:nvSpPr>
          <p:cNvPr id="9" name="Shape 7"/>
          <p:cNvSpPr/>
          <p:nvPr/>
        </p:nvSpPr>
        <p:spPr>
          <a:xfrm>
            <a:off x="850392" y="1897380"/>
            <a:ext cx="100584" cy="100584"/>
          </a:xfrm>
          <a:prstGeom prst="ellipse">
            <a:avLst/>
          </a:prstGeom>
          <a:solidFill>
            <a:srgbClr val="FFBD2E"/>
          </a:solidFill>
          <a:ln/>
        </p:spPr>
      </p:sp>
      <p:sp>
        <p:nvSpPr>
          <p:cNvPr id="10" name="Shape 8"/>
          <p:cNvSpPr/>
          <p:nvPr/>
        </p:nvSpPr>
        <p:spPr>
          <a:xfrm>
            <a:off x="1005840" y="1897380"/>
            <a:ext cx="100584" cy="100584"/>
          </a:xfrm>
          <a:prstGeom prst="ellipse">
            <a:avLst/>
          </a:prstGeom>
          <a:solidFill>
            <a:srgbClr val="27C93F"/>
          </a:solidFill>
          <a:ln/>
        </p:spPr>
      </p:sp>
      <p:sp>
        <p:nvSpPr>
          <p:cNvPr id="11" name="Text 9"/>
          <p:cNvSpPr txBox="1"/>
          <p:nvPr/>
        </p:nvSpPr>
        <p:spPr>
          <a:xfrm>
            <a:off x="1234440" y="1792224"/>
            <a:ext cx="5212080" cy="310896"/>
          </a:xfrm>
          <a:prstGeom prst="rect">
            <a:avLst/>
          </a:prstGeom>
          <a:noFill/>
          <a:ln/>
        </p:spPr>
        <p:txBody>
          <a:bodyPr wrap="square" lIns="0" tIns="0" rIns="0" bIns="0"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analizador/validador.ts</a:t>
            </a:r>
            <a:endParaRPr lang="en-US" sz="1000" dirty="0"/>
          </a:p>
        </p:txBody>
      </p:sp>
      <p:sp>
        <p:nvSpPr>
          <p:cNvPr id="12" name="codigo"/>
          <p:cNvSpPr txBox="1"/>
          <p:nvPr/>
        </p:nvSpPr>
        <p:spPr>
          <a:xfrm>
            <a:off x="713232" y="2203704"/>
            <a:ext cx="5760720" cy="3941064"/>
          </a:xfrm>
          <a:prstGeom prst="rect">
            <a:avLst/>
          </a:prstGeom>
          <a:noFill/>
          <a:ln/>
        </p:spPr>
        <p:txBody>
          <a:bodyPr wrap="square" lIns="0" tIns="0" rIns="0" bIns="0" rtlCol="0" anchor="t"/>
          <a:lstStyle/>
          <a:p>
            <a:pPr indent="0" marL="0">
              <a:buNone/>
            </a:pPr>
            <a:r>
              <a:rPr lang="en-US" sz="1100" dirty="0">
                <a:solidFill>
                  <a:srgbClr val="6E7681"/>
                </a:solidFill>
                <a:latin typeface="Courier New" pitchFamily="34" charset="0"/>
                <a:ea typeface="Courier New" pitchFamily="34" charset="-122"/>
                <a:cs typeface="Courier New" pitchFamily="34" charset="-120"/>
              </a:rPr>
              <a:t> 1  </a:t>
            </a:r>
            <a:pPr indent="0" marL="0">
              <a:buNone/>
            </a:pPr>
            <a:r>
              <a:rPr lang="en-US" sz="1100" dirty="0">
                <a:solidFill>
                  <a:srgbClr val="FF7B72"/>
                </a:solidFill>
                <a:latin typeface="Courier New" pitchFamily="34" charset="0"/>
                <a:ea typeface="Courier New" pitchFamily="34" charset="-122"/>
                <a:cs typeface="Courier New" pitchFamily="34" charset="-120"/>
              </a:rPr>
              <a:t>export</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FF7B72"/>
                </a:solidFill>
                <a:latin typeface="Courier New" pitchFamily="34" charset="0"/>
                <a:ea typeface="Courier New" pitchFamily="34" charset="-122"/>
                <a:cs typeface="Courier New" pitchFamily="34" charset="-120"/>
              </a:rPr>
              <a:t>function</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D2A8FF"/>
                </a:solidFill>
                <a:latin typeface="Courier New" pitchFamily="34" charset="0"/>
                <a:ea typeface="Courier New" pitchFamily="34" charset="-122"/>
                <a:cs typeface="Courier New" pitchFamily="34" charset="-120"/>
              </a:rPr>
              <a:t>validarCorreo</a:t>
            </a:r>
            <a:pPr indent="0" marL="0">
              <a:buNone/>
            </a:pPr>
            <a:r>
              <a:rPr lang="en-US" sz="1100" dirty="0">
                <a:solidFill>
                  <a:srgbClr val="E6EDF3"/>
                </a:solidFill>
                <a:latin typeface="Courier New" pitchFamily="34" charset="0"/>
                <a:ea typeface="Courier New" pitchFamily="34" charset="-122"/>
                <a:cs typeface="Courier New" pitchFamily="34" charset="-120"/>
              </a:rPr>
              <a:t>(body: </a:t>
            </a:r>
            <a:pPr indent="0" marL="0">
              <a:buNone/>
            </a:pPr>
            <a:r>
              <a:rPr lang="en-US" sz="1100" dirty="0">
                <a:solidFill>
                  <a:srgbClr val="79C0FF"/>
                </a:solidFill>
                <a:latin typeface="Courier New" pitchFamily="34" charset="0"/>
                <a:ea typeface="Courier New" pitchFamily="34" charset="-122"/>
                <a:cs typeface="Courier New" pitchFamily="34" charset="-120"/>
              </a:rPr>
              <a:t>unknown</a:t>
            </a:r>
            <a:pPr indent="0" marL="0">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2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FF7B72"/>
                </a:solidFill>
                <a:latin typeface="Courier New" pitchFamily="34" charset="0"/>
                <a:ea typeface="Courier New" pitchFamily="34" charset="-122"/>
                <a:cs typeface="Courier New" pitchFamily="34" charset="-120"/>
              </a:rPr>
              <a:t>const</a:t>
            </a:r>
            <a:pPr indent="0" marL="0">
              <a:buNone/>
            </a:pPr>
            <a:r>
              <a:rPr lang="en-US" sz="1100" dirty="0">
                <a:solidFill>
                  <a:srgbClr val="E6EDF3"/>
                </a:solidFill>
                <a:latin typeface="Courier New" pitchFamily="34" charset="0"/>
                <a:ea typeface="Courier New" pitchFamily="34" charset="-122"/>
                <a:cs typeface="Courier New" pitchFamily="34" charset="-120"/>
              </a:rPr>
              <a:t> { remitente, asunto, cuerpo } = body;</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3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FF7B72"/>
                </a:solidFill>
                <a:latin typeface="Courier New" pitchFamily="34" charset="0"/>
                <a:ea typeface="Courier New" pitchFamily="34" charset="-122"/>
                <a:cs typeface="Courier New" pitchFamily="34" charset="-120"/>
              </a:rPr>
              <a:t>const</a:t>
            </a:r>
            <a:pPr indent="0" marL="0">
              <a:buNone/>
            </a:pPr>
            <a:r>
              <a:rPr lang="en-US" sz="1100" dirty="0">
                <a:solidFill>
                  <a:srgbClr val="E6EDF3"/>
                </a:solidFill>
                <a:latin typeface="Courier New" pitchFamily="34" charset="0"/>
                <a:ea typeface="Courier New" pitchFamily="34" charset="-122"/>
                <a:cs typeface="Courier New" pitchFamily="34" charset="-120"/>
              </a:rPr>
              <a:t> errores: </a:t>
            </a:r>
            <a:pPr indent="0" marL="0">
              <a:buNone/>
            </a:pPr>
            <a:r>
              <a:rPr lang="en-US" sz="1100" dirty="0">
                <a:solidFill>
                  <a:srgbClr val="79C0FF"/>
                </a:solidFill>
                <a:latin typeface="Courier New" pitchFamily="34" charset="0"/>
                <a:ea typeface="Courier New" pitchFamily="34" charset="-122"/>
                <a:cs typeface="Courier New" pitchFamily="34" charset="-120"/>
              </a:rPr>
              <a:t>string</a:t>
            </a:r>
            <a:pPr indent="0" marL="0">
              <a:buNone/>
            </a:pPr>
            <a:r>
              <a:rPr lang="en-US" sz="1100" dirty="0">
                <a:solidFill>
                  <a:srgbClr val="E6EDF3"/>
                </a:solidFill>
                <a:latin typeface="Courier New" pitchFamily="34" charset="0"/>
                <a:ea typeface="Courier New" pitchFamily="34" charset="-122"/>
                <a:cs typeface="Courier New" pitchFamily="34" charset="-120"/>
              </a:rPr>
              <a:t>[] = [];</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4  </a:t>
            </a:r>
            <a:pPr indent="0" marL="0">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5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FF7B72"/>
                </a:solidFill>
                <a:latin typeface="Courier New" pitchFamily="34" charset="0"/>
                <a:ea typeface="Courier New" pitchFamily="34" charset="-122"/>
                <a:cs typeface="Courier New" pitchFamily="34" charset="-120"/>
              </a:rPr>
              <a:t>if</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79C0FF"/>
                </a:solidFill>
                <a:latin typeface="Courier New" pitchFamily="34" charset="0"/>
                <a:ea typeface="Courier New" pitchFamily="34" charset="-122"/>
                <a:cs typeface="Courier New" pitchFamily="34" charset="-120"/>
              </a:rPr>
              <a:t>EMAIL</a:t>
            </a:r>
            <a:pPr indent="0" marL="0">
              <a:buNone/>
            </a:pPr>
            <a:r>
              <a:rPr lang="en-US" sz="1100" dirty="0">
                <a:solidFill>
                  <a:srgbClr val="E6EDF3"/>
                </a:solidFill>
                <a:latin typeface="Courier New" pitchFamily="34" charset="0"/>
                <a:ea typeface="Courier New" pitchFamily="34" charset="-122"/>
                <a:cs typeface="Courier New" pitchFamily="34" charset="-120"/>
              </a:rPr>
              <a:t>.</a:t>
            </a:r>
            <a:pPr indent="0" marL="0">
              <a:buNone/>
            </a:pPr>
            <a:r>
              <a:rPr lang="en-US" sz="1100" dirty="0">
                <a:solidFill>
                  <a:srgbClr val="D2A8FF"/>
                </a:solidFill>
                <a:latin typeface="Courier New" pitchFamily="34" charset="0"/>
                <a:ea typeface="Courier New" pitchFamily="34" charset="-122"/>
                <a:cs typeface="Courier New" pitchFamily="34" charset="-120"/>
              </a:rPr>
              <a:t>test</a:t>
            </a:r>
            <a:pPr indent="0" marL="0">
              <a:buNone/>
            </a:pPr>
            <a:r>
              <a:rPr lang="en-US" sz="1100" dirty="0">
                <a:solidFill>
                  <a:srgbClr val="E6EDF3"/>
                </a:solidFill>
                <a:latin typeface="Courier New" pitchFamily="34" charset="0"/>
                <a:ea typeface="Courier New" pitchFamily="34" charset="-122"/>
                <a:cs typeface="Courier New" pitchFamily="34" charset="-120"/>
              </a:rPr>
              <a:t>(remitente))</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6  </a:t>
            </a:r>
            <a:pPr indent="0" marL="0">
              <a:buNone/>
            </a:pPr>
            <a:r>
              <a:rPr lang="en-US" sz="1100" dirty="0">
                <a:solidFill>
                  <a:srgbClr val="E6EDF3"/>
                </a:solidFill>
                <a:latin typeface="Courier New" pitchFamily="34" charset="0"/>
                <a:ea typeface="Courier New" pitchFamily="34" charset="-122"/>
                <a:cs typeface="Courier New" pitchFamily="34" charset="-120"/>
              </a:rPr>
              <a:t>    errores.</a:t>
            </a:r>
            <a:pPr indent="0" marL="0">
              <a:buNone/>
            </a:pPr>
            <a:r>
              <a:rPr lang="en-US" sz="1100" dirty="0">
                <a:solidFill>
                  <a:srgbClr val="D2A8FF"/>
                </a:solidFill>
                <a:latin typeface="Courier New" pitchFamily="34" charset="0"/>
                <a:ea typeface="Courier New" pitchFamily="34" charset="-122"/>
                <a:cs typeface="Courier New" pitchFamily="34" charset="-120"/>
              </a:rPr>
              <a:t>push</a:t>
            </a:r>
            <a:pPr indent="0" marL="0">
              <a:buNone/>
            </a:pPr>
            <a:r>
              <a:rPr lang="en-US" sz="1100" dirty="0">
                <a:solidFill>
                  <a:srgbClr val="E6EDF3"/>
                </a:solidFill>
                <a:latin typeface="Courier New" pitchFamily="34" charset="0"/>
                <a:ea typeface="Courier New" pitchFamily="34" charset="-122"/>
                <a:cs typeface="Courier New" pitchFamily="34" charset="-120"/>
              </a:rPr>
              <a:t>(</a:t>
            </a:r>
            <a:pPr indent="0" marL="0">
              <a:buNone/>
            </a:pPr>
            <a:r>
              <a:rPr lang="en-US" sz="1100" dirty="0">
                <a:solidFill>
                  <a:srgbClr val="A5D6FF"/>
                </a:solidFill>
                <a:latin typeface="Courier New" pitchFamily="34" charset="0"/>
                <a:ea typeface="Courier New" pitchFamily="34" charset="-122"/>
                <a:cs typeface="Courier New" pitchFamily="34" charset="-120"/>
              </a:rPr>
              <a:t>"'remitente' debe ser un correo válido."</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7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FF7B72"/>
                </a:solidFill>
                <a:latin typeface="Courier New" pitchFamily="34" charset="0"/>
                <a:ea typeface="Courier New" pitchFamily="34" charset="-122"/>
                <a:cs typeface="Courier New" pitchFamily="34" charset="-120"/>
              </a:rPr>
              <a:t>if</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FF7B72"/>
                </a:solidFill>
                <a:latin typeface="Courier New" pitchFamily="34" charset="0"/>
                <a:ea typeface="Courier New" pitchFamily="34" charset="-122"/>
                <a:cs typeface="Courier New" pitchFamily="34" charset="-120"/>
              </a:rPr>
              <a:t>typeof</a:t>
            </a:r>
            <a:pPr indent="0" marL="0">
              <a:buNone/>
            </a:pPr>
            <a:r>
              <a:rPr lang="en-US" sz="1100" dirty="0">
                <a:solidFill>
                  <a:srgbClr val="E6EDF3"/>
                </a:solidFill>
                <a:latin typeface="Courier New" pitchFamily="34" charset="0"/>
                <a:ea typeface="Courier New" pitchFamily="34" charset="-122"/>
                <a:cs typeface="Courier New" pitchFamily="34" charset="-120"/>
              </a:rPr>
              <a:t> asunto !== </a:t>
            </a:r>
            <a:pPr indent="0" marL="0">
              <a:buNone/>
            </a:pPr>
            <a:r>
              <a:rPr lang="en-US" sz="1100" dirty="0">
                <a:solidFill>
                  <a:srgbClr val="A5D6FF"/>
                </a:solidFill>
                <a:latin typeface="Courier New" pitchFamily="34" charset="0"/>
                <a:ea typeface="Courier New" pitchFamily="34" charset="-122"/>
                <a:cs typeface="Courier New" pitchFamily="34" charset="-120"/>
              </a:rPr>
              <a:t>"string"</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8  </a:t>
            </a:r>
            <a:pPr indent="0" marL="0">
              <a:buNone/>
            </a:pPr>
            <a:r>
              <a:rPr lang="en-US" sz="1100" dirty="0">
                <a:solidFill>
                  <a:srgbClr val="E6EDF3"/>
                </a:solidFill>
                <a:latin typeface="Courier New" pitchFamily="34" charset="0"/>
                <a:ea typeface="Courier New" pitchFamily="34" charset="-122"/>
                <a:cs typeface="Courier New" pitchFamily="34" charset="-120"/>
              </a:rPr>
              <a:t>    errores.</a:t>
            </a:r>
            <a:pPr indent="0" marL="0">
              <a:buNone/>
            </a:pPr>
            <a:r>
              <a:rPr lang="en-US" sz="1100" dirty="0">
                <a:solidFill>
                  <a:srgbClr val="D2A8FF"/>
                </a:solidFill>
                <a:latin typeface="Courier New" pitchFamily="34" charset="0"/>
                <a:ea typeface="Courier New" pitchFamily="34" charset="-122"/>
                <a:cs typeface="Courier New" pitchFamily="34" charset="-120"/>
              </a:rPr>
              <a:t>push</a:t>
            </a:r>
            <a:pPr indent="0" marL="0">
              <a:buNone/>
            </a:pPr>
            <a:r>
              <a:rPr lang="en-US" sz="1100" dirty="0">
                <a:solidFill>
                  <a:srgbClr val="E6EDF3"/>
                </a:solidFill>
                <a:latin typeface="Courier New" pitchFamily="34" charset="0"/>
                <a:ea typeface="Courier New" pitchFamily="34" charset="-122"/>
                <a:cs typeface="Courier New" pitchFamily="34" charset="-120"/>
              </a:rPr>
              <a:t>(</a:t>
            </a:r>
            <a:pPr indent="0" marL="0">
              <a:buNone/>
            </a:pPr>
            <a:r>
              <a:rPr lang="en-US" sz="1100" dirty="0">
                <a:solidFill>
                  <a:srgbClr val="A5D6FF"/>
                </a:solidFill>
                <a:latin typeface="Courier New" pitchFamily="34" charset="0"/>
                <a:ea typeface="Courier New" pitchFamily="34" charset="-122"/>
                <a:cs typeface="Courier New" pitchFamily="34" charset="-120"/>
              </a:rPr>
              <a:t>"'asunto' debe ser texto."</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 9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FF7B72"/>
                </a:solidFill>
                <a:latin typeface="Courier New" pitchFamily="34" charset="0"/>
                <a:ea typeface="Courier New" pitchFamily="34" charset="-122"/>
                <a:cs typeface="Courier New" pitchFamily="34" charset="-120"/>
              </a:rPr>
              <a:t>if</a:t>
            </a:r>
            <a:pPr indent="0" marL="0">
              <a:buNone/>
            </a:pPr>
            <a:r>
              <a:rPr lang="en-US" sz="1100" dirty="0">
                <a:solidFill>
                  <a:srgbClr val="E6EDF3"/>
                </a:solidFill>
                <a:latin typeface="Courier New" pitchFamily="34" charset="0"/>
                <a:ea typeface="Courier New" pitchFamily="34" charset="-122"/>
                <a:cs typeface="Courier New" pitchFamily="34" charset="-120"/>
              </a:rPr>
              <a:t> (!cuerpo?.</a:t>
            </a:r>
            <a:pPr indent="0" marL="0">
              <a:buNone/>
            </a:pPr>
            <a:r>
              <a:rPr lang="en-US" sz="1100" dirty="0">
                <a:solidFill>
                  <a:srgbClr val="D2A8FF"/>
                </a:solidFill>
                <a:latin typeface="Courier New" pitchFamily="34" charset="0"/>
                <a:ea typeface="Courier New" pitchFamily="34" charset="-122"/>
                <a:cs typeface="Courier New" pitchFamily="34" charset="-120"/>
              </a:rPr>
              <a:t>trim</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10  </a:t>
            </a:r>
            <a:pPr indent="0" marL="0">
              <a:buNone/>
            </a:pPr>
            <a:r>
              <a:rPr lang="en-US" sz="1100" dirty="0">
                <a:solidFill>
                  <a:srgbClr val="E6EDF3"/>
                </a:solidFill>
                <a:latin typeface="Courier New" pitchFamily="34" charset="0"/>
                <a:ea typeface="Courier New" pitchFamily="34" charset="-122"/>
                <a:cs typeface="Courier New" pitchFamily="34" charset="-120"/>
              </a:rPr>
              <a:t>    errores.</a:t>
            </a:r>
            <a:pPr indent="0" marL="0">
              <a:buNone/>
            </a:pPr>
            <a:r>
              <a:rPr lang="en-US" sz="1100" dirty="0">
                <a:solidFill>
                  <a:srgbClr val="D2A8FF"/>
                </a:solidFill>
                <a:latin typeface="Courier New" pitchFamily="34" charset="0"/>
                <a:ea typeface="Courier New" pitchFamily="34" charset="-122"/>
                <a:cs typeface="Courier New" pitchFamily="34" charset="-120"/>
              </a:rPr>
              <a:t>push</a:t>
            </a:r>
            <a:pPr indent="0" marL="0">
              <a:buNone/>
            </a:pPr>
            <a:r>
              <a:rPr lang="en-US" sz="1100" dirty="0">
                <a:solidFill>
                  <a:srgbClr val="E6EDF3"/>
                </a:solidFill>
                <a:latin typeface="Courier New" pitchFamily="34" charset="0"/>
                <a:ea typeface="Courier New" pitchFamily="34" charset="-122"/>
                <a:cs typeface="Courier New" pitchFamily="34" charset="-120"/>
              </a:rPr>
              <a:t>(</a:t>
            </a:r>
            <a:pPr indent="0" marL="0">
              <a:buNone/>
            </a:pPr>
            <a:r>
              <a:rPr lang="en-US" sz="1100" dirty="0">
                <a:solidFill>
                  <a:srgbClr val="A5D6FF"/>
                </a:solidFill>
                <a:latin typeface="Courier New" pitchFamily="34" charset="0"/>
                <a:ea typeface="Courier New" pitchFamily="34" charset="-122"/>
                <a:cs typeface="Courier New" pitchFamily="34" charset="-120"/>
              </a:rPr>
              <a:t>"'cuerpo' es obligatorio."</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11  </a:t>
            </a:r>
            <a:pPr indent="0" marL="0">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12  </a:t>
            </a:r>
            <a:pPr indent="0" marL="0">
              <a:buNone/>
            </a:pPr>
            <a:r>
              <a:rPr lang="en-US" sz="1100" dirty="0">
                <a:solidFill>
                  <a:srgbClr val="E6EDF3"/>
                </a:solidFill>
                <a:latin typeface="Courier New" pitchFamily="34" charset="0"/>
                <a:ea typeface="Courier New" pitchFamily="34" charset="-122"/>
                <a:cs typeface="Courier New" pitchFamily="34" charset="-120"/>
              </a:rPr>
              <a:t>  </a:t>
            </a:r>
            <a:pPr indent="0" marL="0">
              <a:buNone/>
            </a:pPr>
            <a:r>
              <a:rPr lang="en-US" sz="1100" dirty="0">
                <a:solidFill>
                  <a:srgbClr val="FF7B72"/>
                </a:solidFill>
                <a:latin typeface="Courier New" pitchFamily="34" charset="0"/>
                <a:ea typeface="Courier New" pitchFamily="34" charset="-122"/>
                <a:cs typeface="Courier New" pitchFamily="34" charset="-120"/>
              </a:rPr>
              <a:t>return</a:t>
            </a:r>
            <a:pPr indent="0" marL="0">
              <a:buNone/>
            </a:pPr>
            <a:r>
              <a:rPr lang="en-US" sz="1100" dirty="0">
                <a:solidFill>
                  <a:srgbClr val="E6EDF3"/>
                </a:solidFill>
                <a:latin typeface="Courier New" pitchFamily="34" charset="0"/>
                <a:ea typeface="Courier New" pitchFamily="34" charset="-122"/>
                <a:cs typeface="Courier New" pitchFamily="34" charset="-120"/>
              </a:rPr>
              <a:t> errores.length &gt; </a:t>
            </a:r>
            <a:pPr indent="0" marL="0">
              <a:buNone/>
            </a:pPr>
            <a:r>
              <a:rPr lang="en-US" sz="1100" dirty="0">
                <a:solidFill>
                  <a:srgbClr val="79C0FF"/>
                </a:solidFill>
                <a:latin typeface="Courier New" pitchFamily="34" charset="0"/>
                <a:ea typeface="Courier New" pitchFamily="34" charset="-122"/>
                <a:cs typeface="Courier New" pitchFamily="34" charset="-120"/>
              </a:rPr>
              <a:t>0</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13  </a:t>
            </a:r>
            <a:pPr indent="0" marL="0">
              <a:buNone/>
            </a:pPr>
            <a:r>
              <a:rPr lang="en-US" sz="1100" dirty="0">
                <a:solidFill>
                  <a:srgbClr val="E6EDF3"/>
                </a:solidFill>
                <a:latin typeface="Courier New" pitchFamily="34" charset="0"/>
                <a:ea typeface="Courier New" pitchFamily="34" charset="-122"/>
                <a:cs typeface="Courier New" pitchFamily="34" charset="-120"/>
              </a:rPr>
              <a:t>    ? { ok: </a:t>
            </a:r>
            <a:pPr indent="0" marL="0">
              <a:buNone/>
            </a:pPr>
            <a:r>
              <a:rPr lang="en-US" sz="1100" dirty="0">
                <a:solidFill>
                  <a:srgbClr val="79C0FF"/>
                </a:solidFill>
                <a:latin typeface="Courier New" pitchFamily="34" charset="0"/>
                <a:ea typeface="Courier New" pitchFamily="34" charset="-122"/>
                <a:cs typeface="Courier New" pitchFamily="34" charset="-120"/>
              </a:rPr>
              <a:t>false</a:t>
            </a:r>
            <a:pPr indent="0" marL="0">
              <a:buNone/>
            </a:pPr>
            <a:r>
              <a:rPr lang="en-US" sz="1100" dirty="0">
                <a:solidFill>
                  <a:srgbClr val="E6EDF3"/>
                </a:solidFill>
                <a:latin typeface="Courier New" pitchFamily="34" charset="0"/>
                <a:ea typeface="Courier New" pitchFamily="34" charset="-122"/>
                <a:cs typeface="Courier New" pitchFamily="34" charset="-120"/>
              </a:rPr>
              <a:t>, errores }      </a:t>
            </a:r>
            <a:pPr indent="0" marL="0">
              <a:buNone/>
            </a:pPr>
            <a:r>
              <a:rPr lang="en-US" sz="1100" dirty="0">
                <a:solidFill>
                  <a:srgbClr val="8B949E"/>
                </a:solidFill>
                <a:latin typeface="Courier New" pitchFamily="34" charset="0"/>
                <a:ea typeface="Courier New" pitchFamily="34" charset="-122"/>
                <a:cs typeface="Courier New" pitchFamily="34" charset="-120"/>
              </a:rPr>
              <a:t>// → 400</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14  </a:t>
            </a:r>
            <a:pPr indent="0" marL="0">
              <a:buNone/>
            </a:pPr>
            <a:r>
              <a:rPr lang="en-US" sz="1100" dirty="0">
                <a:solidFill>
                  <a:srgbClr val="E6EDF3"/>
                </a:solidFill>
                <a:latin typeface="Courier New" pitchFamily="34" charset="0"/>
                <a:ea typeface="Courier New" pitchFamily="34" charset="-122"/>
                <a:cs typeface="Courier New" pitchFamily="34" charset="-120"/>
              </a:rPr>
              <a:t>    : { ok: </a:t>
            </a:r>
            <a:pPr indent="0" marL="0">
              <a:buNone/>
            </a:pPr>
            <a:r>
              <a:rPr lang="en-US" sz="1100" dirty="0">
                <a:solidFill>
                  <a:srgbClr val="79C0FF"/>
                </a:solidFill>
                <a:latin typeface="Courier New" pitchFamily="34" charset="0"/>
                <a:ea typeface="Courier New" pitchFamily="34" charset="-122"/>
                <a:cs typeface="Courier New" pitchFamily="34" charset="-120"/>
              </a:rPr>
              <a:t>true</a:t>
            </a:r>
            <a:pPr indent="0" marL="0">
              <a:buNone/>
            </a:pPr>
            <a:r>
              <a:rPr lang="en-US" sz="1100" dirty="0">
                <a:solidFill>
                  <a:srgbClr val="E6EDF3"/>
                </a:solidFill>
                <a:latin typeface="Courier New" pitchFamily="34" charset="0"/>
                <a:ea typeface="Courier New" pitchFamily="34" charset="-122"/>
                <a:cs typeface="Courier New" pitchFamily="34" charset="-120"/>
              </a:rPr>
              <a:t>, datos: { remitente, asunto, cuerpo } };</a:t>
            </a:r>
            <a:endParaRPr lang="en-US" sz="1100" dirty="0"/>
          </a:p>
          <a:p>
            <a:pPr indent="0" marL="0">
              <a:buNone/>
            </a:pPr>
            <a:r>
              <a:rPr lang="en-US" sz="1100" dirty="0">
                <a:solidFill>
                  <a:srgbClr val="6E7681"/>
                </a:solidFill>
                <a:latin typeface="Courier New" pitchFamily="34" charset="0"/>
                <a:ea typeface="Courier New" pitchFamily="34" charset="-122"/>
                <a:cs typeface="Courier New" pitchFamily="34" charset="-120"/>
              </a:rPr>
              <a:t>15  </a:t>
            </a:r>
            <a:pPr indent="0" marL="0">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sp>
        <p:nvSpPr>
          <p:cNvPr id="13" name="Text 11"/>
          <p:cNvSpPr txBox="1"/>
          <p:nvPr/>
        </p:nvSpPr>
        <p:spPr>
          <a:xfrm>
            <a:off x="6858000" y="1463040"/>
            <a:ext cx="4754880" cy="228600"/>
          </a:xfrm>
          <a:prstGeom prst="rect">
            <a:avLst/>
          </a:prstGeom>
          <a:noFill/>
          <a:ln/>
        </p:spPr>
        <p:txBody>
          <a:bodyPr wrap="square" lIns="0" tIns="0" rIns="0" bIns="0" rtlCol="0" anchor="ctr"/>
          <a:lstStyle/>
          <a:p>
            <a:pPr indent="0" marL="0">
              <a:buNone/>
            </a:pPr>
            <a:r>
              <a:rPr lang="en-US" sz="1100" b="1" spc="150" kern="0" dirty="0">
                <a:solidFill>
                  <a:schemeClr val="accent1"/>
                </a:solidFill>
              </a:rPr>
              <a:t>PETICIÓN Y RESPUESTAS REALES</a:t>
            </a:r>
            <a:endParaRPr lang="en-US" sz="1100" dirty="0"/>
          </a:p>
        </p:txBody>
      </p:sp>
      <p:sp>
        <p:nvSpPr>
          <p:cNvPr id="14" name="editor"/>
          <p:cNvSpPr/>
          <p:nvPr/>
        </p:nvSpPr>
        <p:spPr>
          <a:xfrm>
            <a:off x="6858000" y="1783080"/>
            <a:ext cx="4782312" cy="1188720"/>
          </a:xfrm>
          <a:prstGeom prst="roundRect">
            <a:avLst>
              <a:gd name="adj" fmla="val 6154"/>
            </a:avLst>
          </a:prstGeom>
          <a:solidFill>
            <a:srgbClr val="0D1117"/>
          </a:solidFill>
          <a:ln w="12700">
            <a:solidFill>
              <a:srgbClr val="30363D"/>
            </a:solidFill>
            <a:prstDash val="solid"/>
          </a:ln>
        </p:spPr>
      </p:sp>
      <p:sp>
        <p:nvSpPr>
          <p:cNvPr id="15" name="Shape 13"/>
          <p:cNvSpPr/>
          <p:nvPr/>
        </p:nvSpPr>
        <p:spPr>
          <a:xfrm>
            <a:off x="6867144" y="1792224"/>
            <a:ext cx="4764024" cy="310896"/>
          </a:xfrm>
          <a:prstGeom prst="roundRect">
            <a:avLst>
              <a:gd name="adj" fmla="val 23529"/>
            </a:avLst>
          </a:prstGeom>
          <a:solidFill>
            <a:srgbClr val="161B22"/>
          </a:solidFill>
          <a:ln/>
        </p:spPr>
      </p:sp>
      <p:sp>
        <p:nvSpPr>
          <p:cNvPr id="16" name="Shape 14"/>
          <p:cNvSpPr/>
          <p:nvPr/>
        </p:nvSpPr>
        <p:spPr>
          <a:xfrm>
            <a:off x="6867144" y="1938528"/>
            <a:ext cx="4764024" cy="164592"/>
          </a:xfrm>
          <a:prstGeom prst="rect">
            <a:avLst/>
          </a:prstGeom>
          <a:solidFill>
            <a:srgbClr val="161B22"/>
          </a:solidFill>
          <a:ln/>
        </p:spPr>
      </p:sp>
      <p:sp>
        <p:nvSpPr>
          <p:cNvPr id="17" name="Shape 15"/>
          <p:cNvSpPr/>
          <p:nvPr/>
        </p:nvSpPr>
        <p:spPr>
          <a:xfrm>
            <a:off x="6858000" y="2103120"/>
            <a:ext cx="4782312" cy="0"/>
          </a:xfrm>
          <a:prstGeom prst="line">
            <a:avLst/>
          </a:prstGeom>
          <a:noFill/>
          <a:ln w="9525">
            <a:solidFill>
              <a:srgbClr val="30363D"/>
            </a:solidFill>
            <a:prstDash val="solid"/>
          </a:ln>
        </p:spPr>
      </p:sp>
      <p:sp>
        <p:nvSpPr>
          <p:cNvPr id="18" name="Shape 16"/>
          <p:cNvSpPr/>
          <p:nvPr/>
        </p:nvSpPr>
        <p:spPr>
          <a:xfrm>
            <a:off x="7004304" y="1897380"/>
            <a:ext cx="100584" cy="100584"/>
          </a:xfrm>
          <a:prstGeom prst="ellipse">
            <a:avLst/>
          </a:prstGeom>
          <a:solidFill>
            <a:srgbClr val="FF5F56"/>
          </a:solidFill>
          <a:ln/>
        </p:spPr>
      </p:sp>
      <p:sp>
        <p:nvSpPr>
          <p:cNvPr id="19" name="Shape 17"/>
          <p:cNvSpPr/>
          <p:nvPr/>
        </p:nvSpPr>
        <p:spPr>
          <a:xfrm>
            <a:off x="7159752" y="1897380"/>
            <a:ext cx="100584" cy="100584"/>
          </a:xfrm>
          <a:prstGeom prst="ellipse">
            <a:avLst/>
          </a:prstGeom>
          <a:solidFill>
            <a:srgbClr val="FFBD2E"/>
          </a:solidFill>
          <a:ln/>
        </p:spPr>
      </p:sp>
      <p:sp>
        <p:nvSpPr>
          <p:cNvPr id="20" name="Shape 18"/>
          <p:cNvSpPr/>
          <p:nvPr/>
        </p:nvSpPr>
        <p:spPr>
          <a:xfrm>
            <a:off x="7315200" y="1897380"/>
            <a:ext cx="100584" cy="100584"/>
          </a:xfrm>
          <a:prstGeom prst="ellipse">
            <a:avLst/>
          </a:prstGeom>
          <a:solidFill>
            <a:srgbClr val="27C93F"/>
          </a:solidFill>
          <a:ln/>
        </p:spPr>
      </p:sp>
      <p:sp>
        <p:nvSpPr>
          <p:cNvPr id="21" name="Text 19"/>
          <p:cNvSpPr txBox="1"/>
          <p:nvPr/>
        </p:nvSpPr>
        <p:spPr>
          <a:xfrm>
            <a:off x="7543800" y="1792224"/>
            <a:ext cx="3959352" cy="310896"/>
          </a:xfrm>
          <a:prstGeom prst="rect">
            <a:avLst/>
          </a:prstGeom>
          <a:noFill/>
          <a:ln/>
        </p:spPr>
        <p:txBody>
          <a:bodyPr wrap="square" lIns="0" tIns="0" rIns="0" bIns="0" rtlCol="0" anchor="ctr"/>
          <a:lstStyle/>
          <a:p>
            <a:pPr indent="0" marL="0">
              <a:buNone/>
            </a:pPr>
            <a:r>
              <a:rPr lang="en-US" sz="1000" dirty="0">
                <a:solidFill>
                  <a:srgbClr val="8B949E"/>
                </a:solidFill>
                <a:latin typeface="Courier New" pitchFamily="34" charset="0"/>
                <a:ea typeface="Courier New" pitchFamily="34" charset="-122"/>
                <a:cs typeface="Courier New" pitchFamily="34" charset="-120"/>
              </a:rPr>
              <a:t>petición.http</a:t>
            </a:r>
            <a:endParaRPr lang="en-US" sz="1000" dirty="0"/>
          </a:p>
        </p:txBody>
      </p:sp>
      <p:sp>
        <p:nvSpPr>
          <p:cNvPr id="22" name="codigo"/>
          <p:cNvSpPr txBox="1"/>
          <p:nvPr/>
        </p:nvSpPr>
        <p:spPr>
          <a:xfrm>
            <a:off x="7022592" y="2203704"/>
            <a:ext cx="4507992" cy="694944"/>
          </a:xfrm>
          <a:prstGeom prst="rect">
            <a:avLst/>
          </a:prstGeom>
          <a:noFill/>
          <a:ln/>
        </p:spPr>
        <p:txBody>
          <a:bodyPr wrap="square" lIns="0" tIns="0" rIns="0" bIns="0" rtlCol="0" anchor="t"/>
          <a:lstStyle/>
          <a:p>
            <a:pPr indent="0" marL="0">
              <a:buNone/>
            </a:pPr>
            <a:r>
              <a:rPr lang="en-US" sz="1200" dirty="0">
                <a:solidFill>
                  <a:srgbClr val="FF7B72"/>
                </a:solidFill>
                <a:latin typeface="Courier New" pitchFamily="34" charset="0"/>
                <a:ea typeface="Courier New" pitchFamily="34" charset="-122"/>
                <a:cs typeface="Courier New" pitchFamily="34" charset="-120"/>
              </a:rPr>
              <a:t>POST</a:t>
            </a:r>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A5D6FF"/>
                </a:solidFill>
                <a:latin typeface="Courier New" pitchFamily="34" charset="0"/>
                <a:ea typeface="Courier New" pitchFamily="34" charset="-122"/>
                <a:cs typeface="Courier New" pitchFamily="34" charset="-120"/>
              </a:rPr>
              <a:t>/analizar</a:t>
            </a:r>
            <a:pPr indent="0" marL="0">
              <a:buNone/>
            </a:pP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7EE787"/>
                </a:solidFill>
                <a:latin typeface="Courier New" pitchFamily="34" charset="0"/>
                <a:ea typeface="Courier New" pitchFamily="34" charset="-122"/>
                <a:cs typeface="Courier New" pitchFamily="34" charset="-120"/>
              </a:rPr>
              <a:t>"remitente"</a:t>
            </a:r>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A5D6FF"/>
                </a:solidFill>
                <a:latin typeface="Courier New" pitchFamily="34" charset="0"/>
                <a:ea typeface="Courier New" pitchFamily="34" charset="-122"/>
                <a:cs typeface="Courier New" pitchFamily="34" charset="-120"/>
              </a:rPr>
              <a:t>"esto-no-es-un-correo"</a:t>
            </a:r>
            <a:pPr indent="0" marL="0">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7EE787"/>
                </a:solidFill>
                <a:latin typeface="Courier New" pitchFamily="34" charset="0"/>
                <a:ea typeface="Courier New" pitchFamily="34" charset="-122"/>
                <a:cs typeface="Courier New" pitchFamily="34" charset="-120"/>
              </a:rPr>
              <a:t>"asunto"</a:t>
            </a:r>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79C0FF"/>
                </a:solidFill>
                <a:latin typeface="Courier New" pitchFamily="34" charset="0"/>
                <a:ea typeface="Courier New" pitchFamily="34" charset="-122"/>
                <a:cs typeface="Courier New" pitchFamily="34" charset="-120"/>
              </a:rPr>
              <a:t>123</a:t>
            </a:r>
            <a:pPr indent="0" marL="0">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p:txBody>
      </p:sp>
      <p:sp>
        <p:nvSpPr>
          <p:cNvPr id="23" name="editor"/>
          <p:cNvSpPr/>
          <p:nvPr/>
        </p:nvSpPr>
        <p:spPr>
          <a:xfrm>
            <a:off x="6858000" y="3108960"/>
            <a:ext cx="4782312" cy="1417320"/>
          </a:xfrm>
          <a:prstGeom prst="roundRect">
            <a:avLst>
              <a:gd name="adj" fmla="val 5161"/>
            </a:avLst>
          </a:prstGeom>
          <a:solidFill>
            <a:srgbClr val="0D1117"/>
          </a:solidFill>
          <a:ln w="12700">
            <a:solidFill>
              <a:srgbClr val="30363D"/>
            </a:solidFill>
            <a:prstDash val="solid"/>
          </a:ln>
        </p:spPr>
      </p:sp>
      <p:sp>
        <p:nvSpPr>
          <p:cNvPr id="24" name="Shape 22"/>
          <p:cNvSpPr/>
          <p:nvPr/>
        </p:nvSpPr>
        <p:spPr>
          <a:xfrm>
            <a:off x="6867144" y="3118104"/>
            <a:ext cx="4764024" cy="310896"/>
          </a:xfrm>
          <a:prstGeom prst="roundRect">
            <a:avLst>
              <a:gd name="adj" fmla="val 23529"/>
            </a:avLst>
          </a:prstGeom>
          <a:solidFill>
            <a:srgbClr val="161B22"/>
          </a:solidFill>
          <a:ln/>
        </p:spPr>
      </p:sp>
      <p:sp>
        <p:nvSpPr>
          <p:cNvPr id="25" name="Shape 23"/>
          <p:cNvSpPr/>
          <p:nvPr/>
        </p:nvSpPr>
        <p:spPr>
          <a:xfrm>
            <a:off x="6867144" y="3264408"/>
            <a:ext cx="4764024" cy="164592"/>
          </a:xfrm>
          <a:prstGeom prst="rect">
            <a:avLst/>
          </a:prstGeom>
          <a:solidFill>
            <a:srgbClr val="161B22"/>
          </a:solidFill>
          <a:ln/>
        </p:spPr>
      </p:sp>
      <p:sp>
        <p:nvSpPr>
          <p:cNvPr id="26" name="Shape 24"/>
          <p:cNvSpPr/>
          <p:nvPr/>
        </p:nvSpPr>
        <p:spPr>
          <a:xfrm>
            <a:off x="6858000" y="3429000"/>
            <a:ext cx="4782312" cy="0"/>
          </a:xfrm>
          <a:prstGeom prst="line">
            <a:avLst/>
          </a:prstGeom>
          <a:noFill/>
          <a:ln w="9525">
            <a:solidFill>
              <a:srgbClr val="30363D"/>
            </a:solidFill>
            <a:prstDash val="solid"/>
          </a:ln>
        </p:spPr>
      </p:sp>
      <p:sp>
        <p:nvSpPr>
          <p:cNvPr id="27" name="Shape 25"/>
          <p:cNvSpPr/>
          <p:nvPr/>
        </p:nvSpPr>
        <p:spPr>
          <a:xfrm>
            <a:off x="7004304" y="3223260"/>
            <a:ext cx="100584" cy="100584"/>
          </a:xfrm>
          <a:prstGeom prst="ellipse">
            <a:avLst/>
          </a:prstGeom>
          <a:solidFill>
            <a:srgbClr val="FF5F56"/>
          </a:solidFill>
          <a:ln/>
        </p:spPr>
      </p:sp>
      <p:sp>
        <p:nvSpPr>
          <p:cNvPr id="28" name="Shape 26"/>
          <p:cNvSpPr/>
          <p:nvPr/>
        </p:nvSpPr>
        <p:spPr>
          <a:xfrm>
            <a:off x="7159752" y="3223260"/>
            <a:ext cx="100584" cy="100584"/>
          </a:xfrm>
          <a:prstGeom prst="ellipse">
            <a:avLst/>
          </a:prstGeom>
          <a:solidFill>
            <a:srgbClr val="FFBD2E"/>
          </a:solidFill>
          <a:ln/>
        </p:spPr>
      </p:sp>
      <p:sp>
        <p:nvSpPr>
          <p:cNvPr id="29" name="Shape 27"/>
          <p:cNvSpPr/>
          <p:nvPr/>
        </p:nvSpPr>
        <p:spPr>
          <a:xfrm>
            <a:off x="7315200" y="3223260"/>
            <a:ext cx="100584" cy="100584"/>
          </a:xfrm>
          <a:prstGeom prst="ellipse">
            <a:avLst/>
          </a:prstGeom>
          <a:solidFill>
            <a:srgbClr val="27C93F"/>
          </a:solidFill>
          <a:ln/>
        </p:spPr>
      </p:sp>
      <p:sp>
        <p:nvSpPr>
          <p:cNvPr id="30" name="Text 28"/>
          <p:cNvSpPr txBox="1"/>
          <p:nvPr/>
        </p:nvSpPr>
        <p:spPr>
          <a:xfrm>
            <a:off x="7543800" y="3118104"/>
            <a:ext cx="3959352" cy="310896"/>
          </a:xfrm>
          <a:prstGeom prst="rect">
            <a:avLst/>
          </a:prstGeom>
          <a:noFill/>
          <a:ln/>
        </p:spPr>
        <p:txBody>
          <a:bodyPr wrap="square" lIns="0" tIns="0" rIns="0" bIns="0" rtlCol="0" anchor="ctr"/>
          <a:lstStyle/>
          <a:p>
            <a:pPr indent="0" marL="0">
              <a:buNone/>
            </a:pPr>
            <a:r>
              <a:rPr lang="en-US" sz="1000" b="1" dirty="0">
                <a:solidFill>
                  <a:srgbClr val="F87171"/>
                </a:solidFill>
                <a:latin typeface="Courier New" pitchFamily="34" charset="0"/>
                <a:ea typeface="Courier New" pitchFamily="34" charset="-122"/>
                <a:cs typeface="Courier New" pitchFamily="34" charset="-120"/>
              </a:rPr>
              <a:t>400 Bad Request</a:t>
            </a:r>
            <a:endParaRPr lang="en-US" sz="1000" dirty="0"/>
          </a:p>
        </p:txBody>
      </p:sp>
      <p:sp>
        <p:nvSpPr>
          <p:cNvPr id="31" name="codigo"/>
          <p:cNvSpPr txBox="1"/>
          <p:nvPr/>
        </p:nvSpPr>
        <p:spPr>
          <a:xfrm>
            <a:off x="7022592" y="3529584"/>
            <a:ext cx="4507992" cy="923544"/>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7EE787"/>
                </a:solidFill>
                <a:latin typeface="Courier New" pitchFamily="34" charset="0"/>
                <a:ea typeface="Courier New" pitchFamily="34" charset="-122"/>
                <a:cs typeface="Courier New" pitchFamily="34" charset="-120"/>
              </a:rPr>
              <a:t>"errores"</a:t>
            </a:r>
            <a:pPr indent="0" marL="0">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A5D6FF"/>
                </a:solidFill>
                <a:latin typeface="Courier New" pitchFamily="34" charset="0"/>
                <a:ea typeface="Courier New" pitchFamily="34" charset="-122"/>
                <a:cs typeface="Courier New" pitchFamily="34" charset="-120"/>
              </a:rPr>
              <a:t>"'remitente' debe ser un correo válido."</a:t>
            </a:r>
            <a:pPr indent="0" marL="0">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A5D6FF"/>
                </a:solidFill>
                <a:latin typeface="Courier New" pitchFamily="34" charset="0"/>
                <a:ea typeface="Courier New" pitchFamily="34" charset="-122"/>
                <a:cs typeface="Courier New" pitchFamily="34" charset="-120"/>
              </a:rPr>
              <a:t>"'asunto' debe ser texto."</a:t>
            </a:r>
            <a:pPr indent="0" marL="0">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A5D6FF"/>
                </a:solidFill>
                <a:latin typeface="Courier New" pitchFamily="34" charset="0"/>
                <a:ea typeface="Courier New" pitchFamily="34" charset="-122"/>
                <a:cs typeface="Courier New" pitchFamily="34" charset="-120"/>
              </a:rPr>
              <a:t>"'cuerpo' es obligatorio."</a:t>
            </a:r>
            <a:pPr indent="0" marL="0">
              <a:buNone/>
            </a:pPr>
            <a:r>
              <a:rPr lang="en-US" sz="1200" dirty="0">
                <a:solidFill>
                  <a:srgbClr val="E6EDF3"/>
                </a:solidFill>
                <a:latin typeface="Courier New" pitchFamily="34" charset="0"/>
                <a:ea typeface="Courier New" pitchFamily="34" charset="-122"/>
                <a:cs typeface="Courier New" pitchFamily="34" charset="-120"/>
              </a:rPr>
              <a:t> ] }</a:t>
            </a:r>
            <a:endParaRPr lang="en-US" sz="1200" dirty="0"/>
          </a:p>
        </p:txBody>
      </p:sp>
      <p:sp>
        <p:nvSpPr>
          <p:cNvPr id="32" name="editor"/>
          <p:cNvSpPr/>
          <p:nvPr/>
        </p:nvSpPr>
        <p:spPr>
          <a:xfrm>
            <a:off x="6858000" y="4663440"/>
            <a:ext cx="4782312" cy="1554480"/>
          </a:xfrm>
          <a:prstGeom prst="roundRect">
            <a:avLst>
              <a:gd name="adj" fmla="val 4706"/>
            </a:avLst>
          </a:prstGeom>
          <a:solidFill>
            <a:srgbClr val="0D1117"/>
          </a:solidFill>
          <a:ln w="12700">
            <a:solidFill>
              <a:srgbClr val="30363D"/>
            </a:solidFill>
            <a:prstDash val="solid"/>
          </a:ln>
        </p:spPr>
      </p:sp>
      <p:sp>
        <p:nvSpPr>
          <p:cNvPr id="33" name="Shape 31"/>
          <p:cNvSpPr/>
          <p:nvPr/>
        </p:nvSpPr>
        <p:spPr>
          <a:xfrm>
            <a:off x="6867144" y="4672584"/>
            <a:ext cx="4764024" cy="310896"/>
          </a:xfrm>
          <a:prstGeom prst="roundRect">
            <a:avLst>
              <a:gd name="adj" fmla="val 23529"/>
            </a:avLst>
          </a:prstGeom>
          <a:solidFill>
            <a:srgbClr val="161B22"/>
          </a:solidFill>
          <a:ln/>
        </p:spPr>
      </p:sp>
      <p:sp>
        <p:nvSpPr>
          <p:cNvPr id="34" name="Shape 32"/>
          <p:cNvSpPr/>
          <p:nvPr/>
        </p:nvSpPr>
        <p:spPr>
          <a:xfrm>
            <a:off x="6867144" y="4818888"/>
            <a:ext cx="4764024" cy="164592"/>
          </a:xfrm>
          <a:prstGeom prst="rect">
            <a:avLst/>
          </a:prstGeom>
          <a:solidFill>
            <a:srgbClr val="161B22"/>
          </a:solidFill>
          <a:ln/>
        </p:spPr>
      </p:sp>
      <p:sp>
        <p:nvSpPr>
          <p:cNvPr id="35" name="Shape 33"/>
          <p:cNvSpPr/>
          <p:nvPr/>
        </p:nvSpPr>
        <p:spPr>
          <a:xfrm>
            <a:off x="6858000" y="4983480"/>
            <a:ext cx="4782312" cy="0"/>
          </a:xfrm>
          <a:prstGeom prst="line">
            <a:avLst/>
          </a:prstGeom>
          <a:noFill/>
          <a:ln w="9525">
            <a:solidFill>
              <a:srgbClr val="30363D"/>
            </a:solidFill>
            <a:prstDash val="solid"/>
          </a:ln>
        </p:spPr>
      </p:sp>
      <p:sp>
        <p:nvSpPr>
          <p:cNvPr id="36" name="Shape 34"/>
          <p:cNvSpPr/>
          <p:nvPr/>
        </p:nvSpPr>
        <p:spPr>
          <a:xfrm>
            <a:off x="7004304" y="4777740"/>
            <a:ext cx="100584" cy="100584"/>
          </a:xfrm>
          <a:prstGeom prst="ellipse">
            <a:avLst/>
          </a:prstGeom>
          <a:solidFill>
            <a:srgbClr val="FF5F56"/>
          </a:solidFill>
          <a:ln/>
        </p:spPr>
      </p:sp>
      <p:sp>
        <p:nvSpPr>
          <p:cNvPr id="37" name="Shape 35"/>
          <p:cNvSpPr/>
          <p:nvPr/>
        </p:nvSpPr>
        <p:spPr>
          <a:xfrm>
            <a:off x="7159752" y="4777740"/>
            <a:ext cx="100584" cy="100584"/>
          </a:xfrm>
          <a:prstGeom prst="ellipse">
            <a:avLst/>
          </a:prstGeom>
          <a:solidFill>
            <a:srgbClr val="FFBD2E"/>
          </a:solidFill>
          <a:ln/>
        </p:spPr>
      </p:sp>
      <p:sp>
        <p:nvSpPr>
          <p:cNvPr id="38" name="Shape 36"/>
          <p:cNvSpPr/>
          <p:nvPr/>
        </p:nvSpPr>
        <p:spPr>
          <a:xfrm>
            <a:off x="7315200" y="4777740"/>
            <a:ext cx="100584" cy="100584"/>
          </a:xfrm>
          <a:prstGeom prst="ellipse">
            <a:avLst/>
          </a:prstGeom>
          <a:solidFill>
            <a:srgbClr val="27C93F"/>
          </a:solidFill>
          <a:ln/>
        </p:spPr>
      </p:sp>
      <p:sp>
        <p:nvSpPr>
          <p:cNvPr id="39" name="Text 37"/>
          <p:cNvSpPr txBox="1"/>
          <p:nvPr/>
        </p:nvSpPr>
        <p:spPr>
          <a:xfrm>
            <a:off x="7543800" y="4672584"/>
            <a:ext cx="3959352" cy="310896"/>
          </a:xfrm>
          <a:prstGeom prst="rect">
            <a:avLst/>
          </a:prstGeom>
          <a:noFill/>
          <a:ln/>
        </p:spPr>
        <p:txBody>
          <a:bodyPr wrap="square" lIns="0" tIns="0" rIns="0" bIns="0" rtlCol="0" anchor="ctr"/>
          <a:lstStyle/>
          <a:p>
            <a:pPr indent="0" marL="0">
              <a:buNone/>
            </a:pPr>
            <a:r>
              <a:rPr lang="en-US" sz="1000" b="1" dirty="0">
                <a:solidFill>
                  <a:srgbClr val="4EDEA3"/>
                </a:solidFill>
                <a:latin typeface="Courier New" pitchFamily="34" charset="0"/>
                <a:ea typeface="Courier New" pitchFamily="34" charset="-122"/>
                <a:cs typeface="Courier New" pitchFamily="34" charset="-120"/>
              </a:rPr>
              <a:t>200 OK</a:t>
            </a:r>
            <a:endParaRPr lang="en-US" sz="1000" dirty="0"/>
          </a:p>
        </p:txBody>
      </p:sp>
      <p:sp>
        <p:nvSpPr>
          <p:cNvPr id="40" name="codigo"/>
          <p:cNvSpPr txBox="1"/>
          <p:nvPr/>
        </p:nvSpPr>
        <p:spPr>
          <a:xfrm>
            <a:off x="7022592" y="5084064"/>
            <a:ext cx="4507992" cy="1060704"/>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7EE787"/>
                </a:solidFill>
                <a:latin typeface="Courier New" pitchFamily="34" charset="0"/>
                <a:ea typeface="Courier New" pitchFamily="34" charset="-122"/>
                <a:cs typeface="Courier New" pitchFamily="34" charset="-120"/>
              </a:rPr>
              <a:t>"veredicto"</a:t>
            </a:r>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A5D6FF"/>
                </a:solidFill>
                <a:latin typeface="Courier New" pitchFamily="34" charset="0"/>
                <a:ea typeface="Courier New" pitchFamily="34" charset="-122"/>
                <a:cs typeface="Courier New" pitchFamily="34" charset="-120"/>
              </a:rPr>
              <a:t>"phishing"</a:t>
            </a:r>
            <a:pPr indent="0" marL="0">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7EE787"/>
                </a:solidFill>
                <a:latin typeface="Courier New" pitchFamily="34" charset="0"/>
                <a:ea typeface="Courier New" pitchFamily="34" charset="-122"/>
                <a:cs typeface="Courier New" pitchFamily="34" charset="-120"/>
              </a:rPr>
              <a:t>"puntaje"</a:t>
            </a:r>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79C0FF"/>
                </a:solidFill>
                <a:latin typeface="Courier New" pitchFamily="34" charset="0"/>
                <a:ea typeface="Courier New" pitchFamily="34" charset="-122"/>
                <a:cs typeface="Courier New" pitchFamily="34" charset="-120"/>
              </a:rPr>
              <a:t>100</a:t>
            </a:r>
            <a:pPr indent="0" marL="0">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7EE787"/>
                </a:solidFill>
                <a:latin typeface="Courier New" pitchFamily="34" charset="0"/>
                <a:ea typeface="Courier New" pitchFamily="34" charset="-122"/>
                <a:cs typeface="Courier New" pitchFamily="34" charset="-120"/>
              </a:rPr>
              <a:t>"senales"</a:t>
            </a:r>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A5D6FF"/>
                </a:solidFill>
                <a:latin typeface="Courier New" pitchFamily="34" charset="0"/>
                <a:ea typeface="Courier New" pitchFamily="34" charset="-122"/>
                <a:cs typeface="Courier New" pitchFamily="34" charset="-120"/>
              </a:rPr>
              <a:t>"Usa lenguaje de presión…"</a:t>
            </a:r>
            <a:pPr indent="0" marL="0">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7EE787"/>
                </a:solidFill>
                <a:latin typeface="Courier New" pitchFamily="34" charset="0"/>
                <a:ea typeface="Courier New" pitchFamily="34" charset="-122"/>
                <a:cs typeface="Courier New" pitchFamily="34" charset="-120"/>
              </a:rPr>
              <a:t>"guardado"</a:t>
            </a:r>
            <a:pPr indent="0" marL="0">
              <a:buNone/>
            </a:pPr>
            <a:r>
              <a:rPr lang="en-US" sz="1200" dirty="0">
                <a:solidFill>
                  <a:srgbClr val="E6EDF3"/>
                </a:solidFill>
                <a:latin typeface="Courier New" pitchFamily="34" charset="0"/>
                <a:ea typeface="Courier New" pitchFamily="34" charset="-122"/>
                <a:cs typeface="Courier New" pitchFamily="34" charset="-120"/>
              </a:rPr>
              <a:t>: </a:t>
            </a:r>
            <a:pPr indent="0" marL="0">
              <a:buNone/>
            </a:pPr>
            <a:r>
              <a:rPr lang="en-US" sz="1200" dirty="0">
                <a:solidFill>
                  <a:srgbClr val="79C0FF"/>
                </a:solidFill>
                <a:latin typeface="Courier New" pitchFamily="34" charset="0"/>
                <a:ea typeface="Courier New" pitchFamily="34" charset="-122"/>
                <a:cs typeface="Courier New" pitchFamily="34" charset="-120"/>
              </a:rPr>
              <a:t>true</a:t>
            </a:r>
            <a:pPr indent="0" marL="0">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bg1"/>
                </a:solidFill>
              </a:rPr>
              <a:t>La demo sigue el mismo patrón que el sistema real</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920240"/>
                <a:gridCol w="4023360"/>
                <a:gridCol w="5148072"/>
              </a:tblGrid>
              <a:tr h="457200">
                <a:tc>
                  <a:txBody>
                    <a:bodyPr/>
                    <a:lstStyle/>
                    <a:p>
                      <a:pPr indent="0" marL="0">
                        <a:buNone/>
                      </a:pPr>
                      <a:r>
                        <a:rPr lang="en-US" sz="1400" b="1" dirty="0">
                          <a:solidFill>
                            <a:schemeClr val="tx1"/>
                          </a:solidFill>
                        </a:rPr>
                        <a:t>Pieza</a:t>
                      </a:r>
                      <a:endParaRPr lang="en-US" sz="1400" dirty="0"/>
                    </a:p>
                  </a:txBody>
                  <a:tcPr marL="137160" marR="137160" marT="73152" marB="73152"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tx1"/>
                          </a:solidFill>
                        </a:rPr>
                        <a:t>Microservicios demo</a:t>
                      </a:r>
                      <a:endParaRPr lang="en-US" sz="1400" dirty="0"/>
                    </a:p>
                  </a:txBody>
                  <a:tcPr marL="137160" marR="137160" marT="73152" marB="73152"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tx1"/>
                          </a:solidFill>
                        </a:rPr>
                        <a:t>Mail Guard en producción</a:t>
                      </a:r>
                      <a:endParaRPr lang="en-US" sz="1400" dirty="0"/>
                    </a:p>
                  </a:txBody>
                  <a:tcPr marL="137160" marR="137160" marT="73152" marB="73152"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accent1"/>
                    </a:solidFill>
                  </a:tcPr>
                </a:tc>
              </a:tr>
              <a:tr h="914400">
                <a:tc>
                  <a:txBody>
                    <a:bodyPr/>
                    <a:lstStyle/>
                    <a:p>
                      <a:pPr indent="0" marL="0">
                        <a:buNone/>
                      </a:pPr>
                      <a:r>
                        <a:rPr lang="en-US" sz="1500" b="1" dirty="0">
                          <a:solidFill>
                            <a:schemeClr val="bg1"/>
                          </a:solidFill>
                        </a:rPr>
                        <a:t>Endpoint</a:t>
                      </a:r>
                      <a:endParaRPr lang="en-US" sz="1500" dirty="0"/>
                    </a:p>
                  </a:txBody>
                  <a:tcPr marL="137160" marR="137160" marT="73152" marB="73152"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analizador/endpoint.ts</a:t>
                      </a:r>
                      <a:endParaRPr lang="en-US" sz="1200" dirty="0"/>
                    </a:p>
                    <a:p>
                      <a:pPr indent="0" marL="0">
                        <a:buNone/>
                      </a:pPr>
                      <a:r>
                        <a:rPr lang="en-US" sz="1300" dirty="0">
                          <a:solidFill>
                            <a:srgbClr val="D4D4D8"/>
                          </a:solidFill>
                        </a:rPr>
                        <a:t>Bun.serve y un if por ruta</a:t>
                      </a:r>
                      <a:endParaRPr lang="en-US" sz="1200" dirty="0"/>
                    </a:p>
                  </a:txBody>
                  <a:tcPr marL="137160" marR="137160" marT="73152" marB="73152"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services/analysis-service/src/http/routes.ts</a:t>
                      </a:r>
                      <a:endParaRPr lang="en-US" sz="1200" dirty="0"/>
                    </a:p>
                    <a:p>
                      <a:pPr indent="0" marL="0">
                        <a:buNone/>
                      </a:pPr>
                      <a:r>
                        <a:rPr lang="en-US" sz="1300" dirty="0">
                          <a:solidFill>
                            <a:srgbClr val="D4D4D8"/>
                          </a:solidFill>
                        </a:rPr>
                        <a:t>Hono, con middlewares de seguridad</a:t>
                      </a:r>
                      <a:endParaRPr lang="en-US" sz="1200" dirty="0"/>
                    </a:p>
                  </a:txBody>
                  <a:tcPr marL="137160" marR="137160" marT="73152" marB="73152"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r>
              <a:tr h="914400">
                <a:tc>
                  <a:txBody>
                    <a:bodyPr/>
                    <a:lstStyle/>
                    <a:p>
                      <a:pPr indent="0" marL="0">
                        <a:buNone/>
                      </a:pPr>
                      <a:r>
                        <a:rPr lang="en-US" sz="1500" b="1" dirty="0">
                          <a:solidFill>
                            <a:schemeClr val="bg1"/>
                          </a:solidFill>
                        </a:rPr>
                        <a:t>Validador</a:t>
                      </a:r>
                      <a:endParaRPr lang="en-US" sz="1500" dirty="0"/>
                    </a:p>
                  </a:txBody>
                  <a:tcPr marL="137160" marR="137160" marT="73152" marB="73152"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analizador/validador.ts</a:t>
                      </a:r>
                      <a:endParaRPr lang="en-US" sz="1200" dirty="0"/>
                    </a:p>
                    <a:p>
                      <a:pPr indent="0" marL="0">
                        <a:buNone/>
                      </a:pPr>
                      <a:r>
                        <a:rPr lang="en-US" sz="1300" dirty="0">
                          <a:solidFill>
                            <a:srgbClr val="D4D4D8"/>
                          </a:solidFill>
                        </a:rPr>
                        <a:t>validación escrita a mano</a:t>
                      </a:r>
                      <a:endParaRPr lang="en-US" sz="1200" dirty="0"/>
                    </a:p>
                  </a:txBody>
                  <a:tcPr marL="137160" marR="137160" marT="73152" marB="73152"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packages/contracts/src/scan.ts</a:t>
                      </a:r>
                      <a:endParaRPr lang="en-US" sz="1200" dirty="0"/>
                    </a:p>
                    <a:p>
                      <a:pPr indent="0" marL="0">
                        <a:buNone/>
                      </a:pPr>
                      <a:r>
                        <a:rPr lang="en-US" sz="1300" dirty="0">
                          <a:solidFill>
                            <a:srgbClr val="D4D4D8"/>
                          </a:solidFill>
                        </a:rPr>
                        <a:t>Zod, compartido con la extensión y el panel</a:t>
                      </a:r>
                      <a:endParaRPr lang="en-US" sz="1200" dirty="0"/>
                    </a:p>
                  </a:txBody>
                  <a:tcPr marL="137160" marR="137160" marT="73152" marB="73152"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r>
              <a:tr h="914400">
                <a:tc>
                  <a:txBody>
                    <a:bodyPr/>
                    <a:lstStyle/>
                    <a:p>
                      <a:pPr indent="0" marL="0">
                        <a:buNone/>
                      </a:pPr>
                      <a:r>
                        <a:rPr lang="en-US" sz="1500" b="1" dirty="0">
                          <a:solidFill>
                            <a:schemeClr val="bg1"/>
                          </a:solidFill>
                        </a:rPr>
                        <a:t>Microservicio</a:t>
                      </a:r>
                      <a:endParaRPr lang="en-US" sz="1500" dirty="0"/>
                    </a:p>
                  </a:txBody>
                  <a:tcPr marL="137160" marR="137160" marT="73152" marB="73152"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analizador/microservicio.ts</a:t>
                      </a:r>
                      <a:endParaRPr lang="en-US" sz="1200" dirty="0"/>
                    </a:p>
                    <a:p>
                      <a:pPr indent="0" marL="0">
                        <a:buNone/>
                      </a:pPr>
                      <a:r>
                        <a:rPr lang="en-US" sz="1300" dirty="0">
                          <a:solidFill>
                            <a:srgbClr val="D4D4D8"/>
                          </a:solidFill>
                        </a:rPr>
                        <a:t>puerto 5001, proceso de Bun</a:t>
                      </a:r>
                      <a:endParaRPr lang="en-US" sz="1200" dirty="0"/>
                    </a:p>
                  </a:txBody>
                  <a:tcPr marL="137160" marR="137160" marT="73152" marB="73152"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services/analysis-service/src/index.ts</a:t>
                      </a:r>
                      <a:endParaRPr lang="en-US" sz="1200" dirty="0"/>
                    </a:p>
                    <a:p>
                      <a:pPr indent="0" marL="0">
                        <a:buNone/>
                      </a:pPr>
                      <a:r>
                        <a:rPr lang="en-US" sz="1300" dirty="0">
                          <a:solidFill>
                            <a:srgbClr val="D4D4D8"/>
                          </a:solidFill>
                        </a:rPr>
                        <a:t>puerto 4001, Docker en Render</a:t>
                      </a:r>
                      <a:endParaRPr lang="en-US" sz="1200" dirty="0"/>
                    </a:p>
                  </a:txBody>
                  <a:tcPr marL="137160" marR="137160" marT="73152" marB="73152"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r>
            </a:tbl>
          </a:graphicData>
        </a:graphic>
      </p:graphicFrame>
      <p:sp>
        <p:nvSpPr>
          <p:cNvPr id="4" name="Shape 1"/>
          <p:cNvSpPr/>
          <p:nvPr/>
        </p:nvSpPr>
        <p:spPr>
          <a:xfrm>
            <a:off x="548640" y="4892040"/>
            <a:ext cx="11091672" cy="1143000"/>
          </a:xfrm>
          <a:prstGeom prst="roundRect">
            <a:avLst>
              <a:gd name="adj" fmla="val 9600"/>
            </a:avLst>
          </a:prstGeom>
          <a:solidFill>
            <a:schemeClr val="tx2"/>
          </a:solidFill>
          <a:ln/>
        </p:spPr>
      </p:sp>
      <p:sp>
        <p:nvSpPr>
          <p:cNvPr id="5" name="Shape 2"/>
          <p:cNvSpPr/>
          <p:nvPr/>
        </p:nvSpPr>
        <p:spPr>
          <a:xfrm>
            <a:off x="822960" y="5093208"/>
            <a:ext cx="731520" cy="731520"/>
          </a:xfrm>
          <a:prstGeom prst="ellipse">
            <a:avLst/>
          </a:prstGeom>
          <a:solidFill>
            <a:schemeClr val="tx1"/>
          </a:solidFill>
          <a:ln/>
        </p:spPr>
      </p:sp>
      <p:pic>
        <p:nvPicPr>
          <p:cNvPr id="6" name="Image 0" descr="preencoded.png">    </p:cNvPr>
          <p:cNvPicPr>
            <a:picLocks noChangeAspect="1"/>
          </p:cNvPicPr>
          <p:nvPr/>
        </p:nvPicPr>
        <p:blipFill>
          <a:blip r:embed="rId1"/>
          <a:stretch>
            <a:fillRect/>
          </a:stretch>
        </p:blipFill>
        <p:spPr>
          <a:xfrm>
            <a:off x="1013155" y="5283403"/>
            <a:ext cx="351130" cy="351130"/>
          </a:xfrm>
          <a:prstGeom prst="rect">
            <a:avLst/>
          </a:prstGeom>
        </p:spPr>
      </p:pic>
      <p:sp>
        <p:nvSpPr>
          <p:cNvPr id="7" name="Text 3"/>
          <p:cNvSpPr txBox="1"/>
          <p:nvPr/>
        </p:nvSpPr>
        <p:spPr>
          <a:xfrm>
            <a:off x="1783080" y="4983480"/>
            <a:ext cx="9601200" cy="960120"/>
          </a:xfrm>
          <a:prstGeom prst="rect">
            <a:avLst/>
          </a:prstGeom>
          <a:noFill/>
          <a:ln/>
        </p:spPr>
        <p:txBody>
          <a:bodyPr wrap="square" lIns="0" tIns="0" rIns="0" bIns="0" rtlCol="0" anchor="ctr"/>
          <a:lstStyle/>
          <a:p>
            <a:pPr indent="0" marL="0">
              <a:buNone/>
            </a:pPr>
            <a:r>
              <a:rPr lang="en-US" sz="1500" b="1" dirty="0">
                <a:solidFill>
                  <a:schemeClr val="bg1"/>
                </a:solidFill>
              </a:rPr>
              <a:t>Mismo patrón, más capas. </a:t>
            </a:r>
            <a:pPr indent="0" marL="0">
              <a:buNone/>
            </a:pPr>
            <a:r>
              <a:rPr lang="en-US" sz="1500" dirty="0">
                <a:solidFill>
                  <a:srgbClr val="E4E4E7"/>
                </a:solidFill>
              </a:rPr>
              <a:t>El sistema real separa dominio, aplicación e infraestructura y se despliega con Docker; la demo cabe en tres archivos para leerla en dos minutos.</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bg1"/>
                </a:solidFill>
              </a:rPr>
              <a:t>Cualquier fase, demostrada en menos de dos minutos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645920"/>
                <a:gridCol w="4023360"/>
                <a:gridCol w="5422392"/>
              </a:tblGrid>
              <a:tr h="512064">
                <a:tc>
                  <a:txBody>
                    <a:bodyPr/>
                    <a:lstStyle/>
                    <a:p>
                      <a:pPr indent="0" marL="0">
                        <a:buNone/>
                      </a:pPr>
                      <a:r>
                        <a:rPr lang="en-US" sz="1300" b="1" dirty="0">
                          <a:solidFill>
                            <a:schemeClr val="tx1"/>
                          </a:solidFill>
                        </a:rPr>
                        <a:t>Fase</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tx1"/>
                          </a:solidFill>
                        </a:rPr>
                        <a:t>Herramienta</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tx1"/>
                          </a:solidFill>
                        </a:rPr>
                        <a:t>Lo que mostramos</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accent1"/>
                    </a:solidFill>
                  </a:tcPr>
                </a:tc>
              </a:tr>
              <a:tr h="512064">
                <a:tc>
                  <a:txBody>
                    <a:bodyPr/>
                    <a:lstStyle/>
                    <a:p>
                      <a:pPr indent="0" marL="0">
                        <a:buNone/>
                      </a:pPr>
                      <a:r>
                        <a:rPr lang="en-US" sz="1400" b="1" dirty="0">
                          <a:solidFill>
                            <a:schemeClr val="accent5"/>
                          </a:solidFill>
                        </a:rPr>
                        <a:t>Plan</a:t>
                      </a:r>
                      <a:endParaRPr lang="en-US" sz="14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GitHub Projects + Issues</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rgbClr val="D4D4D8"/>
                          </a:solidFill>
                        </a:rPr>
                        <a:t>Tablero → issue → PR enlazado</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chemeClr val="accent6"/>
                          </a:solidFill>
                        </a:rPr>
                        <a:t>Code</a:t>
                      </a:r>
                      <a:endParaRPr lang="en-US" sz="14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Git + GitHub PRs</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rgbClr val="D4D4D8"/>
                          </a:solidFill>
                        </a:rPr>
                        <a:t>Rama → PR → aprobación → merge</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chemeClr val="accent3"/>
                          </a:solidFill>
                        </a:rPr>
                        <a:t>Build</a:t>
                      </a:r>
                      <a:endParaRPr lang="en-US" sz="14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GitHub Actions + Turborepo</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rgbClr val="D4D4D8"/>
                          </a:solidFill>
                        </a:rPr>
                        <a:t>Actions → job Build → .zip descargable</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chemeClr val="accent2"/>
                          </a:solidFill>
                        </a:rPr>
                        <a:t>Test</a:t>
                      </a:r>
                      <a:endParaRPr lang="en-US" sz="14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bun test + Newman</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rgbClr val="D4D4D8"/>
                          </a:solidFill>
                        </a:rPr>
                        <a:t>PR con prueba rota → merge bloqueado</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rgbClr val="F472B6"/>
                          </a:solidFill>
                        </a:rPr>
                        <a:t>Release</a:t>
                      </a:r>
                      <a:endParaRPr lang="en-US" sz="14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GitHub Releases + GHCR</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rgbClr val="D4D4D8"/>
                          </a:solidFill>
                        </a:rPr>
                        <a:t>git tag v2.1.0 → Release + imagen</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chemeClr val="accent1"/>
                          </a:solidFill>
                        </a:rPr>
                        <a:t>Deploy</a:t>
                      </a:r>
                      <a:endParaRPr lang="en-US" sz="14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Render Blueprint</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rgbClr val="D4D4D8"/>
                          </a:solidFill>
                        </a:rPr>
                        <a:t>Merge → CI verde → deploy automático</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rgbClr val="FB923C"/>
                          </a:solidFill>
                        </a:rPr>
                        <a:t>Operate</a:t>
                      </a:r>
                      <a:endParaRPr lang="en-US" sz="14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Docker Compose + Render</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rgbClr val="D4D4D8"/>
                          </a:solidFill>
                        </a:rPr>
                        <a:t>docker kill → se recupera solo</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chemeClr val="accent4"/>
                          </a:solidFill>
                        </a:rPr>
                        <a:t>Monitor</a:t>
                      </a:r>
                      <a:endParaRPr lang="en-US" sz="14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Prometheus + Grafana</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c>
                  <a:txBody>
                    <a:bodyPr/>
                    <a:lstStyle/>
                    <a:p>
                      <a:pPr indent="0" marL="0">
                        <a:buNone/>
                      </a:pPr>
                      <a:r>
                        <a:rPr lang="en-US" sz="1300" dirty="0">
                          <a:solidFill>
                            <a:srgbClr val="D4D4D8"/>
                          </a:solidFill>
                        </a:rPr>
                        <a:t>Tráfico en vivo → docker stop → alerta</a:t>
                      </a:r>
                      <a:endParaRPr lang="en-US" sz="1300" dirty="0"/>
                    </a:p>
                  </a:txBody>
                  <a:tcPr marL="137160" marR="137160" marT="36576" marB="36576" anchor="ctr">
                    <a:lnL w="12700" cap="flat" cmpd="sng" algn="ctr">
                      <a:solidFill>
                        <a:srgbClr val="2E2E2E"/>
                      </a:solidFill>
                      <a:prstDash val="solid"/>
                      <a:round/>
                      <a:headEnd type="none" w="med" len="med"/>
                      <a:tailEnd type="none" w="med" len="med"/>
                    </a:lnL>
                    <a:lnR w="12700" cap="flat" cmpd="sng" algn="ctr">
                      <a:solidFill>
                        <a:srgbClr val="2E2E2E"/>
                      </a:solidFill>
                      <a:prstDash val="solid"/>
                      <a:round/>
                      <a:headEnd type="none" w="med" len="med"/>
                      <a:tailEnd type="none" w="med" len="med"/>
                    </a:lnR>
                    <a:lnT w="12700" cap="flat" cmpd="sng" algn="ctr">
                      <a:solidFill>
                        <a:srgbClr val="2E2E2E"/>
                      </a:solidFill>
                      <a:prstDash val="solid"/>
                      <a:round/>
                      <a:headEnd type="none" w="med" len="med"/>
                      <a:tailEnd type="none" w="med" len="med"/>
                    </a:lnT>
                    <a:lnB w="12700" cap="flat" cmpd="sng" algn="ctr">
                      <a:solidFill>
                        <a:srgbClr val="2E2E2E"/>
                      </a:solidFill>
                      <a:prstDash val="solid"/>
                      <a:round/>
                      <a:headEnd type="none" w="med" len="med"/>
                      <a:tailEnd type="none" w="med" len="med"/>
                    </a:lnB>
                    <a:solidFill>
                      <a:schemeClr val="tx2"/>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6309360" cy="1051560"/>
          </a:xfrm>
          <a:prstGeom prst="rect">
            <a:avLst/>
          </a:prstGeom>
          <a:noFill/>
          <a:ln/>
        </p:spPr>
        <p:txBody>
          <a:bodyPr wrap="square" lIns="0" tIns="0" rIns="0" bIns="0" rtlCol="0" anchor="ctr"/>
          <a:lstStyle/>
          <a:p>
            <a:pPr algn="l" indent="0" marL="0">
              <a:buNone/>
            </a:pPr>
            <a:r>
              <a:rPr lang="en-US" sz="6000" b="1" dirty="0">
                <a:solidFill>
                  <a:schemeClr val="bg1"/>
                </a:solidFill>
              </a:rPr>
              <a:t>¡Gracias!</a:t>
            </a:r>
            <a:endParaRPr lang="en-US" sz="6000" dirty="0"/>
          </a:p>
        </p:txBody>
      </p:sp>
      <p:sp>
        <p:nvSpPr>
          <p:cNvPr id="3" name="Text 0"/>
          <p:cNvSpPr/>
          <p:nvPr>
            <p:ph idx="101" type="body" hasCustomPrompt="1"/>
          </p:nvPr>
        </p:nvSpPr>
        <p:spPr>
          <a:xfrm>
            <a:off x="548640" y="3246120"/>
            <a:ext cx="6309360" cy="914400"/>
          </a:xfrm>
          <a:prstGeom prst="rect">
            <a:avLst/>
          </a:prstGeom>
          <a:noFill/>
          <a:ln/>
        </p:spPr>
        <p:txBody>
          <a:bodyPr wrap="square" lIns="0" tIns="0" rIns="0" bIns="0" rtlCol="0" anchor="t"/>
          <a:lstStyle/>
          <a:p>
            <a:pPr indent="0" marL="0">
              <a:buNone/>
            </a:pPr>
            <a:r>
              <a:rPr lang="en-US" sz="2200" dirty="0">
                <a:solidFill>
                  <a:schemeClr val="accent1"/>
                </a:solidFill>
              </a:rPr>
              <a:t>¿Preguntas? Escojan cualquier fase y la mostramos en vivo.</a:t>
            </a:r>
            <a:endParaRPr lang="en-US" sz="2200" dirty="0"/>
          </a:p>
        </p:txBody>
      </p:sp>
      <p:pic>
        <p:nvPicPr>
          <p:cNvPr id="4" name="Image 0" descr="preencoded.png">    </p:cNvPr>
          <p:cNvPicPr>
            <a:picLocks noChangeAspect="1"/>
          </p:cNvPicPr>
          <p:nvPr/>
        </p:nvPicPr>
        <p:blipFill>
          <a:blip r:embed="rId1"/>
          <a:stretch>
            <a:fillRect/>
          </a:stretch>
        </p:blipFill>
        <p:spPr>
          <a:xfrm>
            <a:off x="548640" y="4480560"/>
            <a:ext cx="292608" cy="292608"/>
          </a:xfrm>
          <a:prstGeom prst="rect">
            <a:avLst/>
          </a:prstGeom>
        </p:spPr>
      </p:pic>
      <p:sp>
        <p:nvSpPr>
          <p:cNvPr id="5" name="Text 2"/>
          <p:cNvSpPr txBox="1"/>
          <p:nvPr/>
        </p:nvSpPr>
        <p:spPr>
          <a:xfrm>
            <a:off x="1005840" y="4434840"/>
            <a:ext cx="2103120" cy="384048"/>
          </a:xfrm>
          <a:prstGeom prst="rect">
            <a:avLst/>
          </a:prstGeom>
          <a:noFill/>
          <a:ln/>
        </p:spPr>
        <p:txBody>
          <a:bodyPr wrap="square" lIns="0" tIns="0" rIns="0" bIns="0" rtlCol="0" anchor="ctr"/>
          <a:lstStyle/>
          <a:p>
            <a:pPr indent="0" marL="0">
              <a:buNone/>
            </a:pPr>
            <a:r>
              <a:rPr lang="en-US" sz="1400" b="1" dirty="0">
                <a:solidFill>
                  <a:schemeClr val="bg1"/>
                </a:solidFill>
              </a:rPr>
              <a:t>Código</a:t>
            </a:r>
            <a:endParaRPr lang="en-US" sz="1400" dirty="0"/>
          </a:p>
        </p:txBody>
      </p:sp>
      <p:sp>
        <p:nvSpPr>
          <p:cNvPr id="6" name="Text 3"/>
          <p:cNvSpPr txBox="1"/>
          <p:nvPr/>
        </p:nvSpPr>
        <p:spPr>
          <a:xfrm>
            <a:off x="3108960" y="4434840"/>
            <a:ext cx="5943600" cy="384048"/>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github.com/Tatianayya3/uts-mail-guard</a:t>
            </a:r>
            <a:endParaRPr lang="en-US" sz="1200" dirty="0"/>
          </a:p>
        </p:txBody>
      </p:sp>
      <p:pic>
        <p:nvPicPr>
          <p:cNvPr id="7" name="Image 1" descr="preencoded.png">    </p:cNvPr>
          <p:cNvPicPr>
            <a:picLocks noChangeAspect="1"/>
          </p:cNvPicPr>
          <p:nvPr/>
        </p:nvPicPr>
        <p:blipFill>
          <a:blip r:embed="rId2"/>
          <a:stretch>
            <a:fillRect/>
          </a:stretch>
        </p:blipFill>
        <p:spPr>
          <a:xfrm>
            <a:off x="548640" y="5029200"/>
            <a:ext cx="292608" cy="292608"/>
          </a:xfrm>
          <a:prstGeom prst="rect">
            <a:avLst/>
          </a:prstGeom>
        </p:spPr>
      </p:pic>
      <p:sp>
        <p:nvSpPr>
          <p:cNvPr id="8" name="Text 4"/>
          <p:cNvSpPr txBox="1"/>
          <p:nvPr/>
        </p:nvSpPr>
        <p:spPr>
          <a:xfrm>
            <a:off x="1005840" y="4983480"/>
            <a:ext cx="2103120" cy="384048"/>
          </a:xfrm>
          <a:prstGeom prst="rect">
            <a:avLst/>
          </a:prstGeom>
          <a:noFill/>
          <a:ln/>
        </p:spPr>
        <p:txBody>
          <a:bodyPr wrap="square" lIns="0" tIns="0" rIns="0" bIns="0" rtlCol="0" anchor="ctr"/>
          <a:lstStyle/>
          <a:p>
            <a:pPr indent="0" marL="0">
              <a:buNone/>
            </a:pPr>
            <a:r>
              <a:rPr lang="en-US" sz="1400" b="1" dirty="0">
                <a:solidFill>
                  <a:schemeClr val="bg1"/>
                </a:solidFill>
              </a:rPr>
              <a:t>Guía de las 8 fases</a:t>
            </a:r>
            <a:endParaRPr lang="en-US" sz="1400" dirty="0"/>
          </a:p>
        </p:txBody>
      </p:sp>
      <p:sp>
        <p:nvSpPr>
          <p:cNvPr id="9" name="Text 5"/>
          <p:cNvSpPr txBox="1"/>
          <p:nvPr/>
        </p:nvSpPr>
        <p:spPr>
          <a:xfrm>
            <a:off x="3108960" y="4983480"/>
            <a:ext cx="5943600" cy="384048"/>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docs/DEVOPS.md</a:t>
            </a:r>
            <a:endParaRPr lang="en-US" sz="1200" dirty="0"/>
          </a:p>
        </p:txBody>
      </p:sp>
      <p:pic>
        <p:nvPicPr>
          <p:cNvPr id="10" name="Image 2" descr="preencoded.png">    </p:cNvPr>
          <p:cNvPicPr>
            <a:picLocks noChangeAspect="1"/>
          </p:cNvPicPr>
          <p:nvPr/>
        </p:nvPicPr>
        <p:blipFill>
          <a:blip r:embed="rId3"/>
          <a:stretch>
            <a:fillRect/>
          </a:stretch>
        </p:blipFill>
        <p:spPr>
          <a:xfrm>
            <a:off x="548640" y="5577840"/>
            <a:ext cx="292608" cy="292608"/>
          </a:xfrm>
          <a:prstGeom prst="rect">
            <a:avLst/>
          </a:prstGeom>
        </p:spPr>
      </p:pic>
      <p:sp>
        <p:nvSpPr>
          <p:cNvPr id="11" name="Text 6"/>
          <p:cNvSpPr txBox="1"/>
          <p:nvPr/>
        </p:nvSpPr>
        <p:spPr>
          <a:xfrm>
            <a:off x="1005840" y="5532120"/>
            <a:ext cx="2103120" cy="384048"/>
          </a:xfrm>
          <a:prstGeom prst="rect">
            <a:avLst/>
          </a:prstGeom>
          <a:noFill/>
          <a:ln/>
        </p:spPr>
        <p:txBody>
          <a:bodyPr wrap="square" lIns="0" tIns="0" rIns="0" bIns="0" rtlCol="0" anchor="ctr"/>
          <a:lstStyle/>
          <a:p>
            <a:pPr indent="0" marL="0">
              <a:buNone/>
            </a:pPr>
            <a:r>
              <a:rPr lang="en-US" sz="1400" b="1" dirty="0">
                <a:solidFill>
                  <a:schemeClr val="bg1"/>
                </a:solidFill>
              </a:rPr>
              <a:t>Pruebas</a:t>
            </a:r>
            <a:endParaRPr lang="en-US" sz="1400" dirty="0"/>
          </a:p>
        </p:txBody>
      </p:sp>
      <p:sp>
        <p:nvSpPr>
          <p:cNvPr id="12" name="Text 7"/>
          <p:cNvSpPr txBox="1"/>
          <p:nvPr/>
        </p:nvSpPr>
        <p:spPr>
          <a:xfrm>
            <a:off x="3108960" y="5532120"/>
            <a:ext cx="5943600" cy="384048"/>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uts-mail-guard-extension-dashboard.vercel.app/dashboard/tests</a:t>
            </a:r>
            <a:endParaRPr lang="en-US" sz="1200" dirty="0"/>
          </a:p>
        </p:txBody>
      </p:sp>
      <p:sp>
        <p:nvSpPr>
          <p:cNvPr id="13" name="Shape 8"/>
          <p:cNvSpPr/>
          <p:nvPr/>
        </p:nvSpPr>
        <p:spPr>
          <a:xfrm>
            <a:off x="7909560" y="2057400"/>
            <a:ext cx="2743200" cy="2743200"/>
          </a:xfrm>
          <a:prstGeom prst="ellipse">
            <a:avLst/>
          </a:prstGeom>
          <a:solidFill>
            <a:schemeClr val="tx2"/>
          </a:solidFill>
          <a:ln w="25400">
            <a:solidFill>
              <a:schemeClr val="accent1"/>
            </a:solidFill>
            <a:prstDash val="solid"/>
          </a:ln>
        </p:spPr>
      </p:sp>
      <p:pic>
        <p:nvPicPr>
          <p:cNvPr id="14" name="Image 3" descr="C:\Users\Administrator\Desktop\uts-mail-guard\apps\extension-dashboard\public\logo.png">    </p:cNvPr>
          <p:cNvPicPr>
            <a:picLocks noChangeAspect="1"/>
          </p:cNvPicPr>
          <p:nvPr/>
        </p:nvPicPr>
        <p:blipFill>
          <a:blip r:embed="rId4"/>
          <a:stretch>
            <a:fillRect/>
          </a:stretch>
        </p:blipFill>
        <p:spPr>
          <a:xfrm>
            <a:off x="8458200" y="2606040"/>
            <a:ext cx="1645920" cy="1645920"/>
          </a:xfrm>
          <a:prstGeom prst="rect">
            <a:avLst/>
          </a:prstGeom>
        </p:spPr>
      </p:pic>
    </p:spTree>
  </p:cSld>
  <p:clrMapOvr>
    <a:masterClrMapping/>
  </p:clrMapOvr>
</p:sld>
</file>

<file path=ppt/theme/theme1.xml><?xml version="1.0" encoding="utf-8"?>
<a:theme xmlns:a="http://schemas.openxmlformats.org/drawingml/2006/main" name="Mail Guard DevOps">
  <a:themeElements>
    <a:clrScheme name="Mail Guard DevOps">
      <a:dk1>
        <a:srgbClr val="131313"/>
      </a:dk1>
      <a:lt1>
        <a:srgbClr val="FFFFFF"/>
      </a:lt1>
      <a:dk2>
        <a:srgbClr val="1E1E1E"/>
      </a:dk2>
      <a:lt2>
        <a:srgbClr val="A1A1AA"/>
      </a:lt2>
      <a:accent1>
        <a:srgbClr val="C8D400"/>
      </a:accent1>
      <a:accent2>
        <a:srgbClr val="4EDEA3"/>
      </a:accent2>
      <a:accent3>
        <a:srgbClr val="FBBF24"/>
      </a:accent3>
      <a:accent4>
        <a:srgbClr val="F87171"/>
      </a:accent4>
      <a:accent5>
        <a:srgbClr val="7DD3FC"/>
      </a:accent5>
      <a:accent6>
        <a:srgbClr val="A78BFA"/>
      </a:accent6>
      <a:hlink>
        <a:srgbClr val="7DD3FC"/>
      </a:hlink>
      <a:folHlink>
        <a:srgbClr val="A78BFA"/>
      </a:folHlink>
    </a:clrScheme>
    <a:fontScheme name="Mail Guard DevO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Mail Guard · DevOps en 8 fases</dc:title>
  <dc:subject>Marcos de Trabajo · DevOps</dc:subject>
  <dc:creator>Equipo Mail Guard</dc:creator>
  <cp:lastModifiedBy>Equipo Mail Guard</cp:lastModifiedBy>
  <cp:revision>1</cp:revision>
  <dcterms:created xsi:type="dcterms:W3CDTF">2026-10-20T18:37:13Z</dcterms:created>
  <dcterms:modified xsi:type="dcterms:W3CDTF">2026-10-20T18:37:13Z</dcterms:modified>
</cp:coreProperties>
</file>